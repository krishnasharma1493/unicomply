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7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  <p:embeddedFont>
      <p:font typeface="Helvetica Now Bold" charset="1" panose="020B0804030202020204"/>
      <p:regular r:id="rId17"/>
    </p:embeddedFont>
    <p:embeddedFont>
      <p:font typeface="Helvetica Now" charset="1" panose="020B050403020202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1"/>
    </p:embeddedFont>
    <p:embeddedFont>
      <p:font typeface="Courier New Bold" charset="1" panose="02070609020205020404"/>
      <p:regular r:id="rId22"/>
    </p:embeddedFont>
    <p:embeddedFont>
      <p:font typeface="Arial Italics" charset="1" panose="020B06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sv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svg"/><Relationship Id="rId14" Type="http://schemas.openxmlformats.org/officeDocument/2006/relationships/image" Target="../media/image21.png"/><Relationship Id="rId15" Type="http://schemas.openxmlformats.org/officeDocument/2006/relationships/image" Target="../media/image22.svg"/><Relationship Id="rId16" Type="http://schemas.openxmlformats.org/officeDocument/2006/relationships/image" Target="../media/image6.png"/><Relationship Id="rId17" Type="http://schemas.openxmlformats.org/officeDocument/2006/relationships/image" Target="../media/image7.svg"/><Relationship Id="rId18" Type="http://schemas.openxmlformats.org/officeDocument/2006/relationships/image" Target="../media/image8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svg"/><Relationship Id="rId22" Type="http://schemas.openxmlformats.org/officeDocument/2006/relationships/image" Target="../media/image89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93.png"/><Relationship Id="rId27" Type="http://schemas.openxmlformats.org/officeDocument/2006/relationships/image" Target="../media/image94.png"/><Relationship Id="rId28" Type="http://schemas.openxmlformats.org/officeDocument/2006/relationships/image" Target="../media/image95.png"/><Relationship Id="rId29" Type="http://schemas.openxmlformats.org/officeDocument/2006/relationships/image" Target="../media/image96.png"/><Relationship Id="rId30" Type="http://schemas.openxmlformats.org/officeDocument/2006/relationships/image" Target="../media/image9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image" Target="../media/image52.png"/><Relationship Id="rId30" Type="http://schemas.openxmlformats.org/officeDocument/2006/relationships/image" Target="../media/image6.png"/><Relationship Id="rId31" Type="http://schemas.openxmlformats.org/officeDocument/2006/relationships/image" Target="../media/image7.svg"/><Relationship Id="rId32" Type="http://schemas.openxmlformats.org/officeDocument/2006/relationships/image" Target="../media/image23.png"/><Relationship Id="rId33" Type="http://schemas.openxmlformats.org/officeDocument/2006/relationships/image" Target="../media/image8.png"/><Relationship Id="rId34" Type="http://schemas.openxmlformats.org/officeDocument/2006/relationships/image" Target="../media/image98.png"/><Relationship Id="rId35" Type="http://schemas.openxmlformats.org/officeDocument/2006/relationships/image" Target="../media/image99.png"/><Relationship Id="rId36" Type="http://schemas.openxmlformats.org/officeDocument/2006/relationships/image" Target="../media/image100.png"/><Relationship Id="rId37" Type="http://schemas.openxmlformats.org/officeDocument/2006/relationships/image" Target="../media/image101.png"/><Relationship Id="rId38" Type="http://schemas.openxmlformats.org/officeDocument/2006/relationships/image" Target="../media/image102.png"/><Relationship Id="rId39" Type="http://schemas.openxmlformats.org/officeDocument/2006/relationships/image" Target="../media/image103.png"/><Relationship Id="rId40" Type="http://schemas.openxmlformats.org/officeDocument/2006/relationships/image" Target="../media/image104.png"/><Relationship Id="rId41" Type="http://schemas.openxmlformats.org/officeDocument/2006/relationships/image" Target="../media/image105.png"/><Relationship Id="rId42" Type="http://schemas.openxmlformats.org/officeDocument/2006/relationships/image" Target="../media/image106.png"/><Relationship Id="rId43" Type="http://schemas.openxmlformats.org/officeDocument/2006/relationships/image" Target="../media/image107.png"/><Relationship Id="rId44" Type="http://schemas.openxmlformats.org/officeDocument/2006/relationships/image" Target="../media/image108.png"/><Relationship Id="rId45" Type="http://schemas.openxmlformats.org/officeDocument/2006/relationships/image" Target="../media/image109.png"/><Relationship Id="rId46" Type="http://schemas.openxmlformats.org/officeDocument/2006/relationships/image" Target="../media/image110.png"/><Relationship Id="rId47" Type="http://schemas.openxmlformats.org/officeDocument/2006/relationships/image" Target="../media/image111.png"/><Relationship Id="rId48" Type="http://schemas.openxmlformats.org/officeDocument/2006/relationships/image" Target="../media/image112.png"/><Relationship Id="rId49" Type="http://schemas.openxmlformats.org/officeDocument/2006/relationships/image" Target="../media/image113.png"/><Relationship Id="rId50" Type="http://schemas.openxmlformats.org/officeDocument/2006/relationships/image" Target="../media/image114.png"/><Relationship Id="rId51" Type="http://schemas.openxmlformats.org/officeDocument/2006/relationships/image" Target="../media/image115.png"/><Relationship Id="rId52" Type="http://schemas.openxmlformats.org/officeDocument/2006/relationships/image" Target="../media/image116.png"/><Relationship Id="rId53" Type="http://schemas.openxmlformats.org/officeDocument/2006/relationships/image" Target="../media/image117.png"/><Relationship Id="rId54" Type="http://schemas.openxmlformats.org/officeDocument/2006/relationships/image" Target="../media/image118.png"/><Relationship Id="rId55" Type="http://schemas.openxmlformats.org/officeDocument/2006/relationships/image" Target="../media/image119.png"/><Relationship Id="rId56" Type="http://schemas.openxmlformats.org/officeDocument/2006/relationships/image" Target="../media/image120.png"/><Relationship Id="rId57" Type="http://schemas.openxmlformats.org/officeDocument/2006/relationships/image" Target="../media/image121.png"/><Relationship Id="rId58" Type="http://schemas.openxmlformats.org/officeDocument/2006/relationships/image" Target="../media/image86.png"/><Relationship Id="rId59" Type="http://schemas.openxmlformats.org/officeDocument/2006/relationships/image" Target="../media/image87.png"/><Relationship Id="rId60" Type="http://schemas.openxmlformats.org/officeDocument/2006/relationships/image" Target="../media/image88.png"/><Relationship Id="rId61" Type="http://schemas.openxmlformats.org/officeDocument/2006/relationships/image" Target="../media/image140.png"/><Relationship Id="rId62" Type="http://schemas.openxmlformats.org/officeDocument/2006/relationships/image" Target="../media/image141.png"/><Relationship Id="rId63" Type="http://schemas.openxmlformats.org/officeDocument/2006/relationships/image" Target="../media/image142.png"/><Relationship Id="rId64" Type="http://schemas.openxmlformats.org/officeDocument/2006/relationships/image" Target="../media/image143.png"/><Relationship Id="rId65" Type="http://schemas.openxmlformats.org/officeDocument/2006/relationships/image" Target="../media/image144.png"/><Relationship Id="rId66" Type="http://schemas.openxmlformats.org/officeDocument/2006/relationships/image" Target="../media/image145.png"/><Relationship Id="rId67" Type="http://schemas.openxmlformats.org/officeDocument/2006/relationships/image" Target="../media/image146.png"/><Relationship Id="rId68" Type="http://schemas.openxmlformats.org/officeDocument/2006/relationships/image" Target="../media/image147.png"/><Relationship Id="rId69" Type="http://schemas.openxmlformats.org/officeDocument/2006/relationships/image" Target="../media/image148.png"/><Relationship Id="rId70" Type="http://schemas.openxmlformats.org/officeDocument/2006/relationships/image" Target="../media/image149.png"/><Relationship Id="rId71" Type="http://schemas.openxmlformats.org/officeDocument/2006/relationships/image" Target="../media/image150.png"/><Relationship Id="rId72" Type="http://schemas.openxmlformats.org/officeDocument/2006/relationships/image" Target="../media/image151.png"/><Relationship Id="rId73" Type="http://schemas.openxmlformats.org/officeDocument/2006/relationships/image" Target="../media/image152.png"/><Relationship Id="rId74" Type="http://schemas.openxmlformats.org/officeDocument/2006/relationships/image" Target="../media/image15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23.png"/><Relationship Id="rId13" Type="http://schemas.openxmlformats.org/officeDocument/2006/relationships/image" Target="../media/image8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4.jpe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6.png"/><Relationship Id="rId14" Type="http://schemas.openxmlformats.org/officeDocument/2006/relationships/image" Target="../media/image7.svg"/><Relationship Id="rId15" Type="http://schemas.openxmlformats.org/officeDocument/2006/relationships/image" Target="../media/image8.png"/><Relationship Id="rId16" Type="http://schemas.openxmlformats.org/officeDocument/2006/relationships/image" Target="../media/image23.png"/><Relationship Id="rId17" Type="http://schemas.openxmlformats.org/officeDocument/2006/relationships/image" Target="../media/image126.png"/><Relationship Id="rId18" Type="http://schemas.openxmlformats.org/officeDocument/2006/relationships/image" Target="../media/image127.png"/><Relationship Id="rId19" Type="http://schemas.openxmlformats.org/officeDocument/2006/relationships/image" Target="../media/image128.png"/><Relationship Id="rId20" Type="http://schemas.openxmlformats.org/officeDocument/2006/relationships/image" Target="../media/image129.png"/><Relationship Id="rId21" Type="http://schemas.openxmlformats.org/officeDocument/2006/relationships/image" Target="../media/image130.png"/><Relationship Id="rId22" Type="http://schemas.openxmlformats.org/officeDocument/2006/relationships/image" Target="../media/image139.png"/><Relationship Id="rId23" Type="http://schemas.openxmlformats.org/officeDocument/2006/relationships/image" Target="../media/image8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svg"/><Relationship Id="rId9" Type="http://schemas.openxmlformats.org/officeDocument/2006/relationships/image" Target="../media/image74.png"/><Relationship Id="rId10" Type="http://schemas.openxmlformats.org/officeDocument/2006/relationships/image" Target="../media/image75.svg"/><Relationship Id="rId11" Type="http://schemas.openxmlformats.org/officeDocument/2006/relationships/image" Target="../media/image76.png"/><Relationship Id="rId12" Type="http://schemas.openxmlformats.org/officeDocument/2006/relationships/image" Target="../media/image77.svg"/><Relationship Id="rId13" Type="http://schemas.openxmlformats.org/officeDocument/2006/relationships/image" Target="../media/image78.png"/><Relationship Id="rId14" Type="http://schemas.openxmlformats.org/officeDocument/2006/relationships/image" Target="../media/image79.svg"/><Relationship Id="rId15" Type="http://schemas.openxmlformats.org/officeDocument/2006/relationships/image" Target="../media/image80.png"/><Relationship Id="rId16" Type="http://schemas.openxmlformats.org/officeDocument/2006/relationships/image" Target="../media/image81.sv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svg"/><Relationship Id="rId20" Type="http://schemas.openxmlformats.org/officeDocument/2006/relationships/hyperlink" Target="https://doi.org/10.6087/kcse.396" TargetMode="External"/><Relationship Id="rId21" Type="http://schemas.openxmlformats.org/officeDocument/2006/relationships/hyperlink" Target="https://aclanthology.org/D19-1410" TargetMode="External"/><Relationship Id="rId22" Type="http://schemas.openxmlformats.org/officeDocument/2006/relationships/hyperlink" Target="https://pgportal.gov.in/Home/Preview/Q29tcHJlaGVuc2l2ZUd1aWRlbGluZXNGb3JIYW5kbGluZ1RoZVB1YmxpY0dyaWV2YW5jZXMucGRm" TargetMode="External"/><Relationship Id="rId23" Type="http://schemas.openxmlformats.org/officeDocument/2006/relationships/hyperlink" Target="https://github.com/krishnasharma1493/Unicomply" TargetMode="External"/><Relationship Id="rId24" Type="http://schemas.openxmlformats.org/officeDocument/2006/relationships/image" Target="../media/image131.png"/><Relationship Id="rId25" Type="http://schemas.openxmlformats.org/officeDocument/2006/relationships/image" Target="../media/image132.png"/><Relationship Id="rId26" Type="http://schemas.openxmlformats.org/officeDocument/2006/relationships/image" Target="../media/image133.png"/><Relationship Id="rId27" Type="http://schemas.openxmlformats.org/officeDocument/2006/relationships/image" Target="../media/image134.png"/><Relationship Id="rId28" Type="http://schemas.openxmlformats.org/officeDocument/2006/relationships/image" Target="../media/image135.png"/><Relationship Id="rId29" Type="http://schemas.openxmlformats.org/officeDocument/2006/relationships/image" Target="../media/image136.png"/><Relationship Id="rId30" Type="http://schemas.openxmlformats.org/officeDocument/2006/relationships/image" Target="../media/image137.png"/><Relationship Id="rId31" Type="http://schemas.openxmlformats.org/officeDocument/2006/relationships/image" Target="../media/image13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139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38246" y="316039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34640" y="1000125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71600" y="-949936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0055" y="3027045"/>
            <a:ext cx="10741390" cy="616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SIH26264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Dashboard for Monitoring and Tracking Institution-Related Complaint Cases Across AICTE Bureaus/Cells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SIH26-DU-T07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AstraX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673182" y="103226"/>
            <a:ext cx="2486436" cy="1174048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414442" y="2196100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471724" y="1953890"/>
            <a:ext cx="8120187" cy="1426901"/>
            <a:chOff x="0" y="0"/>
            <a:chExt cx="2138650" cy="3758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8650" cy="375809"/>
            </a:xfrm>
            <a:custGeom>
              <a:avLst/>
              <a:gdLst/>
              <a:ahLst/>
              <a:cxnLst/>
              <a:rect r="r" b="b" t="t" l="l"/>
              <a:pathLst>
                <a:path h="375809" w="2138650">
                  <a:moveTo>
                    <a:pt x="48624" y="0"/>
                  </a:moveTo>
                  <a:lnTo>
                    <a:pt x="2090026" y="0"/>
                  </a:lnTo>
                  <a:cubicBezTo>
                    <a:pt x="2116880" y="0"/>
                    <a:pt x="2138650" y="21770"/>
                    <a:pt x="2138650" y="48624"/>
                  </a:cubicBezTo>
                  <a:lnTo>
                    <a:pt x="2138650" y="327185"/>
                  </a:lnTo>
                  <a:cubicBezTo>
                    <a:pt x="2138650" y="340081"/>
                    <a:pt x="2133527" y="352449"/>
                    <a:pt x="2124408" y="361568"/>
                  </a:cubicBezTo>
                  <a:cubicBezTo>
                    <a:pt x="2115289" y="370686"/>
                    <a:pt x="2102922" y="375809"/>
                    <a:pt x="2090026" y="375809"/>
                  </a:cubicBezTo>
                  <a:lnTo>
                    <a:pt x="48624" y="375809"/>
                  </a:lnTo>
                  <a:cubicBezTo>
                    <a:pt x="35728" y="375809"/>
                    <a:pt x="23361" y="370686"/>
                    <a:pt x="14242" y="361568"/>
                  </a:cubicBezTo>
                  <a:cubicBezTo>
                    <a:pt x="5123" y="352449"/>
                    <a:pt x="0" y="340081"/>
                    <a:pt x="0" y="327185"/>
                  </a:cubicBezTo>
                  <a:lnTo>
                    <a:pt x="0" y="48624"/>
                  </a:lnTo>
                  <a:cubicBezTo>
                    <a:pt x="0" y="35728"/>
                    <a:pt x="5123" y="23361"/>
                    <a:pt x="14242" y="14242"/>
                  </a:cubicBezTo>
                  <a:cubicBezTo>
                    <a:pt x="23361" y="5123"/>
                    <a:pt x="35728" y="0"/>
                    <a:pt x="48624" y="0"/>
                  </a:cubicBez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38650" cy="394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446092" y="7531846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683966" y="2353949"/>
            <a:ext cx="770356" cy="798296"/>
          </a:xfrm>
          <a:custGeom>
            <a:avLst/>
            <a:gdLst/>
            <a:ahLst/>
            <a:cxnLst/>
            <a:rect r="r" b="b" t="t" l="l"/>
            <a:pathLst>
              <a:path h="798296" w="770356">
                <a:moveTo>
                  <a:pt x="0" y="0"/>
                </a:moveTo>
                <a:lnTo>
                  <a:pt x="770356" y="0"/>
                </a:lnTo>
                <a:lnTo>
                  <a:pt x="770356" y="798296"/>
                </a:lnTo>
                <a:lnTo>
                  <a:pt x="0" y="79829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83966" y="3473993"/>
            <a:ext cx="793757" cy="826831"/>
          </a:xfrm>
          <a:custGeom>
            <a:avLst/>
            <a:gdLst/>
            <a:ahLst/>
            <a:cxnLst/>
            <a:rect r="r" b="b" t="t" l="l"/>
            <a:pathLst>
              <a:path h="826831" w="793757">
                <a:moveTo>
                  <a:pt x="0" y="0"/>
                </a:moveTo>
                <a:lnTo>
                  <a:pt x="793758" y="0"/>
                </a:lnTo>
                <a:lnTo>
                  <a:pt x="793758" y="826831"/>
                </a:lnTo>
                <a:lnTo>
                  <a:pt x="0" y="82683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08600" y="2422350"/>
            <a:ext cx="1269277" cy="1269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1570" y="2561987"/>
            <a:ext cx="959535" cy="959535"/>
          </a:xfrm>
          <a:custGeom>
            <a:avLst/>
            <a:gdLst/>
            <a:ahLst/>
            <a:cxnLst/>
            <a:rect r="r" b="b" t="t" l="l"/>
            <a:pathLst>
              <a:path h="959535" w="959535">
                <a:moveTo>
                  <a:pt x="0" y="0"/>
                </a:moveTo>
                <a:lnTo>
                  <a:pt x="959535" y="0"/>
                </a:lnTo>
                <a:lnTo>
                  <a:pt x="959535" y="959535"/>
                </a:lnTo>
                <a:lnTo>
                  <a:pt x="0" y="95953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17483" y="4444598"/>
            <a:ext cx="1269277" cy="12692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8096" y="8315785"/>
            <a:ext cx="1269277" cy="12692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42504" y="4596503"/>
            <a:ext cx="1025814" cy="887329"/>
          </a:xfrm>
          <a:custGeom>
            <a:avLst/>
            <a:gdLst/>
            <a:ahLst/>
            <a:cxnLst/>
            <a:rect r="r" b="b" t="t" l="l"/>
            <a:pathLst>
              <a:path h="887329" w="1025814">
                <a:moveTo>
                  <a:pt x="0" y="0"/>
                </a:moveTo>
                <a:lnTo>
                  <a:pt x="1025814" y="0"/>
                </a:lnTo>
                <a:lnTo>
                  <a:pt x="1025814" y="887329"/>
                </a:lnTo>
                <a:lnTo>
                  <a:pt x="0" y="88732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17483" y="6485400"/>
            <a:ext cx="1269277" cy="12692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16943" y="6699815"/>
            <a:ext cx="857887" cy="857887"/>
          </a:xfrm>
          <a:custGeom>
            <a:avLst/>
            <a:gdLst/>
            <a:ahLst/>
            <a:cxnLst/>
            <a:rect r="r" b="b" t="t" l="l"/>
            <a:pathLst>
              <a:path h="857887" w="857887">
                <a:moveTo>
                  <a:pt x="0" y="0"/>
                </a:moveTo>
                <a:lnTo>
                  <a:pt x="857886" y="0"/>
                </a:lnTo>
                <a:lnTo>
                  <a:pt x="857886" y="857887"/>
                </a:lnTo>
                <a:lnTo>
                  <a:pt x="0" y="85788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76577" y="8619842"/>
            <a:ext cx="833265" cy="724941"/>
          </a:xfrm>
          <a:custGeom>
            <a:avLst/>
            <a:gdLst/>
            <a:ahLst/>
            <a:cxnLst/>
            <a:rect r="r" b="b" t="t" l="l"/>
            <a:pathLst>
              <a:path h="724941" w="833265">
                <a:moveTo>
                  <a:pt x="0" y="0"/>
                </a:moveTo>
                <a:lnTo>
                  <a:pt x="833265" y="0"/>
                </a:lnTo>
                <a:lnTo>
                  <a:pt x="833265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>
            <a:off x="51658" y="3152245"/>
            <a:ext cx="1127197" cy="5563714"/>
          </a:xfrm>
          <a:custGeom>
            <a:avLst/>
            <a:gdLst/>
            <a:ahLst/>
            <a:cxnLst/>
            <a:rect r="r" b="b" t="t" l="l"/>
            <a:pathLst>
              <a:path h="5563714" w="1127197">
                <a:moveTo>
                  <a:pt x="1104026" y="5563714"/>
                </a:moveTo>
                <a:quadBezTo>
                  <a:pt x="-1115552" y="2772565"/>
                  <a:pt x="1127196" y="0"/>
                </a:quadBezTo>
              </a:path>
            </a:pathLst>
          </a:cu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84325" y="5079237"/>
            <a:ext cx="1033158" cy="12069"/>
          </a:xfrm>
          <a:prstGeom prst="line">
            <a:avLst/>
          </a:pr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235355" y="7032571"/>
            <a:ext cx="992992" cy="21752"/>
          </a:xfrm>
          <a:prstGeom prst="line">
            <a:avLst/>
          </a:pr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38540" y="3026342"/>
            <a:ext cx="203964" cy="20396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5724" y="8664248"/>
            <a:ext cx="203964" cy="20396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77893" y="4264721"/>
            <a:ext cx="6312831" cy="1844350"/>
            <a:chOff x="0" y="0"/>
            <a:chExt cx="1662639" cy="4857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62639" cy="485755"/>
            </a:xfrm>
            <a:custGeom>
              <a:avLst/>
              <a:gdLst/>
              <a:ahLst/>
              <a:cxnLst/>
              <a:rect r="r" b="b" t="t" l="l"/>
              <a:pathLst>
                <a:path h="485755" w="1662639">
                  <a:moveTo>
                    <a:pt x="62545" y="0"/>
                  </a:moveTo>
                  <a:lnTo>
                    <a:pt x="1600093" y="0"/>
                  </a:lnTo>
                  <a:cubicBezTo>
                    <a:pt x="1634636" y="0"/>
                    <a:pt x="1662639" y="28002"/>
                    <a:pt x="1662639" y="62545"/>
                  </a:cubicBezTo>
                  <a:lnTo>
                    <a:pt x="1662639" y="423209"/>
                  </a:lnTo>
                  <a:cubicBezTo>
                    <a:pt x="1662639" y="457752"/>
                    <a:pt x="1634636" y="485755"/>
                    <a:pt x="1600093" y="485755"/>
                  </a:cubicBezTo>
                  <a:lnTo>
                    <a:pt x="62545" y="485755"/>
                  </a:lnTo>
                  <a:cubicBezTo>
                    <a:pt x="28002" y="485755"/>
                    <a:pt x="0" y="457752"/>
                    <a:pt x="0" y="423209"/>
                  </a:cubicBezTo>
                  <a:lnTo>
                    <a:pt x="0" y="62545"/>
                  </a:lnTo>
                  <a:cubicBezTo>
                    <a:pt x="0" y="28002"/>
                    <a:pt x="28002" y="0"/>
                    <a:pt x="62545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662639" cy="504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77893" y="2196100"/>
            <a:ext cx="6217581" cy="1710358"/>
            <a:chOff x="0" y="0"/>
            <a:chExt cx="1637552" cy="4504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37552" cy="450465"/>
            </a:xfrm>
            <a:custGeom>
              <a:avLst/>
              <a:gdLst/>
              <a:ahLst/>
              <a:cxnLst/>
              <a:rect r="r" b="b" t="t" l="l"/>
              <a:pathLst>
                <a:path h="450465" w="1637552">
                  <a:moveTo>
                    <a:pt x="63503" y="0"/>
                  </a:moveTo>
                  <a:lnTo>
                    <a:pt x="1574049" y="0"/>
                  </a:lnTo>
                  <a:cubicBezTo>
                    <a:pt x="1590891" y="0"/>
                    <a:pt x="1607043" y="6691"/>
                    <a:pt x="1618952" y="18600"/>
                  </a:cubicBezTo>
                  <a:cubicBezTo>
                    <a:pt x="1630862" y="30509"/>
                    <a:pt x="1637552" y="46661"/>
                    <a:pt x="1637552" y="63503"/>
                  </a:cubicBezTo>
                  <a:lnTo>
                    <a:pt x="1637552" y="386961"/>
                  </a:lnTo>
                  <a:cubicBezTo>
                    <a:pt x="1637552" y="403804"/>
                    <a:pt x="1630862" y="419956"/>
                    <a:pt x="1618952" y="431865"/>
                  </a:cubicBezTo>
                  <a:cubicBezTo>
                    <a:pt x="1607043" y="443774"/>
                    <a:pt x="1590891" y="450465"/>
                    <a:pt x="1574049" y="450465"/>
                  </a:cubicBezTo>
                  <a:lnTo>
                    <a:pt x="63503" y="450465"/>
                  </a:lnTo>
                  <a:cubicBezTo>
                    <a:pt x="46661" y="450465"/>
                    <a:pt x="30509" y="443774"/>
                    <a:pt x="18600" y="431865"/>
                  </a:cubicBezTo>
                  <a:cubicBezTo>
                    <a:pt x="6691" y="419956"/>
                    <a:pt x="0" y="403804"/>
                    <a:pt x="0" y="386961"/>
                  </a:cubicBezTo>
                  <a:lnTo>
                    <a:pt x="0" y="63503"/>
                  </a:lnTo>
                  <a:cubicBezTo>
                    <a:pt x="0" y="46661"/>
                    <a:pt x="6691" y="30509"/>
                    <a:pt x="18600" y="18600"/>
                  </a:cubicBezTo>
                  <a:cubicBezTo>
                    <a:pt x="30509" y="6691"/>
                    <a:pt x="46661" y="0"/>
                    <a:pt x="63503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637552" cy="46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777893" y="6410469"/>
            <a:ext cx="6308881" cy="1659684"/>
            <a:chOff x="0" y="0"/>
            <a:chExt cx="1661598" cy="43711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61598" cy="437118"/>
            </a:xfrm>
            <a:custGeom>
              <a:avLst/>
              <a:gdLst/>
              <a:ahLst/>
              <a:cxnLst/>
              <a:rect r="r" b="b" t="t" l="l"/>
              <a:pathLst>
                <a:path h="437118" w="1661598">
                  <a:moveTo>
                    <a:pt x="62584" y="0"/>
                  </a:moveTo>
                  <a:lnTo>
                    <a:pt x="1599014" y="0"/>
                  </a:lnTo>
                  <a:cubicBezTo>
                    <a:pt x="1633578" y="0"/>
                    <a:pt x="1661598" y="28020"/>
                    <a:pt x="1661598" y="62584"/>
                  </a:cubicBezTo>
                  <a:lnTo>
                    <a:pt x="1661598" y="374534"/>
                  </a:lnTo>
                  <a:cubicBezTo>
                    <a:pt x="1661598" y="409098"/>
                    <a:pt x="1633578" y="437118"/>
                    <a:pt x="1599014" y="437118"/>
                  </a:cubicBezTo>
                  <a:lnTo>
                    <a:pt x="62584" y="437118"/>
                  </a:lnTo>
                  <a:cubicBezTo>
                    <a:pt x="45986" y="437118"/>
                    <a:pt x="30067" y="430525"/>
                    <a:pt x="18331" y="418788"/>
                  </a:cubicBezTo>
                  <a:cubicBezTo>
                    <a:pt x="6594" y="407051"/>
                    <a:pt x="0" y="391132"/>
                    <a:pt x="0" y="374534"/>
                  </a:cubicBezTo>
                  <a:lnTo>
                    <a:pt x="0" y="62584"/>
                  </a:lnTo>
                  <a:cubicBezTo>
                    <a:pt x="0" y="28020"/>
                    <a:pt x="28020" y="0"/>
                    <a:pt x="62584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61598" cy="45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777893" y="8406375"/>
            <a:ext cx="6308881" cy="1622232"/>
            <a:chOff x="0" y="0"/>
            <a:chExt cx="1661598" cy="4272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61598" cy="427255"/>
            </a:xfrm>
            <a:custGeom>
              <a:avLst/>
              <a:gdLst/>
              <a:ahLst/>
              <a:cxnLst/>
              <a:rect r="r" b="b" t="t" l="l"/>
              <a:pathLst>
                <a:path h="427255" w="1661598">
                  <a:moveTo>
                    <a:pt x="62584" y="0"/>
                  </a:moveTo>
                  <a:lnTo>
                    <a:pt x="1599014" y="0"/>
                  </a:lnTo>
                  <a:cubicBezTo>
                    <a:pt x="1633578" y="0"/>
                    <a:pt x="1661598" y="28020"/>
                    <a:pt x="1661598" y="62584"/>
                  </a:cubicBezTo>
                  <a:lnTo>
                    <a:pt x="1661598" y="364670"/>
                  </a:lnTo>
                  <a:cubicBezTo>
                    <a:pt x="1661598" y="399235"/>
                    <a:pt x="1633578" y="427255"/>
                    <a:pt x="1599014" y="427255"/>
                  </a:cubicBezTo>
                  <a:lnTo>
                    <a:pt x="62584" y="427255"/>
                  </a:lnTo>
                  <a:cubicBezTo>
                    <a:pt x="45986" y="427255"/>
                    <a:pt x="30067" y="420661"/>
                    <a:pt x="18331" y="408924"/>
                  </a:cubicBezTo>
                  <a:cubicBezTo>
                    <a:pt x="6594" y="397187"/>
                    <a:pt x="0" y="381269"/>
                    <a:pt x="0" y="364670"/>
                  </a:cubicBezTo>
                  <a:lnTo>
                    <a:pt x="0" y="62584"/>
                  </a:lnTo>
                  <a:cubicBezTo>
                    <a:pt x="0" y="28020"/>
                    <a:pt x="28020" y="0"/>
                    <a:pt x="62584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661598" cy="446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835053" y="2334899"/>
            <a:ext cx="6148532" cy="170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Complaint Intake and Tracking: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One register for cases from CPGRAMS, email, letters and Regional Offices, each with a 21-day SLA clock.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701477" y="7829351"/>
            <a:ext cx="829101" cy="783500"/>
          </a:xfrm>
          <a:custGeom>
            <a:avLst/>
            <a:gdLst/>
            <a:ahLst/>
            <a:cxnLst/>
            <a:rect r="r" b="b" t="t" l="l"/>
            <a:pathLst>
              <a:path h="783500" w="829101">
                <a:moveTo>
                  <a:pt x="0" y="0"/>
                </a:moveTo>
                <a:lnTo>
                  <a:pt x="829101" y="0"/>
                </a:lnTo>
                <a:lnTo>
                  <a:pt x="829101" y="783501"/>
                </a:lnTo>
                <a:lnTo>
                  <a:pt x="0" y="78350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803468" y="9080555"/>
            <a:ext cx="764648" cy="859155"/>
          </a:xfrm>
          <a:custGeom>
            <a:avLst/>
            <a:gdLst/>
            <a:ahLst/>
            <a:cxnLst/>
            <a:rect r="r" b="b" t="t" l="l"/>
            <a:pathLst>
              <a:path h="859155" w="764648">
                <a:moveTo>
                  <a:pt x="0" y="0"/>
                </a:moveTo>
                <a:lnTo>
                  <a:pt x="764647" y="0"/>
                </a:lnTo>
                <a:lnTo>
                  <a:pt x="764647" y="859155"/>
                </a:lnTo>
                <a:lnTo>
                  <a:pt x="0" y="85915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AutoShape 49" id="49"/>
          <p:cNvSpPr/>
          <p:nvPr/>
        </p:nvSpPr>
        <p:spPr>
          <a:xfrm>
            <a:off x="5267049" y="2014659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9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59" id="59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60" id="60"/>
          <p:cNvSpPr/>
          <p:nvPr/>
        </p:nvSpPr>
        <p:spPr>
          <a:xfrm>
            <a:off x="13414442" y="5352564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9471724" y="5110354"/>
            <a:ext cx="8120187" cy="1426901"/>
            <a:chOff x="0" y="0"/>
            <a:chExt cx="2138650" cy="3758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38650" cy="375809"/>
            </a:xfrm>
            <a:custGeom>
              <a:avLst/>
              <a:gdLst/>
              <a:ahLst/>
              <a:cxnLst/>
              <a:rect r="r" b="b" t="t" l="l"/>
              <a:pathLst>
                <a:path h="375809" w="2138650">
                  <a:moveTo>
                    <a:pt x="48624" y="0"/>
                  </a:moveTo>
                  <a:lnTo>
                    <a:pt x="2090026" y="0"/>
                  </a:lnTo>
                  <a:cubicBezTo>
                    <a:pt x="2116880" y="0"/>
                    <a:pt x="2138650" y="21770"/>
                    <a:pt x="2138650" y="48624"/>
                  </a:cubicBezTo>
                  <a:lnTo>
                    <a:pt x="2138650" y="327185"/>
                  </a:lnTo>
                  <a:cubicBezTo>
                    <a:pt x="2138650" y="340081"/>
                    <a:pt x="2133527" y="352449"/>
                    <a:pt x="2124408" y="361568"/>
                  </a:cubicBezTo>
                  <a:cubicBezTo>
                    <a:pt x="2115289" y="370686"/>
                    <a:pt x="2102922" y="375809"/>
                    <a:pt x="2090026" y="375809"/>
                  </a:cubicBezTo>
                  <a:lnTo>
                    <a:pt x="48624" y="375809"/>
                  </a:lnTo>
                  <a:cubicBezTo>
                    <a:pt x="35728" y="375809"/>
                    <a:pt x="23361" y="370686"/>
                    <a:pt x="14242" y="361568"/>
                  </a:cubicBezTo>
                  <a:cubicBezTo>
                    <a:pt x="5123" y="352449"/>
                    <a:pt x="0" y="340081"/>
                    <a:pt x="0" y="327185"/>
                  </a:cubicBezTo>
                  <a:lnTo>
                    <a:pt x="0" y="48624"/>
                  </a:lnTo>
                  <a:cubicBezTo>
                    <a:pt x="0" y="35728"/>
                    <a:pt x="5123" y="23361"/>
                    <a:pt x="14242" y="14242"/>
                  </a:cubicBezTo>
                  <a:cubicBezTo>
                    <a:pt x="23361" y="5123"/>
                    <a:pt x="35728" y="0"/>
                    <a:pt x="48624" y="0"/>
                  </a:cubicBezTo>
                  <a:close/>
                </a:path>
              </a:pathLst>
            </a:custGeom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138650" cy="394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635825" y="5605386"/>
            <a:ext cx="866639" cy="931870"/>
          </a:xfrm>
          <a:custGeom>
            <a:avLst/>
            <a:gdLst/>
            <a:ahLst/>
            <a:cxnLst/>
            <a:rect r="r" b="b" t="t" l="l"/>
            <a:pathLst>
              <a:path h="931870" w="866639">
                <a:moveTo>
                  <a:pt x="0" y="0"/>
                </a:moveTo>
                <a:lnTo>
                  <a:pt x="866638" y="0"/>
                </a:lnTo>
                <a:lnTo>
                  <a:pt x="866638" y="931870"/>
                </a:lnTo>
                <a:lnTo>
                  <a:pt x="0" y="93187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4708574" y="108577"/>
            <a:ext cx="838973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b="true" sz="3699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UNICOMPLY</a:t>
            </a:r>
          </a:p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299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VIEW OF EVERY INSTITUTION COMPLAINT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996403" y="1745608"/>
            <a:ext cx="5969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KEY INNOVATIONS AND UNIQUENESS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570852" y="2470332"/>
            <a:ext cx="7384158" cy="67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Registry-Anchored Matching:</a:t>
            </a:r>
            <a:r>
              <a:rPr lang="en-US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Exact ID first, then fuzzy; another district blocks the link.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513702" y="3340536"/>
            <a:ext cx="7441308" cy="10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Reasons and an Offline Mode:</a:t>
            </a:r>
            <a:r>
              <a:rPr lang="en-US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Every flag lists its reasons in words. A TF-IDF fallback runs with no network and no model download.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84677" y="7077504"/>
            <a:ext cx="4572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ADDRESSING THE PROBLEM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972818" y="4466949"/>
            <a:ext cx="5942810" cy="13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Institution Resolution: 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Turns a misspelt name such as “agrsen” into the right Permanent ID from a registry of 3,751 institutions.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92972" y="6542032"/>
            <a:ext cx="6102502" cy="13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Overlap Detection: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Finds open cases on the same institution, university or trust in different units and lists the reasons.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892220" y="8546402"/>
            <a:ext cx="6189384" cy="13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Officer Decision and Alerts: 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Heads confirm or dismiss each overlap and name a coordinator; alerts go to the units involved.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537104" y="7800776"/>
            <a:ext cx="7417906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b="true" sz="19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Blind Spots:</a:t>
            </a:r>
            <a:r>
              <a:rPr lang="en-US" sz="19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same college can face a fee case in PGRC and a show-cause notice from RB. Unicomply puts both on one screen.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664233" y="8993560"/>
            <a:ext cx="7290778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b="true" sz="19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Joined-Up Action:</a:t>
            </a:r>
            <a:r>
              <a:rPr lang="en-US" sz="19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Heads see who else is acting, so two units do not repeat the work or issue conflicting decisions.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031084" y="1573652"/>
            <a:ext cx="3683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694902" y="4902072"/>
            <a:ext cx="4572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Arial"/>
                <a:ea typeface="Arial"/>
                <a:cs typeface="Arial"/>
                <a:sym typeface="Arial"/>
              </a:rPr>
              <a:t>ACTIONABLE INTELLIGENCE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776513" y="5588879"/>
            <a:ext cx="3406445" cy="10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Tiered Alerts:</a:t>
            </a:r>
            <a:r>
              <a:rPr lang="en-US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Probable goes to heads and senior officers, Possible to heads.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255582" y="5588879"/>
            <a:ext cx="3731932" cy="10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 Alerts:</a:t>
            </a:r>
            <a:r>
              <a:rPr lang="en-US" sz="20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Warning on day 17 of 21, a breach alert after, and a 7-day idle reminder.</a:t>
            </a:r>
          </a:p>
        </p:txBody>
      </p:sp>
      <p:sp>
        <p:nvSpPr>
          <p:cNvPr name="AutoShape 79" id="79"/>
          <p:cNvSpPr/>
          <p:nvPr/>
        </p:nvSpPr>
        <p:spPr>
          <a:xfrm flipV="true">
            <a:off x="9338374" y="1793233"/>
            <a:ext cx="0" cy="8284012"/>
          </a:xfrm>
          <a:prstGeom prst="line">
            <a:avLst/>
          </a:pr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153" y="1597556"/>
            <a:ext cx="2677578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01  DATA SOURCES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153" y="1991716"/>
            <a:ext cx="2535154" cy="284849"/>
            <a:chOff x="0" y="0"/>
            <a:chExt cx="3255264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5264" cy="365760"/>
            </a:xfrm>
            <a:custGeom>
              <a:avLst/>
              <a:gdLst/>
              <a:ahLst/>
              <a:cxnLst/>
              <a:rect r="r" b="b" t="t" l="l"/>
              <a:pathLst>
                <a:path h="365760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5526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Arial"/>
                  <a:ea typeface="Arial"/>
                  <a:cs typeface="Arial"/>
                  <a:sym typeface="Arial"/>
                </a:rPr>
                <a:t>Public registry, synthetic cases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76314" y="2332937"/>
            <a:ext cx="2564822" cy="29680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797216" y="1597556"/>
            <a:ext cx="2990912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02  INGESTION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94000" y="1991716"/>
            <a:ext cx="2563639" cy="284849"/>
            <a:chOff x="0" y="0"/>
            <a:chExt cx="3291840" cy="365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1840" cy="365760"/>
            </a:xfrm>
            <a:custGeom>
              <a:avLst/>
              <a:gdLst/>
              <a:ahLst/>
              <a:cxnLst/>
              <a:rect r="r" b="b" t="t" l="l"/>
              <a:pathLst>
                <a:path h="36576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29184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Arial"/>
                  <a:ea typeface="Arial"/>
                  <a:cs typeface="Arial"/>
                  <a:sym typeface="Arial"/>
                </a:rPr>
                <a:t>Intake and text clean-up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2782378" y="2332933"/>
            <a:ext cx="2878154" cy="29689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816613" y="1597556"/>
            <a:ext cx="4016367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03  ENRICH AND FEATURES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816600" y="1991716"/>
            <a:ext cx="3304245" cy="284849"/>
            <a:chOff x="0" y="0"/>
            <a:chExt cx="4242816" cy="365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42816" cy="365760"/>
            </a:xfrm>
            <a:custGeom>
              <a:avLst/>
              <a:gdLst/>
              <a:ahLst/>
              <a:cxnLst/>
              <a:rect r="r" b="b" t="t" l="l"/>
              <a:pathLst>
                <a:path h="365760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242816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Arial"/>
                  <a:ea typeface="Arial"/>
                  <a:cs typeface="Arial"/>
                  <a:sym typeface="Arial"/>
                </a:rPr>
                <a:t>Find the institution, pair the cases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801774" y="2332925"/>
            <a:ext cx="3903610" cy="2970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861465" y="1597556"/>
            <a:ext cx="2848487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04  CLASSIFY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55200" y="1991716"/>
            <a:ext cx="2421214" cy="284849"/>
            <a:chOff x="0" y="0"/>
            <a:chExt cx="3108960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365760"/>
            </a:xfrm>
            <a:custGeom>
              <a:avLst/>
              <a:gdLst/>
              <a:ahLst/>
              <a:cxnLst/>
              <a:rect r="r" b="b" t="t" l="l"/>
              <a:pathLst>
                <a:path h="3657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10896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Arial"/>
                  <a:ea typeface="Arial"/>
                  <a:cs typeface="Arial"/>
                  <a:sym typeface="Arial"/>
                </a:rPr>
                <a:t>Decide, then learn from it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846630" y="2332951"/>
            <a:ext cx="2735732" cy="29652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2738437" y="1597556"/>
            <a:ext cx="2848487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05  SCORE AND ALERT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738100" y="1991716"/>
            <a:ext cx="2421214" cy="284849"/>
            <a:chOff x="0" y="0"/>
            <a:chExt cx="3108960" cy="365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08960" cy="365760"/>
            </a:xfrm>
            <a:custGeom>
              <a:avLst/>
              <a:gdLst/>
              <a:ahLst/>
              <a:cxnLst/>
              <a:rect r="r" b="b" t="t" l="l"/>
              <a:pathLst>
                <a:path h="3657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10896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Arial"/>
                  <a:ea typeface="Arial"/>
                  <a:cs typeface="Arial"/>
                  <a:sym typeface="Arial"/>
                </a:rPr>
                <a:t>Alerts and overlap status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723603" y="2332951"/>
            <a:ext cx="2735732" cy="29652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5615410" y="1597556"/>
            <a:ext cx="2748790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06  STORE AND SERVE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5621000" y="1991716"/>
            <a:ext cx="2036669" cy="284849"/>
            <a:chOff x="0" y="0"/>
            <a:chExt cx="2615184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15184" cy="365760"/>
            </a:xfrm>
            <a:custGeom>
              <a:avLst/>
              <a:gdLst/>
              <a:ahLst/>
              <a:cxnLst/>
              <a:rect r="r" b="b" t="t" l="l"/>
              <a:pathLst>
                <a:path h="365760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61518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Arial"/>
                  <a:ea typeface="Arial"/>
                  <a:cs typeface="Arial"/>
                  <a:sym typeface="Arial"/>
                </a:rPr>
                <a:t>Storage and the screens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5600578" y="2332939"/>
            <a:ext cx="2636039" cy="296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81262" y="2423341"/>
            <a:ext cx="2554935" cy="2469480"/>
            <a:chOff x="0" y="0"/>
            <a:chExt cx="3280664" cy="31709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80664" cy="3170936"/>
            </a:xfrm>
            <a:custGeom>
              <a:avLst/>
              <a:gdLst/>
              <a:ahLst/>
              <a:cxnLst/>
              <a:rect r="r" b="b" t="t" l="l"/>
              <a:pathLst>
                <a:path h="3170936" w="3280664">
                  <a:moveTo>
                    <a:pt x="0" y="0"/>
                  </a:moveTo>
                  <a:lnTo>
                    <a:pt x="3280664" y="0"/>
                  </a:lnTo>
                  <a:lnTo>
                    <a:pt x="3280664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012" t="0" r="-74012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2241761" y="2532929"/>
            <a:ext cx="270606" cy="270606"/>
            <a:chOff x="0" y="0"/>
            <a:chExt cx="347472" cy="347472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05092" y="2518687"/>
            <a:ext cx="1993941" cy="341818"/>
            <a:chOff x="0" y="0"/>
            <a:chExt cx="25603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5603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Complaint channels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5092" y="2860415"/>
            <a:ext cx="2335760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Seven intake routes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05092" y="3112061"/>
            <a:ext cx="2350002" cy="112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Seven channels, from CPGRAMS and email to inspections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1,500 cases, all fabricated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Typos, short forms, missing districts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Ground truth kept for scoring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Seed 26264, reproducible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1262" y="5043950"/>
            <a:ext cx="2554935" cy="2298571"/>
            <a:chOff x="0" y="0"/>
            <a:chExt cx="3280664" cy="2951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80664" cy="2951480"/>
            </a:xfrm>
            <a:custGeom>
              <a:avLst/>
              <a:gdLst/>
              <a:ahLst/>
              <a:cxnLst/>
              <a:rect r="r" b="b" t="t" l="l"/>
              <a:pathLst>
                <a:path h="2951480" w="3280664">
                  <a:moveTo>
                    <a:pt x="0" y="0"/>
                  </a:moveTo>
                  <a:lnTo>
                    <a:pt x="3280664" y="0"/>
                  </a:lnTo>
                  <a:lnTo>
                    <a:pt x="3280664" y="2951480"/>
                  </a:lnTo>
                  <a:lnTo>
                    <a:pt x="0" y="295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29" t="0" r="-65429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241761" y="5153538"/>
            <a:ext cx="270606" cy="270606"/>
            <a:chOff x="0" y="0"/>
            <a:chExt cx="347472" cy="347472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05092" y="5139295"/>
            <a:ext cx="1993941" cy="341818"/>
            <a:chOff x="0" y="0"/>
            <a:chExt cx="2560320" cy="4389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5603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AICTE registry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205092" y="5481023"/>
            <a:ext cx="2335760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Approved list, 2024-25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5092" y="5723145"/>
            <a:ext cx="2350002" cy="48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3,751 institutions in six states</a:t>
            </a:r>
          </a:p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46 trusts and 70 universities</a:t>
            </a:r>
          </a:p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Real names and Permanent IDs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2787325" y="2423341"/>
            <a:ext cx="2868269" cy="2070692"/>
            <a:chOff x="0" y="0"/>
            <a:chExt cx="3683000" cy="26588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83000" cy="2658872"/>
            </a:xfrm>
            <a:custGeom>
              <a:avLst/>
              <a:gdLst/>
              <a:ahLst/>
              <a:cxnLst/>
              <a:rect r="r" b="b" t="t" l="l"/>
              <a:pathLst>
                <a:path h="2658872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2658872"/>
                  </a:lnTo>
                  <a:lnTo>
                    <a:pt x="0" y="26588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26" t="0" r="-42626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2901265" y="2523039"/>
            <a:ext cx="333115" cy="333115"/>
            <a:chOff x="0" y="0"/>
            <a:chExt cx="427736" cy="4277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911156" y="2532929"/>
            <a:ext cx="313334" cy="313334"/>
            <a:chOff x="0" y="0"/>
            <a:chExt cx="402336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61158" y="2532929"/>
            <a:ext cx="270606" cy="270606"/>
            <a:chOff x="0" y="0"/>
            <a:chExt cx="347472" cy="347472"/>
          </a:xfrm>
        </p:grpSpPr>
        <p:sp>
          <p:nvSpPr>
            <p:cNvPr name="Freeform 72" id="72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3309944" y="2518687"/>
            <a:ext cx="1908487" cy="341818"/>
            <a:chOff x="0" y="0"/>
            <a:chExt cx="2450592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50592" cy="438912"/>
            </a:xfrm>
            <a:custGeom>
              <a:avLst/>
              <a:gdLst/>
              <a:ahLst/>
              <a:cxnLst/>
              <a:rect r="r" b="b" t="t" l="l"/>
              <a:pathLst>
                <a:path h="438912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245059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Register the case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2911156" y="2860415"/>
            <a:ext cx="2649093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cases/router.py · workflow.py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911156" y="3112061"/>
            <a:ext cx="2663336" cy="112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One form, validated before it is sent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Routed to the category's bureau by default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case_ref per bureau and year; SLA due date set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Case and overlap check in one transaction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2787325" y="4673647"/>
            <a:ext cx="2868269" cy="2668874"/>
            <a:chOff x="0" y="0"/>
            <a:chExt cx="3683000" cy="34269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83000" cy="3426968"/>
            </a:xfrm>
            <a:custGeom>
              <a:avLst/>
              <a:gdLst/>
              <a:ahLst/>
              <a:cxnLst/>
              <a:rect r="r" b="b" t="t" l="l"/>
              <a:pathLst>
                <a:path h="3426968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3426968"/>
                  </a:lnTo>
                  <a:lnTo>
                    <a:pt x="0" y="3426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384" t="0" r="-69384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2901265" y="4773344"/>
            <a:ext cx="333115" cy="333115"/>
            <a:chOff x="0" y="0"/>
            <a:chExt cx="427736" cy="427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2911156" y="4783234"/>
            <a:ext cx="313334" cy="313334"/>
            <a:chOff x="0" y="0"/>
            <a:chExt cx="402336" cy="4023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261158" y="4783234"/>
            <a:ext cx="270606" cy="270606"/>
            <a:chOff x="0" y="0"/>
            <a:chExt cx="347472" cy="347472"/>
          </a:xfrm>
        </p:grpSpPr>
        <p:sp>
          <p:nvSpPr>
            <p:cNvPr name="Freeform 86" id="86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309944" y="4768992"/>
            <a:ext cx="1908487" cy="341818"/>
            <a:chOff x="0" y="0"/>
            <a:chExt cx="2450592" cy="4389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50592" cy="438912"/>
            </a:xfrm>
            <a:custGeom>
              <a:avLst/>
              <a:gdLst/>
              <a:ahLst/>
              <a:cxnLst/>
              <a:rect r="r" b="b" t="t" l="l"/>
              <a:pathLst>
                <a:path h="438912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245059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Normalize the text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2911156" y="5110720"/>
            <a:ext cx="2649093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normalize.py · abbreviations.json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877428" y="5469360"/>
            <a:ext cx="2663336" cy="112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Case, punctuation and filler words removed</a:t>
            </a:r>
          </a:p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Short forms expanded: ENGG to ENGINEERING</a:t>
            </a:r>
          </a:p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Acronym built for every registry name</a:t>
            </a:r>
          </a:p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District and Permanent ID read from the text</a:t>
            </a:r>
          </a:p>
        </p:txBody>
      </p:sp>
      <p:sp>
        <p:nvSpPr>
          <p:cNvPr name="AutoShape 92" id="92"/>
          <p:cNvSpPr/>
          <p:nvPr/>
        </p:nvSpPr>
        <p:spPr>
          <a:xfrm>
            <a:off x="4209096" y="4500264"/>
            <a:ext cx="24728" cy="167152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3" id="93"/>
          <p:cNvGrpSpPr/>
          <p:nvPr/>
        </p:nvGrpSpPr>
        <p:grpSpPr>
          <a:xfrm rot="0">
            <a:off x="5806722" y="2423341"/>
            <a:ext cx="3893724" cy="1614934"/>
            <a:chOff x="0" y="0"/>
            <a:chExt cx="4999736" cy="20736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99736" cy="2073656"/>
            </a:xfrm>
            <a:custGeom>
              <a:avLst/>
              <a:gdLst/>
              <a:ahLst/>
              <a:cxnLst/>
              <a:rect r="r" b="b" t="t" l="l"/>
              <a:pathLst>
                <a:path h="2073656" w="4999736">
                  <a:moveTo>
                    <a:pt x="0" y="0"/>
                  </a:moveTo>
                  <a:lnTo>
                    <a:pt x="4999736" y="0"/>
                  </a:lnTo>
                  <a:lnTo>
                    <a:pt x="4999736" y="2073656"/>
                  </a:lnTo>
                  <a:lnTo>
                    <a:pt x="0" y="2073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14" t="0" r="-3214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5920662" y="2523039"/>
            <a:ext cx="333115" cy="333115"/>
            <a:chOff x="0" y="0"/>
            <a:chExt cx="427736" cy="4277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5930552" y="2532929"/>
            <a:ext cx="313334" cy="313334"/>
            <a:chOff x="0" y="0"/>
            <a:chExt cx="402336" cy="40233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06010" y="2532929"/>
            <a:ext cx="270606" cy="270606"/>
            <a:chOff x="0" y="0"/>
            <a:chExt cx="347472" cy="347472"/>
          </a:xfrm>
        </p:grpSpPr>
        <p:sp>
          <p:nvSpPr>
            <p:cNvPr name="Freeform 101" id="101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329341" y="2518687"/>
            <a:ext cx="2933942" cy="341818"/>
            <a:chOff x="0" y="0"/>
            <a:chExt cx="3767328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767328" cy="438912"/>
            </a:xfrm>
            <a:custGeom>
              <a:avLst/>
              <a:gdLst/>
              <a:ahLst/>
              <a:cxnLst/>
              <a:rect r="r" b="b" t="t" l="l"/>
              <a:pathLst>
                <a:path h="438912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3767328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Resolve the institution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5930552" y="2860415"/>
            <a:ext cx="367454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resolve.py · index.py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916310" y="3029487"/>
            <a:ext cx="368879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Block by state, then exact ID, name or alias match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Score the rest: fuzzy 0.45, semantic 0.25, acronym 0.15, location 0.15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A different district vetoes the link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5806722" y="4160919"/>
            <a:ext cx="3893724" cy="1871298"/>
            <a:chOff x="0" y="0"/>
            <a:chExt cx="4999736" cy="24028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999736" cy="2402840"/>
            </a:xfrm>
            <a:custGeom>
              <a:avLst/>
              <a:gdLst/>
              <a:ahLst/>
              <a:cxnLst/>
              <a:rect r="r" b="b" t="t" l="l"/>
              <a:pathLst>
                <a:path h="2402840" w="4999736">
                  <a:moveTo>
                    <a:pt x="0" y="0"/>
                  </a:moveTo>
                  <a:lnTo>
                    <a:pt x="4999736" y="0"/>
                  </a:lnTo>
                  <a:lnTo>
                    <a:pt x="4999736" y="2402840"/>
                  </a:lnTo>
                  <a:lnTo>
                    <a:pt x="0" y="2402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661" t="0" r="-11661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5920662" y="4260616"/>
            <a:ext cx="333115" cy="333115"/>
            <a:chOff x="0" y="0"/>
            <a:chExt cx="427736" cy="42773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5930552" y="4270506"/>
            <a:ext cx="313334" cy="313334"/>
            <a:chOff x="0" y="0"/>
            <a:chExt cx="402336" cy="40233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306010" y="4270506"/>
            <a:ext cx="270606" cy="270606"/>
            <a:chOff x="0" y="0"/>
            <a:chExt cx="347472" cy="347472"/>
          </a:xfrm>
        </p:grpSpPr>
        <p:sp>
          <p:nvSpPr>
            <p:cNvPr name="Freeform 115" id="115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329341" y="4256264"/>
            <a:ext cx="2933942" cy="341818"/>
            <a:chOff x="0" y="0"/>
            <a:chExt cx="3767328" cy="4389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767328" cy="438912"/>
            </a:xfrm>
            <a:custGeom>
              <a:avLst/>
              <a:gdLst/>
              <a:ahLst/>
              <a:cxnLst/>
              <a:rect r="r" b="b" t="t" l="l"/>
              <a:pathLst>
                <a:path h="438912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3767328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Score each pair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5930552" y="4597992"/>
            <a:ext cx="367454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overlap.py · index.py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930552" y="4849639"/>
            <a:ext cx="368879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Candidates: open cases in a 180-day window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Text 0.60, category 0.25, time 0.15 (60-day decay)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Level: institution 1.0, parent 0.8, trust 0.6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Reasons written for every pair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5788128" y="6154860"/>
            <a:ext cx="3912318" cy="1305952"/>
            <a:chOff x="0" y="0"/>
            <a:chExt cx="4999736" cy="166893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999736" cy="1668938"/>
            </a:xfrm>
            <a:custGeom>
              <a:avLst/>
              <a:gdLst/>
              <a:ahLst/>
              <a:cxnLst/>
              <a:rect r="r" b="b" t="t" l="l"/>
              <a:pathLst>
                <a:path h="1668938" w="4999736">
                  <a:moveTo>
                    <a:pt x="0" y="0"/>
                  </a:moveTo>
                  <a:lnTo>
                    <a:pt x="4999736" y="0"/>
                  </a:lnTo>
                  <a:lnTo>
                    <a:pt x="4999736" y="1668938"/>
                  </a:lnTo>
                  <a:lnTo>
                    <a:pt x="0" y="16689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84" r="0" b="-406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5920662" y="6254557"/>
            <a:ext cx="333115" cy="333115"/>
            <a:chOff x="0" y="0"/>
            <a:chExt cx="427736" cy="42773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5930552" y="6264448"/>
            <a:ext cx="313334" cy="313334"/>
            <a:chOff x="0" y="0"/>
            <a:chExt cx="402336" cy="40233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06010" y="6264448"/>
            <a:ext cx="270606" cy="270606"/>
            <a:chOff x="0" y="0"/>
            <a:chExt cx="347472" cy="347472"/>
          </a:xfrm>
        </p:grpSpPr>
        <p:sp>
          <p:nvSpPr>
            <p:cNvPr name="Freeform 129" id="129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0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6329341" y="6250205"/>
            <a:ext cx="2933942" cy="341818"/>
            <a:chOff x="0" y="0"/>
            <a:chExt cx="3767328" cy="43891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767328" cy="438912"/>
            </a:xfrm>
            <a:custGeom>
              <a:avLst/>
              <a:gdLst/>
              <a:ahLst/>
              <a:cxnLst/>
              <a:rect r="r" b="b" t="t" l="l"/>
              <a:pathLst>
                <a:path h="438912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3767328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Cluster and tier</a:t>
              </a:r>
            </a:p>
          </p:txBody>
        </p:sp>
      </p:grpSp>
      <p:sp>
        <p:nvSpPr>
          <p:cNvPr name="TextBox 133" id="133"/>
          <p:cNvSpPr txBox="true"/>
          <p:nvPr/>
        </p:nvSpPr>
        <p:spPr>
          <a:xfrm rot="0">
            <a:off x="5930552" y="6591934"/>
            <a:ext cx="367454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overlap.py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930552" y="6843580"/>
            <a:ext cx="3688791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Complete linkage by issue, no chaining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Probable from 0.50, Possible from 0.45</a:t>
            </a:r>
          </a:p>
        </p:txBody>
      </p:sp>
      <p:sp>
        <p:nvSpPr>
          <p:cNvPr name="AutoShape 135" id="135"/>
          <p:cNvSpPr/>
          <p:nvPr/>
        </p:nvSpPr>
        <p:spPr>
          <a:xfrm>
            <a:off x="7741216" y="4044507"/>
            <a:ext cx="24727" cy="110180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6" id="136"/>
          <p:cNvSpPr/>
          <p:nvPr/>
        </p:nvSpPr>
        <p:spPr>
          <a:xfrm>
            <a:off x="7741216" y="6038448"/>
            <a:ext cx="24727" cy="110180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7" id="137"/>
          <p:cNvGrpSpPr/>
          <p:nvPr/>
        </p:nvGrpSpPr>
        <p:grpSpPr>
          <a:xfrm rot="0">
            <a:off x="9851574" y="2423341"/>
            <a:ext cx="2725844" cy="2868269"/>
            <a:chOff x="0" y="0"/>
            <a:chExt cx="3500120" cy="36830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001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3683000"/>
                  </a:lnTo>
                  <a:lnTo>
                    <a:pt x="0" y="3683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007" t="0" r="-85007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9965514" y="2523039"/>
            <a:ext cx="333115" cy="333115"/>
            <a:chOff x="0" y="0"/>
            <a:chExt cx="427736" cy="42773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9975404" y="2532929"/>
            <a:ext cx="313334" cy="313334"/>
            <a:chOff x="0" y="0"/>
            <a:chExt cx="402336" cy="40233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182982" y="2532929"/>
            <a:ext cx="270606" cy="270606"/>
            <a:chOff x="0" y="0"/>
            <a:chExt cx="347472" cy="347472"/>
          </a:xfrm>
        </p:grpSpPr>
        <p:sp>
          <p:nvSpPr>
            <p:cNvPr name="Freeform 145" id="145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0" b="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374193" y="2518687"/>
            <a:ext cx="1766062" cy="341818"/>
            <a:chOff x="0" y="0"/>
            <a:chExt cx="2267712" cy="43891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267712" cy="438912"/>
            </a:xfrm>
            <a:custGeom>
              <a:avLst/>
              <a:gdLst/>
              <a:ahLst/>
              <a:cxnLst/>
              <a:rect r="r" b="b" t="t" l="l"/>
              <a:pathLst>
                <a:path h="438912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22677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Decide and learn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9975404" y="2860415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engine/service.py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9975404" y="3112061"/>
            <a:ext cx="2520911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Auto-link at 0.50 if 0.05 ahead of the runner-up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Otherwise: review queue, or no match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A reviewer's pick is saved as an alias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The same spelling then resolves on its own</a:t>
            </a:r>
          </a:p>
        </p:txBody>
      </p:sp>
      <p:grpSp>
        <p:nvGrpSpPr>
          <p:cNvPr name="Group 151" id="151"/>
          <p:cNvGrpSpPr/>
          <p:nvPr/>
        </p:nvGrpSpPr>
        <p:grpSpPr>
          <a:xfrm rot="0">
            <a:off x="9851574" y="5442738"/>
            <a:ext cx="2725844" cy="1899783"/>
            <a:chOff x="0" y="0"/>
            <a:chExt cx="3500120" cy="243941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500120" cy="2439416"/>
            </a:xfrm>
            <a:custGeom>
              <a:avLst/>
              <a:gdLst/>
              <a:ahLst/>
              <a:cxnLst/>
              <a:rect r="r" b="b" t="t" l="l"/>
              <a:pathLst>
                <a:path h="2439416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2439416"/>
                  </a:lnTo>
                  <a:lnTo>
                    <a:pt x="0" y="24394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421" t="0" r="-39421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12182982" y="5552326"/>
            <a:ext cx="270606" cy="270606"/>
            <a:chOff x="0" y="0"/>
            <a:chExt cx="347472" cy="347472"/>
          </a:xfrm>
        </p:grpSpPr>
        <p:sp>
          <p:nvSpPr>
            <p:cNvPr name="Freeform 154" id="154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975404" y="5538083"/>
            <a:ext cx="2164850" cy="341818"/>
            <a:chOff x="0" y="0"/>
            <a:chExt cx="2779776" cy="43891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779776" cy="438912"/>
            </a:xfrm>
            <a:custGeom>
              <a:avLst/>
              <a:gdLst/>
              <a:ahLst/>
              <a:cxnLst/>
              <a:rect r="r" b="b" t="t" l="l"/>
              <a:pathLst>
                <a:path h="438912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277977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How it was tuned</a:t>
              </a:r>
            </a:p>
          </p:txBody>
        </p:sp>
      </p:grpSp>
      <p:sp>
        <p:nvSpPr>
          <p:cNvPr name="TextBox 158" id="158"/>
          <p:cNvSpPr txBox="true"/>
          <p:nvPr/>
        </p:nvSpPr>
        <p:spPr>
          <a:xfrm rot="0">
            <a:off x="9975404" y="5879812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tune.py · eval.py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975404" y="6121933"/>
            <a:ext cx="252091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Synthetic data, seed 26264</a:t>
            </a:r>
          </a:p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Tuned on the dev split only</a:t>
            </a:r>
          </a:p>
          <a:p>
            <a:pPr algn="l" marL="234206" indent="-117103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Test split: F1 0.919, precision 0.998, recall 0.852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12728547" y="2423341"/>
            <a:ext cx="2725844" cy="2327056"/>
            <a:chOff x="0" y="0"/>
            <a:chExt cx="3500120" cy="298805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500120" cy="2988056"/>
            </a:xfrm>
            <a:custGeom>
              <a:avLst/>
              <a:gdLst/>
              <a:ahLst/>
              <a:cxnLst/>
              <a:rect r="r" b="b" t="t" l="l"/>
              <a:pathLst>
                <a:path h="2988056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2988056"/>
                  </a:lnTo>
                  <a:lnTo>
                    <a:pt x="0" y="2988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532" t="0" r="-59532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62" id="162"/>
          <p:cNvGrpSpPr/>
          <p:nvPr/>
        </p:nvGrpSpPr>
        <p:grpSpPr>
          <a:xfrm rot="0">
            <a:off x="12842486" y="2523039"/>
            <a:ext cx="333115" cy="333115"/>
            <a:chOff x="0" y="0"/>
            <a:chExt cx="427736" cy="42773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852377" y="2532929"/>
            <a:ext cx="313334" cy="313334"/>
            <a:chOff x="0" y="0"/>
            <a:chExt cx="402336" cy="40233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059955" y="2532929"/>
            <a:ext cx="270606" cy="270606"/>
            <a:chOff x="0" y="0"/>
            <a:chExt cx="347472" cy="347472"/>
          </a:xfrm>
        </p:grpSpPr>
        <p:sp>
          <p:nvSpPr>
            <p:cNvPr name="Freeform 168" id="168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251165" y="2518687"/>
            <a:ext cx="1766062" cy="341818"/>
            <a:chOff x="0" y="0"/>
            <a:chExt cx="2267712" cy="43891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267712" cy="438912"/>
            </a:xfrm>
            <a:custGeom>
              <a:avLst/>
              <a:gdLst/>
              <a:ahLst/>
              <a:cxnLst/>
              <a:rect r="r" b="b" t="t" l="l"/>
              <a:pathLst>
                <a:path h="438912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28575"/>
              <a:ext cx="22677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Raise the alerts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12852377" y="2860415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alerts/service.py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2852377" y="3102536"/>
            <a:ext cx="2520911" cy="12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Probable: critical alert to heads and senior officers</a:t>
            </a:r>
          </a:p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Possible: warning to the involved heads</a:t>
            </a:r>
          </a:p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SLA warning on day 17 of 21, breach after</a:t>
            </a:r>
          </a:p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One alert per person, case and day</a:t>
            </a:r>
          </a:p>
          <a:p>
            <a:pPr algn="l" marL="252303" indent="-126151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A dismissed pair never alerts again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12728547" y="4901526"/>
            <a:ext cx="2725844" cy="2440995"/>
            <a:chOff x="0" y="0"/>
            <a:chExt cx="3500120" cy="31343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50012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3134360"/>
                  </a:lnTo>
                  <a:lnTo>
                    <a:pt x="0" y="3134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895" t="0" r="-64895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76" id="176"/>
          <p:cNvGrpSpPr/>
          <p:nvPr/>
        </p:nvGrpSpPr>
        <p:grpSpPr>
          <a:xfrm rot="0">
            <a:off x="15059955" y="5011113"/>
            <a:ext cx="270606" cy="270606"/>
            <a:chOff x="0" y="0"/>
            <a:chExt cx="347472" cy="347472"/>
          </a:xfrm>
        </p:grpSpPr>
        <p:sp>
          <p:nvSpPr>
            <p:cNvPr name="Freeform 177" id="177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852377" y="4996871"/>
            <a:ext cx="2164850" cy="341818"/>
            <a:chOff x="0" y="0"/>
            <a:chExt cx="2779776" cy="438912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779776" cy="438912"/>
            </a:xfrm>
            <a:custGeom>
              <a:avLst/>
              <a:gdLst/>
              <a:ahLst/>
              <a:cxnLst/>
              <a:rect r="r" b="b" t="t" l="l"/>
              <a:pathLst>
                <a:path h="438912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28575"/>
              <a:ext cx="277977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Overlap lifecycle</a:t>
              </a:r>
            </a:p>
          </p:txBody>
        </p:sp>
      </p:grpSp>
      <p:sp>
        <p:nvSpPr>
          <p:cNvPr name="TextBox 181" id="181"/>
          <p:cNvSpPr txBox="true"/>
          <p:nvPr/>
        </p:nvSpPr>
        <p:spPr>
          <a:xfrm rot="0">
            <a:off x="12852377" y="5338599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overlaps/service.py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2852377" y="5580721"/>
            <a:ext cx="2520911" cy="96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0400" indent="-135200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open → confirmed or dismissed → resolved</a:t>
            </a:r>
          </a:p>
          <a:p>
            <a:pPr algn="l" marL="270400" indent="-135200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Confirming names a coordinator; dismissing needs a remark</a:t>
            </a:r>
          </a:p>
          <a:p>
            <a:pPr algn="l" marL="270400" indent="-135200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Resolves itself when every case is disposed</a:t>
            </a:r>
          </a:p>
        </p:txBody>
      </p:sp>
      <p:sp>
        <p:nvSpPr>
          <p:cNvPr name="AutoShape 183" id="183"/>
          <p:cNvSpPr/>
          <p:nvPr/>
        </p:nvSpPr>
        <p:spPr>
          <a:xfrm>
            <a:off x="14079100" y="4756629"/>
            <a:ext cx="24727" cy="13866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4" id="184"/>
          <p:cNvGrpSpPr/>
          <p:nvPr/>
        </p:nvGrpSpPr>
        <p:grpSpPr>
          <a:xfrm rot="0">
            <a:off x="15605519" y="2423341"/>
            <a:ext cx="2626147" cy="2042207"/>
            <a:chOff x="0" y="0"/>
            <a:chExt cx="3372104" cy="2622296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3372104" cy="2622296"/>
            </a:xfrm>
            <a:custGeom>
              <a:avLst/>
              <a:gdLst/>
              <a:ahLst/>
              <a:cxnLst/>
              <a:rect r="r" b="b" t="t" l="l"/>
              <a:pathLst>
                <a:path h="2622296" w="3372104">
                  <a:moveTo>
                    <a:pt x="0" y="0"/>
                  </a:moveTo>
                  <a:lnTo>
                    <a:pt x="3372104" y="0"/>
                  </a:lnTo>
                  <a:lnTo>
                    <a:pt x="3372104" y="2622296"/>
                  </a:lnTo>
                  <a:lnTo>
                    <a:pt x="0" y="2622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774" t="0" r="-49774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86" id="186"/>
          <p:cNvGrpSpPr/>
          <p:nvPr/>
        </p:nvGrpSpPr>
        <p:grpSpPr>
          <a:xfrm rot="0">
            <a:off x="17761030" y="2532929"/>
            <a:ext cx="270606" cy="270606"/>
            <a:chOff x="0" y="0"/>
            <a:chExt cx="347472" cy="347472"/>
          </a:xfrm>
        </p:grpSpPr>
        <p:sp>
          <p:nvSpPr>
            <p:cNvPr name="Freeform 187" id="187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0" r="0" b="0"/>
              </a:stretch>
            </a:blip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5729349" y="2518687"/>
            <a:ext cx="2065153" cy="341818"/>
            <a:chOff x="0" y="0"/>
            <a:chExt cx="2651760" cy="43891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651760" cy="438912"/>
            </a:xfrm>
            <a:custGeom>
              <a:avLst/>
              <a:gdLst/>
              <a:ahLst/>
              <a:cxnLst/>
              <a:rect r="r" b="b" t="t" l="l"/>
              <a:pathLst>
                <a:path h="43891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722" r="0" b="-67722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28575"/>
              <a:ext cx="26517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SQLite</a:t>
              </a:r>
            </a:p>
          </p:txBody>
        </p:sp>
      </p:grpSp>
      <p:sp>
        <p:nvSpPr>
          <p:cNvPr name="TextBox 191" id="191"/>
          <p:cNvSpPr txBox="true"/>
          <p:nvPr/>
        </p:nvSpPr>
        <p:spPr>
          <a:xfrm rot="0">
            <a:off x="15729349" y="2860415"/>
            <a:ext cx="2406972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demo database, 14 tables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15729349" y="3126304"/>
            <a:ext cx="1281819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case_action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institution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trust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6863756" y="3126304"/>
            <a:ext cx="125333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overlap_group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overlap_pair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overlap_link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match_review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5729349" y="3840479"/>
            <a:ext cx="2406972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050" i="true">
                <a:solidFill>
                  <a:srgbClr val="5A6478"/>
                </a:solidFill>
                <a:latin typeface="Arial"/>
                <a:ea typeface="Arial"/>
                <a:cs typeface="Arial"/>
                <a:sym typeface="Arial"/>
              </a:rPr>
              <a:t>Production path: PostgreSQL with pgvector</a:t>
            </a:r>
          </a:p>
        </p:txBody>
      </p:sp>
      <p:grpSp>
        <p:nvGrpSpPr>
          <p:cNvPr name="Group 195" id="195"/>
          <p:cNvGrpSpPr/>
          <p:nvPr/>
        </p:nvGrpSpPr>
        <p:grpSpPr>
          <a:xfrm rot="0">
            <a:off x="15605519" y="4616677"/>
            <a:ext cx="2626147" cy="2844136"/>
            <a:chOff x="0" y="0"/>
            <a:chExt cx="3372104" cy="3652012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372104" cy="3652012"/>
            </a:xfrm>
            <a:custGeom>
              <a:avLst/>
              <a:gdLst/>
              <a:ahLst/>
              <a:cxnLst/>
              <a:rect r="r" b="b" t="t" l="l"/>
              <a:pathLst>
                <a:path h="3652012" w="3372104">
                  <a:moveTo>
                    <a:pt x="0" y="0"/>
                  </a:moveTo>
                  <a:lnTo>
                    <a:pt x="3372104" y="0"/>
                  </a:lnTo>
                  <a:lnTo>
                    <a:pt x="3372104" y="3652012"/>
                  </a:lnTo>
                  <a:lnTo>
                    <a:pt x="0" y="3652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74" t="0" r="-83174" b="4159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97" id="197"/>
          <p:cNvGrpSpPr/>
          <p:nvPr/>
        </p:nvGrpSpPr>
        <p:grpSpPr>
          <a:xfrm rot="0">
            <a:off x="15719459" y="4716374"/>
            <a:ext cx="333115" cy="333115"/>
            <a:chOff x="0" y="0"/>
            <a:chExt cx="427736" cy="42773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99" id="199"/>
          <p:cNvGrpSpPr/>
          <p:nvPr/>
        </p:nvGrpSpPr>
        <p:grpSpPr>
          <a:xfrm rot="0">
            <a:off x="15729349" y="4726264"/>
            <a:ext cx="313334" cy="313334"/>
            <a:chOff x="0" y="0"/>
            <a:chExt cx="402336" cy="402336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7761030" y="4726264"/>
            <a:ext cx="270606" cy="270606"/>
            <a:chOff x="0" y="0"/>
            <a:chExt cx="347472" cy="347472"/>
          </a:xfrm>
        </p:grpSpPr>
        <p:sp>
          <p:nvSpPr>
            <p:cNvPr name="Freeform 203" id="203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6128137" y="4712022"/>
            <a:ext cx="1666365" cy="341818"/>
            <a:chOff x="0" y="0"/>
            <a:chExt cx="2139696" cy="438912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139696" cy="438912"/>
            </a:xfrm>
            <a:custGeom>
              <a:avLst/>
              <a:gdLst/>
              <a:ahLst/>
              <a:cxnLst/>
              <a:rect r="r" b="b" t="t" l="l"/>
              <a:pathLst>
                <a:path h="438912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28575"/>
              <a:ext cx="213969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Arial"/>
                  <a:ea typeface="Arial"/>
                  <a:cs typeface="Arial"/>
                  <a:sym typeface="Arial"/>
                </a:rPr>
                <a:t>Serve the app</a:t>
              </a:r>
            </a:p>
          </p:txBody>
        </p:sp>
      </p:grpSp>
      <p:sp>
        <p:nvSpPr>
          <p:cNvPr name="TextBox 207" id="207"/>
          <p:cNvSpPr txBox="true"/>
          <p:nvPr/>
        </p:nvSpPr>
        <p:spPr>
          <a:xfrm rot="0">
            <a:off x="15729349" y="5053750"/>
            <a:ext cx="2406972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Arial"/>
                <a:ea typeface="Arial"/>
                <a:cs typeface="Arial"/>
                <a:sym typeface="Arial"/>
              </a:rPr>
              <a:t>main.py · pages/</a:t>
            </a:r>
          </a:p>
        </p:txBody>
      </p:sp>
      <p:sp>
        <p:nvSpPr>
          <p:cNvPr name="TextBox 208" id="208"/>
          <p:cNvSpPr txBox="true"/>
          <p:nvPr/>
        </p:nvSpPr>
        <p:spPr>
          <a:xfrm rot="0">
            <a:off x="15729349" y="5305397"/>
            <a:ext cx="2421214" cy="12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REST /api/v1 with a {success, data, error} envelope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Every case query is scoped by role and bureau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Today queue, case split view, overlap lanes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Evidence table and resolution line</a:t>
            </a:r>
          </a:p>
          <a:p>
            <a:pPr algn="l" marL="216109" indent="-108054" lvl="1">
              <a:lnSpc>
                <a:spcPts val="1260"/>
              </a:lnSpc>
              <a:buFont typeface="Arial"/>
              <a:buChar char="•"/>
            </a:pPr>
            <a:r>
              <a:rPr lang="en-US" sz="1050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Ctrl K finds a case or institution</a:t>
            </a:r>
          </a:p>
        </p:txBody>
      </p:sp>
      <p:sp>
        <p:nvSpPr>
          <p:cNvPr name="AutoShape 209" id="209"/>
          <p:cNvSpPr/>
          <p:nvPr/>
        </p:nvSpPr>
        <p:spPr>
          <a:xfrm>
            <a:off x="16830024" y="4471781"/>
            <a:ext cx="24727" cy="13866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0" id="210"/>
          <p:cNvSpPr/>
          <p:nvPr/>
        </p:nvSpPr>
        <p:spPr>
          <a:xfrm>
            <a:off x="2628186" y="341783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1" id="211"/>
          <p:cNvSpPr/>
          <p:nvPr/>
        </p:nvSpPr>
        <p:spPr>
          <a:xfrm>
            <a:off x="2628186" y="575359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2" id="212"/>
          <p:cNvSpPr/>
          <p:nvPr/>
        </p:nvSpPr>
        <p:spPr>
          <a:xfrm>
            <a:off x="5647588" y="5525720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3" id="213"/>
          <p:cNvSpPr/>
          <p:nvPr/>
        </p:nvSpPr>
        <p:spPr>
          <a:xfrm flipV="true">
            <a:off x="5718800" y="3132990"/>
            <a:ext cx="24726" cy="241745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4" id="214"/>
          <p:cNvSpPr/>
          <p:nvPr/>
        </p:nvSpPr>
        <p:spPr>
          <a:xfrm>
            <a:off x="5718800" y="3132991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5" id="215"/>
          <p:cNvSpPr/>
          <p:nvPr/>
        </p:nvSpPr>
        <p:spPr>
          <a:xfrm>
            <a:off x="9692440" y="6650873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6" id="216"/>
          <p:cNvSpPr/>
          <p:nvPr/>
        </p:nvSpPr>
        <p:spPr>
          <a:xfrm flipV="true">
            <a:off x="9763635" y="3702690"/>
            <a:ext cx="24751" cy="2972907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7" id="217"/>
          <p:cNvSpPr/>
          <p:nvPr/>
        </p:nvSpPr>
        <p:spPr>
          <a:xfrm>
            <a:off x="9763652" y="3702689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8" id="218"/>
          <p:cNvSpPr/>
          <p:nvPr/>
        </p:nvSpPr>
        <p:spPr>
          <a:xfrm>
            <a:off x="12569407" y="341783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9" id="219"/>
          <p:cNvSpPr/>
          <p:nvPr/>
        </p:nvSpPr>
        <p:spPr>
          <a:xfrm>
            <a:off x="15446379" y="341783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0" id="220"/>
          <p:cNvGrpSpPr/>
          <p:nvPr/>
        </p:nvGrpSpPr>
        <p:grpSpPr>
          <a:xfrm rot="0">
            <a:off x="81262" y="7607589"/>
            <a:ext cx="9690100" cy="2469480"/>
            <a:chOff x="0" y="0"/>
            <a:chExt cx="6151880" cy="3170936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6151880" cy="3170936"/>
            </a:xfrm>
            <a:custGeom>
              <a:avLst/>
              <a:gdLst/>
              <a:ahLst/>
              <a:cxnLst/>
              <a:rect r="r" b="b" t="t" l="l"/>
              <a:pathLst>
                <a:path h="3170936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33" t="0" r="-1613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224" id="224"/>
          <p:cNvGrpSpPr/>
          <p:nvPr/>
        </p:nvGrpSpPr>
        <p:grpSpPr>
          <a:xfrm rot="0">
            <a:off x="9922787" y="7607589"/>
            <a:ext cx="3936451" cy="2469480"/>
            <a:chOff x="0" y="0"/>
            <a:chExt cx="5054600" cy="3170936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5054600" cy="3170936"/>
            </a:xfrm>
            <a:custGeom>
              <a:avLst/>
              <a:gdLst/>
              <a:ahLst/>
              <a:cxnLst/>
              <a:rect r="r" b="b" t="t" l="l"/>
              <a:pathLst>
                <a:path h="3170936" w="5054600">
                  <a:moveTo>
                    <a:pt x="0" y="0"/>
                  </a:moveTo>
                  <a:lnTo>
                    <a:pt x="5054600" y="0"/>
                  </a:lnTo>
                  <a:lnTo>
                    <a:pt x="5054600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489" t="0" r="-30489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226" id="226"/>
          <p:cNvGrpSpPr/>
          <p:nvPr/>
        </p:nvGrpSpPr>
        <p:grpSpPr>
          <a:xfrm rot="0">
            <a:off x="14024608" y="7607589"/>
            <a:ext cx="4207058" cy="2469480"/>
            <a:chOff x="0" y="0"/>
            <a:chExt cx="5402072" cy="31709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5402072" cy="3170936"/>
            </a:xfrm>
            <a:custGeom>
              <a:avLst/>
              <a:gdLst/>
              <a:ahLst/>
              <a:cxnLst/>
              <a:rect r="r" b="b" t="t" l="l"/>
              <a:pathLst>
                <a:path h="3170936" w="5402072">
                  <a:moveTo>
                    <a:pt x="0" y="0"/>
                  </a:moveTo>
                  <a:lnTo>
                    <a:pt x="5402072" y="0"/>
                  </a:lnTo>
                  <a:lnTo>
                    <a:pt x="5402072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312" t="0" r="-25312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sp>
        <p:nvSpPr>
          <p:cNvPr name="TextBox 292" id="292"/>
          <p:cNvSpPr txBox="true"/>
          <p:nvPr/>
        </p:nvSpPr>
        <p:spPr>
          <a:xfrm rot="0">
            <a:off x="10075102" y="7683884"/>
            <a:ext cx="3631822" cy="2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240" b="true">
                <a:solidFill>
                  <a:srgbClr val="0A2A66"/>
                </a:solidFill>
                <a:latin typeface="Arial"/>
                <a:ea typeface="Arial"/>
                <a:cs typeface="Arial"/>
                <a:sym typeface="Arial"/>
              </a:rPr>
              <a:t>Current System Metrics</a:t>
            </a:r>
            <a:r>
              <a:rPr lang="en-US" sz="1240">
                <a:solidFill>
                  <a:srgbClr val="5A6478"/>
                </a:solidFill>
                <a:latin typeface="Arial"/>
                <a:ea typeface="Arial"/>
                <a:cs typeface="Arial"/>
                <a:sym typeface="Arial"/>
              </a:rPr>
              <a:t>  demo data, 20 Nov 2026</a:t>
            </a:r>
          </a:p>
        </p:txBody>
      </p:sp>
      <p:grpSp>
        <p:nvGrpSpPr>
          <p:cNvPr name="Group 293" id="293"/>
          <p:cNvGrpSpPr/>
          <p:nvPr/>
        </p:nvGrpSpPr>
        <p:grpSpPr>
          <a:xfrm rot="0">
            <a:off x="10103586" y="8174359"/>
            <a:ext cx="213637" cy="213637"/>
            <a:chOff x="0" y="0"/>
            <a:chExt cx="274320" cy="274320"/>
          </a:xfrm>
        </p:grpSpPr>
        <p:sp>
          <p:nvSpPr>
            <p:cNvPr name="Freeform 294" id="294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>
                <a:fillRect l="0" t="0" r="0" b="0"/>
              </a:stretch>
            </a:blip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10445405" y="8087480"/>
            <a:ext cx="1110910" cy="387395"/>
            <a:chOff x="0" y="0"/>
            <a:chExt cx="1426464" cy="497434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297" id="297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3,751</a:t>
              </a:r>
            </a:p>
          </p:txBody>
        </p:sp>
      </p:grpSp>
      <p:grpSp>
        <p:nvGrpSpPr>
          <p:cNvPr name="Group 298" id="298"/>
          <p:cNvGrpSpPr/>
          <p:nvPr/>
        </p:nvGrpSpPr>
        <p:grpSpPr>
          <a:xfrm rot="0">
            <a:off x="11556315" y="8087480"/>
            <a:ext cx="2207578" cy="387395"/>
            <a:chOff x="0" y="0"/>
            <a:chExt cx="2834640" cy="497434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00" id="300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Arial"/>
                  <a:ea typeface="Arial"/>
                  <a:cs typeface="Arial"/>
                  <a:sym typeface="Arial"/>
                </a:rPr>
                <a:t>AICTE institutions in the registry</a:t>
              </a:r>
            </a:p>
          </p:txBody>
        </p:sp>
      </p:grpSp>
      <p:grpSp>
        <p:nvGrpSpPr>
          <p:cNvPr name="Group 301" id="301"/>
          <p:cNvGrpSpPr/>
          <p:nvPr/>
        </p:nvGrpSpPr>
        <p:grpSpPr>
          <a:xfrm rot="0">
            <a:off x="10103586" y="8561753"/>
            <a:ext cx="213637" cy="213637"/>
            <a:chOff x="0" y="0"/>
            <a:chExt cx="274320" cy="274320"/>
          </a:xfrm>
        </p:grpSpPr>
        <p:sp>
          <p:nvSpPr>
            <p:cNvPr name="Freeform 302" id="302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 l="0" t="0" r="0" b="0"/>
              </a:stretch>
            </a:blip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0445405" y="8474874"/>
            <a:ext cx="1110910" cy="387395"/>
            <a:chOff x="0" y="0"/>
            <a:chExt cx="1426464" cy="497434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05" id="305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1,500</a:t>
              </a:r>
            </a:p>
          </p:txBody>
        </p:sp>
      </p:grpSp>
      <p:grpSp>
        <p:nvGrpSpPr>
          <p:cNvPr name="Group 306" id="306"/>
          <p:cNvGrpSpPr/>
          <p:nvPr/>
        </p:nvGrpSpPr>
        <p:grpSpPr>
          <a:xfrm rot="0">
            <a:off x="11556315" y="8474874"/>
            <a:ext cx="2207578" cy="387395"/>
            <a:chOff x="0" y="0"/>
            <a:chExt cx="2834640" cy="497434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Arial"/>
                  <a:ea typeface="Arial"/>
                  <a:cs typeface="Arial"/>
                  <a:sym typeface="Arial"/>
                </a:rPr>
                <a:t>cases in the demo world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10103586" y="8949147"/>
            <a:ext cx="213637" cy="213637"/>
            <a:chOff x="0" y="0"/>
            <a:chExt cx="274320" cy="274320"/>
          </a:xfrm>
        </p:grpSpPr>
        <p:sp>
          <p:nvSpPr>
            <p:cNvPr name="Freeform 310" id="310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/>
              <a:stretch>
                <a:fillRect l="0" t="0" r="0" b="0"/>
              </a:stretch>
            </a:blip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10445405" y="8862268"/>
            <a:ext cx="1110910" cy="387395"/>
            <a:chOff x="0" y="0"/>
            <a:chExt cx="1426464" cy="497434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39</a:t>
              </a:r>
            </a:p>
          </p:txBody>
        </p:sp>
      </p:grpSp>
      <p:grpSp>
        <p:nvGrpSpPr>
          <p:cNvPr name="Group 314" id="314"/>
          <p:cNvGrpSpPr/>
          <p:nvPr/>
        </p:nvGrpSpPr>
        <p:grpSpPr>
          <a:xfrm rot="0">
            <a:off x="11556315" y="8862268"/>
            <a:ext cx="2207578" cy="387395"/>
            <a:chOff x="0" y="0"/>
            <a:chExt cx="2834640" cy="497434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16" id="316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Arial"/>
                  <a:ea typeface="Arial"/>
                  <a:cs typeface="Arial"/>
                  <a:sym typeface="Arial"/>
                </a:rPr>
                <a:t>open overlaps, 25 Probable</a:t>
              </a:r>
            </a:p>
          </p:txBody>
        </p:sp>
      </p:grpSp>
      <p:grpSp>
        <p:nvGrpSpPr>
          <p:cNvPr name="Group 317" id="317"/>
          <p:cNvGrpSpPr/>
          <p:nvPr/>
        </p:nvGrpSpPr>
        <p:grpSpPr>
          <a:xfrm rot="0">
            <a:off x="10103586" y="9336541"/>
            <a:ext cx="213637" cy="213637"/>
            <a:chOff x="0" y="0"/>
            <a:chExt cx="274320" cy="274320"/>
          </a:xfrm>
        </p:grpSpPr>
        <p:sp>
          <p:nvSpPr>
            <p:cNvPr name="Freeform 318" id="318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5"/>
              <a:stretch>
                <a:fillRect l="0" t="0" r="0" b="0"/>
              </a:stretch>
            </a:blipFill>
          </p:spPr>
        </p:sp>
      </p:grpSp>
      <p:grpSp>
        <p:nvGrpSpPr>
          <p:cNvPr name="Group 319" id="319"/>
          <p:cNvGrpSpPr/>
          <p:nvPr/>
        </p:nvGrpSpPr>
        <p:grpSpPr>
          <a:xfrm rot="0">
            <a:off x="10445405" y="9249663"/>
            <a:ext cx="1110910" cy="387395"/>
            <a:chOff x="0" y="0"/>
            <a:chExt cx="1426464" cy="497434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21" id="321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</a:p>
          </p:txBody>
        </p:sp>
      </p:grpSp>
      <p:grpSp>
        <p:nvGrpSpPr>
          <p:cNvPr name="Group 322" id="322"/>
          <p:cNvGrpSpPr/>
          <p:nvPr/>
        </p:nvGrpSpPr>
        <p:grpSpPr>
          <a:xfrm rot="0">
            <a:off x="11556315" y="9249663"/>
            <a:ext cx="2207578" cy="387395"/>
            <a:chOff x="0" y="0"/>
            <a:chExt cx="2834640" cy="497434"/>
          </a:xfrm>
        </p:grpSpPr>
        <p:sp>
          <p:nvSpPr>
            <p:cNvPr name="Freeform 323" id="323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24" id="324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Arial"/>
                  <a:ea typeface="Arial"/>
                  <a:cs typeface="Arial"/>
                  <a:sym typeface="Arial"/>
                </a:rPr>
                <a:t>uncertain matches to review</a:t>
              </a:r>
            </a:p>
          </p:txBody>
        </p:sp>
      </p:grpSp>
      <p:grpSp>
        <p:nvGrpSpPr>
          <p:cNvPr name="Group 325" id="325"/>
          <p:cNvGrpSpPr/>
          <p:nvPr/>
        </p:nvGrpSpPr>
        <p:grpSpPr>
          <a:xfrm rot="0">
            <a:off x="10103586" y="9723936"/>
            <a:ext cx="213637" cy="213637"/>
            <a:chOff x="0" y="0"/>
            <a:chExt cx="274320" cy="274320"/>
          </a:xfrm>
        </p:grpSpPr>
        <p:sp>
          <p:nvSpPr>
            <p:cNvPr name="Freeform 326" id="326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/>
              <a:stretch>
                <a:fillRect l="0" t="0" r="0" b="0"/>
              </a:stretch>
            </a:blip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10445405" y="9637057"/>
            <a:ext cx="1110910" cy="387395"/>
            <a:chOff x="0" y="0"/>
            <a:chExt cx="1426464" cy="497434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29" id="329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Arial"/>
                  <a:ea typeface="Arial"/>
                  <a:cs typeface="Arial"/>
                  <a:sym typeface="Arial"/>
                </a:rPr>
                <a:t>604</a:t>
              </a:r>
            </a:p>
          </p:txBody>
        </p:sp>
      </p:grpSp>
      <p:grpSp>
        <p:nvGrpSpPr>
          <p:cNvPr name="Group 330" id="330"/>
          <p:cNvGrpSpPr/>
          <p:nvPr/>
        </p:nvGrpSpPr>
        <p:grpSpPr>
          <a:xfrm rot="0">
            <a:off x="11556315" y="9637057"/>
            <a:ext cx="2207578" cy="387395"/>
            <a:chOff x="0" y="0"/>
            <a:chExt cx="2834640" cy="497434"/>
          </a:xfrm>
        </p:grpSpPr>
        <p:sp>
          <p:nvSpPr>
            <p:cNvPr name="Freeform 331" id="331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32" id="332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Arial"/>
                  <a:ea typeface="Arial"/>
                  <a:cs typeface="Arial"/>
                  <a:sym typeface="Arial"/>
                </a:rPr>
                <a:t>backend tests passing</a:t>
              </a:r>
            </a:p>
          </p:txBody>
        </p:sp>
      </p:grpSp>
      <p:sp>
        <p:nvSpPr>
          <p:cNvPr name="TextBox 333" id="333"/>
          <p:cNvSpPr txBox="true"/>
          <p:nvPr/>
        </p:nvSpPr>
        <p:spPr>
          <a:xfrm rot="0">
            <a:off x="14176923" y="7683884"/>
            <a:ext cx="3902428" cy="2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240" b="true">
                <a:solidFill>
                  <a:srgbClr val="0A2A66"/>
                </a:solidFill>
                <a:latin typeface="Arial"/>
                <a:ea typeface="Arial"/>
                <a:cs typeface="Arial"/>
                <a:sym typeface="Arial"/>
              </a:rPr>
              <a:t>Known Limitations</a:t>
            </a:r>
            <a:r>
              <a:rPr lang="en-US" sz="1240">
                <a:solidFill>
                  <a:srgbClr val="5A6478"/>
                </a:solidFill>
                <a:latin typeface="Arial"/>
                <a:ea typeface="Arial"/>
                <a:cs typeface="Arial"/>
                <a:sym typeface="Arial"/>
              </a:rPr>
              <a:t>  from the test split</a:t>
            </a:r>
          </a:p>
        </p:txBody>
      </p:sp>
      <p:grpSp>
        <p:nvGrpSpPr>
          <p:cNvPr name="Group 334" id="334"/>
          <p:cNvGrpSpPr/>
          <p:nvPr/>
        </p:nvGrpSpPr>
        <p:grpSpPr>
          <a:xfrm rot="0">
            <a:off x="14176923" y="8130207"/>
            <a:ext cx="199394" cy="199394"/>
            <a:chOff x="0" y="0"/>
            <a:chExt cx="256032" cy="256032"/>
          </a:xfrm>
        </p:grpSpPr>
        <p:sp>
          <p:nvSpPr>
            <p:cNvPr name="Freeform 335" id="335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336" id="336"/>
          <p:cNvSpPr txBox="true"/>
          <p:nvPr/>
        </p:nvSpPr>
        <p:spPr>
          <a:xfrm rot="0">
            <a:off x="14461772" y="8082672"/>
            <a:ext cx="3646064" cy="5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Arial"/>
                <a:ea typeface="Arial"/>
                <a:cs typeface="Arial"/>
                <a:sym typeface="Arial"/>
              </a:rPr>
              <a:t>Overlap recall is 0.72, not 0.90.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Misses start at names that never resolved.</a:t>
            </a:r>
          </a:p>
        </p:txBody>
      </p:sp>
      <p:grpSp>
        <p:nvGrpSpPr>
          <p:cNvPr name="Group 337" id="337"/>
          <p:cNvGrpSpPr/>
          <p:nvPr/>
        </p:nvGrpSpPr>
        <p:grpSpPr>
          <a:xfrm rot="0">
            <a:off x="14176923" y="8614450"/>
            <a:ext cx="199394" cy="199394"/>
            <a:chOff x="0" y="0"/>
            <a:chExt cx="256032" cy="256032"/>
          </a:xfrm>
        </p:grpSpPr>
        <p:sp>
          <p:nvSpPr>
            <p:cNvPr name="Freeform 338" id="338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339" id="339"/>
          <p:cNvSpPr txBox="true"/>
          <p:nvPr/>
        </p:nvSpPr>
        <p:spPr>
          <a:xfrm rot="0">
            <a:off x="14461772" y="8566915"/>
            <a:ext cx="3646064" cy="5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Arial"/>
                <a:ea typeface="Arial"/>
                <a:cs typeface="Arial"/>
                <a:sym typeface="Arial"/>
              </a:rPr>
              <a:t>Acronym-only names resolve at 0.52.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Names like VVIET have little else to match on.</a:t>
            </a:r>
          </a:p>
        </p:txBody>
      </p:sp>
      <p:grpSp>
        <p:nvGrpSpPr>
          <p:cNvPr name="Group 340" id="340"/>
          <p:cNvGrpSpPr/>
          <p:nvPr/>
        </p:nvGrpSpPr>
        <p:grpSpPr>
          <a:xfrm rot="0">
            <a:off x="14176923" y="9098693"/>
            <a:ext cx="199394" cy="199394"/>
            <a:chOff x="0" y="0"/>
            <a:chExt cx="256032" cy="256032"/>
          </a:xfrm>
        </p:grpSpPr>
        <p:sp>
          <p:nvSpPr>
            <p:cNvPr name="Freeform 341" id="341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342" id="342"/>
          <p:cNvSpPr txBox="true"/>
          <p:nvPr/>
        </p:nvSpPr>
        <p:spPr>
          <a:xfrm rot="0">
            <a:off x="14461772" y="9051158"/>
            <a:ext cx="3646064" cy="36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Arial"/>
                <a:ea typeface="Arial"/>
                <a:cs typeface="Arial"/>
                <a:sym typeface="Arial"/>
              </a:rPr>
              <a:t>Wrong state means no link.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The state blocks the search: 0 of 14 linked.</a:t>
            </a:r>
          </a:p>
        </p:txBody>
      </p:sp>
      <p:grpSp>
        <p:nvGrpSpPr>
          <p:cNvPr name="Group 343" id="343"/>
          <p:cNvGrpSpPr/>
          <p:nvPr/>
        </p:nvGrpSpPr>
        <p:grpSpPr>
          <a:xfrm rot="0">
            <a:off x="14176923" y="9582936"/>
            <a:ext cx="199394" cy="199394"/>
            <a:chOff x="0" y="0"/>
            <a:chExt cx="256032" cy="256032"/>
          </a:xfrm>
        </p:grpSpPr>
        <p:sp>
          <p:nvSpPr>
            <p:cNvPr name="Freeform 344" id="344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7"/>
              <a:stretch>
                <a:fillRect l="0" t="0" r="0" b="0"/>
              </a:stretch>
            </a:blipFill>
          </p:spPr>
        </p:sp>
      </p:grpSp>
      <p:sp>
        <p:nvSpPr>
          <p:cNvPr name="TextBox 345" id="345"/>
          <p:cNvSpPr txBox="true"/>
          <p:nvPr/>
        </p:nvSpPr>
        <p:spPr>
          <a:xfrm rot="0">
            <a:off x="14461772" y="9535401"/>
            <a:ext cx="3646064" cy="36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Arial"/>
                <a:ea typeface="Arial"/>
                <a:cs typeface="Arial"/>
                <a:sym typeface="Arial"/>
              </a:rPr>
              <a:t>The cases are fabricated.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Arial"/>
                <a:ea typeface="Arial"/>
                <a:cs typeface="Arial"/>
                <a:sym typeface="Arial"/>
              </a:rPr>
              <a:t>Institutions are real; cases are not.</a:t>
            </a:r>
          </a:p>
        </p:txBody>
      </p:sp>
      <p:grpSp>
        <p:nvGrpSpPr>
          <p:cNvPr name="Group 346" id="346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347" id="347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348" id="348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349" id="349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0" id="350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351" id="351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352" id="352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53" id="353"/>
          <p:cNvSpPr/>
          <p:nvPr/>
        </p:nvSpPr>
        <p:spPr>
          <a:xfrm flipH="false" flipV="false" rot="0">
            <a:off x="-2474617" y="-2601648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59"/>
                </a:lnTo>
                <a:lnTo>
                  <a:pt x="0" y="554225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alphaModFix amt="59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4" id="354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55" id="355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356" id="356"/>
          <p:cNvSpPr txBox="true"/>
          <p:nvPr/>
        </p:nvSpPr>
        <p:spPr>
          <a:xfrm rot="0">
            <a:off x="5204280" y="196469"/>
            <a:ext cx="7463311" cy="9499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6380"/>
              </a:lnSpc>
            </a:pPr>
            <a:r>
              <a:rPr lang="en-US" b="true" sz="5800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</a:rPr>
              <a:t>Technical Approach</a:t>
            </a:r>
          </a:p>
        </p:txBody>
      </p:sp>
      <p:sp>
        <p:nvSpPr>
          <p:cNvPr id="357" name="Layer bar Data"/>
          <p:cNvSpPr/>
          <p:nvPr/>
        </p:nvSpPr>
        <p:spPr>
          <a:xfrm>
            <a:off x="106662" y="2486841"/>
            <a:ext cx="50800" cy="2342480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Layer bar Data"/>
          <p:cNvSpPr/>
          <p:nvPr/>
        </p:nvSpPr>
        <p:spPr>
          <a:xfrm>
            <a:off x="106662" y="5107450"/>
            <a:ext cx="50800" cy="2171571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Layer bar Backend"/>
          <p:cNvSpPr/>
          <p:nvPr/>
        </p:nvSpPr>
        <p:spPr>
          <a:xfrm>
            <a:off x="2812725" y="2486841"/>
            <a:ext cx="50800" cy="1943691"/>
          </a:xfrm>
          <a:prstGeom prst="rect">
            <a:avLst/>
          </a:prstGeom>
          <a:solidFill>
            <a:srgbClr val="2F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Layer bar Matching engine"/>
          <p:cNvSpPr/>
          <p:nvPr/>
        </p:nvSpPr>
        <p:spPr>
          <a:xfrm>
            <a:off x="2812725" y="4737147"/>
            <a:ext cx="50800" cy="254187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Layer bar Matching engine"/>
          <p:cNvSpPr/>
          <p:nvPr/>
        </p:nvSpPr>
        <p:spPr>
          <a:xfrm>
            <a:off x="5832122" y="2486841"/>
            <a:ext cx="50800" cy="148793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Layer bar Matching engine"/>
          <p:cNvSpPr/>
          <p:nvPr/>
        </p:nvSpPr>
        <p:spPr>
          <a:xfrm>
            <a:off x="5832122" y="4224419"/>
            <a:ext cx="50800" cy="174429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Layer bar Matching engine"/>
          <p:cNvSpPr/>
          <p:nvPr/>
        </p:nvSpPr>
        <p:spPr>
          <a:xfrm>
            <a:off x="5813528" y="6218360"/>
            <a:ext cx="50800" cy="11789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Layer bar Matching engine"/>
          <p:cNvSpPr/>
          <p:nvPr/>
        </p:nvSpPr>
        <p:spPr>
          <a:xfrm>
            <a:off x="9876974" y="2486841"/>
            <a:ext cx="50800" cy="2741269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Layer bar Matching engine"/>
          <p:cNvSpPr/>
          <p:nvPr/>
        </p:nvSpPr>
        <p:spPr>
          <a:xfrm>
            <a:off x="9876974" y="5506238"/>
            <a:ext cx="50800" cy="1772783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Layer bar Backend"/>
          <p:cNvSpPr/>
          <p:nvPr/>
        </p:nvSpPr>
        <p:spPr>
          <a:xfrm>
            <a:off x="12753947" y="2486841"/>
            <a:ext cx="50800" cy="2200056"/>
          </a:xfrm>
          <a:prstGeom prst="rect">
            <a:avLst/>
          </a:prstGeom>
          <a:solidFill>
            <a:srgbClr val="2F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Layer bar Backend"/>
          <p:cNvSpPr/>
          <p:nvPr/>
        </p:nvSpPr>
        <p:spPr>
          <a:xfrm>
            <a:off x="12753947" y="4965026"/>
            <a:ext cx="50800" cy="2313995"/>
          </a:xfrm>
          <a:prstGeom prst="rect">
            <a:avLst/>
          </a:prstGeom>
          <a:solidFill>
            <a:srgbClr val="2F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Layer bar Data"/>
          <p:cNvSpPr/>
          <p:nvPr/>
        </p:nvSpPr>
        <p:spPr>
          <a:xfrm>
            <a:off x="15630919" y="2486841"/>
            <a:ext cx="50800" cy="1915207"/>
          </a:xfrm>
          <a:prstGeom prst="rect">
            <a:avLst/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Layer bar Frontend"/>
          <p:cNvSpPr/>
          <p:nvPr/>
        </p:nvSpPr>
        <p:spPr>
          <a:xfrm>
            <a:off x="15630919" y="4680177"/>
            <a:ext cx="50800" cy="271713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228600" y="76708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C2434"/>
                </a:solidFill>
                <a:latin typeface="Arial"/>
              </a:rPr>
              <a:t>Tech Stack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422400" y="76708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 i="0">
                <a:solidFill>
                  <a:srgbClr val="5B6577"/>
                </a:solidFill>
                <a:latin typeface="Arial"/>
              </a:rPr>
              <a:t>by layer; the bar on each step shows its layer</a:t>
            </a:r>
          </a:p>
        </p:txBody>
      </p:sp>
      <p:sp>
        <p:nvSpPr>
          <p:cNvPr id="372" name="Lane Frontend"/>
          <p:cNvSpPr/>
          <p:nvPr/>
        </p:nvSpPr>
        <p:spPr>
          <a:xfrm>
            <a:off x="177800" y="8013700"/>
            <a:ext cx="9461500" cy="292100"/>
          </a:xfrm>
          <a:prstGeom prst="roundRect">
            <a:avLst>
              <a:gd name="adj" fmla="val 2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Lane label Frontend"/>
          <p:cNvSpPr/>
          <p:nvPr/>
        </p:nvSpPr>
        <p:spPr>
          <a:xfrm>
            <a:off x="177800" y="8013700"/>
            <a:ext cx="1371600" cy="2921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pic>
        <p:nvPicPr>
          <p:cNvPr id="374" name="Picture 373" descr="react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701800" y="8083550"/>
            <a:ext cx="152400" cy="152400"/>
          </a:xfrm>
          <a:prstGeom prst="rect">
            <a:avLst/>
          </a:prstGeom>
        </p:spPr>
      </p:pic>
      <p:sp>
        <p:nvSpPr>
          <p:cNvPr id="375" name="TextBox 374"/>
          <p:cNvSpPr txBox="1"/>
          <p:nvPr/>
        </p:nvSpPr>
        <p:spPr>
          <a:xfrm>
            <a:off x="1917700" y="8013700"/>
            <a:ext cx="646785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React 19</a:t>
            </a:r>
          </a:p>
        </p:txBody>
      </p:sp>
      <p:pic>
        <p:nvPicPr>
          <p:cNvPr id="376" name="Picture 375" descr="typescript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716885" y="8083550"/>
            <a:ext cx="152400" cy="152400"/>
          </a:xfrm>
          <a:prstGeom prst="rect">
            <a:avLst/>
          </a:prstGeom>
        </p:spPr>
      </p:pic>
      <p:sp>
        <p:nvSpPr>
          <p:cNvPr id="377" name="TextBox 376"/>
          <p:cNvSpPr txBox="1"/>
          <p:nvPr/>
        </p:nvSpPr>
        <p:spPr>
          <a:xfrm>
            <a:off x="2932785" y="8013700"/>
            <a:ext cx="763289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TypeScript</a:t>
            </a:r>
          </a:p>
        </p:txBody>
      </p:sp>
      <p:pic>
        <p:nvPicPr>
          <p:cNvPr id="378" name="Picture 377" descr="antdesign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848474" y="8083550"/>
            <a:ext cx="152400" cy="152400"/>
          </a:xfrm>
          <a:prstGeom prst="rect">
            <a:avLst/>
          </a:prstGeom>
        </p:spPr>
      </p:pic>
      <p:sp>
        <p:nvSpPr>
          <p:cNvPr id="379" name="TextBox 378"/>
          <p:cNvSpPr txBox="1"/>
          <p:nvPr/>
        </p:nvSpPr>
        <p:spPr>
          <a:xfrm>
            <a:off x="4064374" y="8013700"/>
            <a:ext cx="779068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Ant Design</a:t>
            </a:r>
          </a:p>
        </p:txBody>
      </p:sp>
      <p:pic>
        <p:nvPicPr>
          <p:cNvPr id="380" name="Picture 379" descr="reactquery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995843" y="8083550"/>
            <a:ext cx="152400" cy="152400"/>
          </a:xfrm>
          <a:prstGeom prst="rect">
            <a:avLst/>
          </a:prstGeom>
        </p:spPr>
      </p:pic>
      <p:sp>
        <p:nvSpPr>
          <p:cNvPr id="381" name="TextBox 380"/>
          <p:cNvSpPr txBox="1"/>
          <p:nvPr/>
        </p:nvSpPr>
        <p:spPr>
          <a:xfrm>
            <a:off x="5211743" y="8013700"/>
            <a:ext cx="1128712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TanStack Query</a:t>
            </a:r>
          </a:p>
        </p:txBody>
      </p:sp>
      <p:pic>
        <p:nvPicPr>
          <p:cNvPr id="382" name="Picture 381" descr="vit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492855" y="8083550"/>
            <a:ext cx="152400" cy="152400"/>
          </a:xfrm>
          <a:prstGeom prst="rect">
            <a:avLst/>
          </a:prstGeom>
        </p:spPr>
      </p:pic>
      <p:sp>
        <p:nvSpPr>
          <p:cNvPr id="383" name="TextBox 382"/>
          <p:cNvSpPr txBox="1"/>
          <p:nvPr/>
        </p:nvSpPr>
        <p:spPr>
          <a:xfrm>
            <a:off x="6708755" y="8013700"/>
            <a:ext cx="306787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Vite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7167943" y="8013700"/>
            <a:ext cx="648208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Recharts</a:t>
            </a:r>
          </a:p>
        </p:txBody>
      </p:sp>
      <p:sp>
        <p:nvSpPr>
          <p:cNvPr id="385" name="Lane Backend"/>
          <p:cNvSpPr/>
          <p:nvPr/>
        </p:nvSpPr>
        <p:spPr>
          <a:xfrm>
            <a:off x="177800" y="8356600"/>
            <a:ext cx="9461500" cy="292100"/>
          </a:xfrm>
          <a:prstGeom prst="roundRect">
            <a:avLst>
              <a:gd name="adj" fmla="val 2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Lane label Backend"/>
          <p:cNvSpPr/>
          <p:nvPr/>
        </p:nvSpPr>
        <p:spPr>
          <a:xfrm>
            <a:off x="177800" y="8356600"/>
            <a:ext cx="1371600" cy="292100"/>
          </a:xfrm>
          <a:prstGeom prst="roundRect">
            <a:avLst>
              <a:gd name="adj" fmla="val 20000"/>
            </a:avLst>
          </a:prstGeom>
          <a:solidFill>
            <a:srgbClr val="2F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pic>
        <p:nvPicPr>
          <p:cNvPr id="387" name="Picture 386" descr="python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701800" y="8426450"/>
            <a:ext cx="152400" cy="152400"/>
          </a:xfrm>
          <a:prstGeom prst="rect">
            <a:avLst/>
          </a:prstGeom>
        </p:spPr>
      </p:pic>
      <p:sp>
        <p:nvSpPr>
          <p:cNvPr id="388" name="TextBox 387"/>
          <p:cNvSpPr txBox="1"/>
          <p:nvPr/>
        </p:nvSpPr>
        <p:spPr>
          <a:xfrm>
            <a:off x="1917700" y="8356600"/>
            <a:ext cx="844321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Python 3.11</a:t>
            </a:r>
          </a:p>
        </p:txBody>
      </p:sp>
      <p:pic>
        <p:nvPicPr>
          <p:cNvPr id="389" name="Picture 388" descr="fastapi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914421" y="8426450"/>
            <a:ext cx="152400" cy="152400"/>
          </a:xfrm>
          <a:prstGeom prst="rect">
            <a:avLst/>
          </a:prstGeom>
        </p:spPr>
      </p:pic>
      <p:sp>
        <p:nvSpPr>
          <p:cNvPr id="390" name="TextBox 389"/>
          <p:cNvSpPr txBox="1"/>
          <p:nvPr/>
        </p:nvSpPr>
        <p:spPr>
          <a:xfrm>
            <a:off x="3130321" y="8356600"/>
            <a:ext cx="581355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FastAPI</a:t>
            </a:r>
          </a:p>
        </p:txBody>
      </p:sp>
      <p:pic>
        <p:nvPicPr>
          <p:cNvPr id="391" name="Picture 390" descr="pydantic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864076" y="8426450"/>
            <a:ext cx="152400" cy="152400"/>
          </a:xfrm>
          <a:prstGeom prst="rect">
            <a:avLst/>
          </a:prstGeom>
        </p:spPr>
      </p:pic>
      <p:sp>
        <p:nvSpPr>
          <p:cNvPr id="392" name="TextBox 391"/>
          <p:cNvSpPr txBox="1"/>
          <p:nvPr/>
        </p:nvSpPr>
        <p:spPr>
          <a:xfrm>
            <a:off x="4079976" y="8356600"/>
            <a:ext cx="622604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Pydantic</a:t>
            </a:r>
          </a:p>
        </p:txBody>
      </p:sp>
      <p:pic>
        <p:nvPicPr>
          <p:cNvPr id="393" name="Picture 392" descr="sqlalchemy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854981" y="8426450"/>
            <a:ext cx="152400" cy="152400"/>
          </a:xfrm>
          <a:prstGeom prst="rect">
            <a:avLst/>
          </a:prstGeom>
        </p:spPr>
      </p:pic>
      <p:sp>
        <p:nvSpPr>
          <p:cNvPr id="394" name="TextBox 393"/>
          <p:cNvSpPr txBox="1"/>
          <p:nvPr/>
        </p:nvSpPr>
        <p:spPr>
          <a:xfrm>
            <a:off x="5070881" y="8356600"/>
            <a:ext cx="753465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SQLModel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976747" y="8356600"/>
            <a:ext cx="1662334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REST + JSON envelope</a:t>
            </a:r>
          </a:p>
        </p:txBody>
      </p:sp>
      <p:sp>
        <p:nvSpPr>
          <p:cNvPr id="396" name="Lane Matching engine"/>
          <p:cNvSpPr/>
          <p:nvPr/>
        </p:nvSpPr>
        <p:spPr>
          <a:xfrm>
            <a:off x="177800" y="8699500"/>
            <a:ext cx="9461500" cy="292100"/>
          </a:xfrm>
          <a:prstGeom prst="roundRect">
            <a:avLst>
              <a:gd name="adj" fmla="val 2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Lane label Matching engine"/>
          <p:cNvSpPr/>
          <p:nvPr/>
        </p:nvSpPr>
        <p:spPr>
          <a:xfrm>
            <a:off x="177800" y="8699500"/>
            <a:ext cx="1371600" cy="2921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Matching engine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701800" y="8699500"/>
            <a:ext cx="763422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RapidFuzz</a:t>
            </a:r>
          </a:p>
        </p:txBody>
      </p:sp>
      <p:pic>
        <p:nvPicPr>
          <p:cNvPr id="399" name="Picture 398" descr="scikitlearn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617622" y="8769350"/>
            <a:ext cx="152400" cy="152400"/>
          </a:xfrm>
          <a:prstGeom prst="rect">
            <a:avLst/>
          </a:prstGeom>
        </p:spPr>
      </p:pic>
      <p:sp>
        <p:nvSpPr>
          <p:cNvPr id="400" name="TextBox 399"/>
          <p:cNvSpPr txBox="1"/>
          <p:nvPr/>
        </p:nvSpPr>
        <p:spPr>
          <a:xfrm>
            <a:off x="2833522" y="8699500"/>
            <a:ext cx="763422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scikit-learn</a:t>
            </a:r>
          </a:p>
        </p:txBody>
      </p:sp>
      <p:pic>
        <p:nvPicPr>
          <p:cNvPr id="401" name="Picture 400" descr="huggingfac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749344" y="8769350"/>
            <a:ext cx="152400" cy="152400"/>
          </a:xfrm>
          <a:prstGeom prst="rect">
            <a:avLst/>
          </a:prstGeom>
        </p:spPr>
      </p:pic>
      <p:sp>
        <p:nvSpPr>
          <p:cNvPr id="402" name="TextBox 401"/>
          <p:cNvSpPr txBox="1"/>
          <p:nvPr/>
        </p:nvSpPr>
        <p:spPr>
          <a:xfrm>
            <a:off x="3965244" y="8699500"/>
            <a:ext cx="1615351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Sentence-Transformers</a:t>
            </a:r>
          </a:p>
        </p:txBody>
      </p:sp>
      <p:pic>
        <p:nvPicPr>
          <p:cNvPr id="403" name="Picture 402" descr="numpy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732995" y="8769350"/>
            <a:ext cx="152400" cy="152400"/>
          </a:xfrm>
          <a:prstGeom prst="rect">
            <a:avLst/>
          </a:prstGeom>
        </p:spPr>
      </p:pic>
      <p:sp>
        <p:nvSpPr>
          <p:cNvPr id="404" name="TextBox 403"/>
          <p:cNvSpPr txBox="1"/>
          <p:nvPr/>
        </p:nvSpPr>
        <p:spPr>
          <a:xfrm>
            <a:off x="5948895" y="8699500"/>
            <a:ext cx="540105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NumPy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6641401" y="8699500"/>
            <a:ext cx="1069238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TF-IDF fallback</a:t>
            </a:r>
          </a:p>
        </p:txBody>
      </p:sp>
      <p:sp>
        <p:nvSpPr>
          <p:cNvPr id="406" name="Lane Data"/>
          <p:cNvSpPr/>
          <p:nvPr/>
        </p:nvSpPr>
        <p:spPr>
          <a:xfrm>
            <a:off x="177800" y="9042400"/>
            <a:ext cx="9461500" cy="292100"/>
          </a:xfrm>
          <a:prstGeom prst="roundRect">
            <a:avLst>
              <a:gd name="adj" fmla="val 2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Lane label Data"/>
          <p:cNvSpPr/>
          <p:nvPr/>
        </p:nvSpPr>
        <p:spPr>
          <a:xfrm>
            <a:off x="177800" y="9042400"/>
            <a:ext cx="1371600" cy="292100"/>
          </a:xfrm>
          <a:prstGeom prst="roundRect">
            <a:avLst>
              <a:gd name="adj" fmla="val 20000"/>
            </a:avLst>
          </a:prstGeom>
          <a:solidFill>
            <a:srgbClr val="0E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pic>
        <p:nvPicPr>
          <p:cNvPr id="408" name="Picture 407" descr="sqlite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01800" y="9112250"/>
            <a:ext cx="152400" cy="152400"/>
          </a:xfrm>
          <a:prstGeom prst="rect">
            <a:avLst/>
          </a:prstGeom>
        </p:spPr>
      </p:pic>
      <p:sp>
        <p:nvSpPr>
          <p:cNvPr id="409" name="TextBox 408"/>
          <p:cNvSpPr txBox="1"/>
          <p:nvPr/>
        </p:nvSpPr>
        <p:spPr>
          <a:xfrm>
            <a:off x="1917700" y="9042400"/>
            <a:ext cx="505968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SQLite</a:t>
            </a:r>
          </a:p>
        </p:txBody>
      </p:sp>
      <p:pic>
        <p:nvPicPr>
          <p:cNvPr id="410" name="Picture 409" descr="json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576068" y="9112250"/>
            <a:ext cx="152400" cy="152400"/>
          </a:xfrm>
          <a:prstGeom prst="rect">
            <a:avLst/>
          </a:prstGeom>
        </p:spPr>
      </p:pic>
      <p:sp>
        <p:nvSpPr>
          <p:cNvPr id="411" name="TextBox 410"/>
          <p:cNvSpPr txBox="1"/>
          <p:nvPr/>
        </p:nvSpPr>
        <p:spPr>
          <a:xfrm>
            <a:off x="2791968" y="9042400"/>
            <a:ext cx="1120444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JSON seed files</a:t>
            </a:r>
          </a:p>
        </p:txBody>
      </p:sp>
      <p:pic>
        <p:nvPicPr>
          <p:cNvPr id="412" name="Picture 411" descr="postgresql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064812" y="9112250"/>
            <a:ext cx="152400" cy="152400"/>
          </a:xfrm>
          <a:prstGeom prst="rect">
            <a:avLst/>
          </a:prstGeom>
        </p:spPr>
      </p:pic>
      <p:sp>
        <p:nvSpPr>
          <p:cNvPr id="413" name="TextBox 412"/>
          <p:cNvSpPr txBox="1"/>
          <p:nvPr/>
        </p:nvSpPr>
        <p:spPr>
          <a:xfrm>
            <a:off x="4280712" y="9042400"/>
            <a:ext cx="2768917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PostgreSQL + pgvector (production path)</a:t>
            </a:r>
          </a:p>
        </p:txBody>
      </p:sp>
      <p:sp>
        <p:nvSpPr>
          <p:cNvPr id="414" name="Lane Quality"/>
          <p:cNvSpPr/>
          <p:nvPr/>
        </p:nvSpPr>
        <p:spPr>
          <a:xfrm>
            <a:off x="177800" y="9385300"/>
            <a:ext cx="9461500" cy="292100"/>
          </a:xfrm>
          <a:prstGeom prst="roundRect">
            <a:avLst>
              <a:gd name="adj" fmla="val 20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Lane label Quality"/>
          <p:cNvSpPr/>
          <p:nvPr/>
        </p:nvSpPr>
        <p:spPr>
          <a:xfrm>
            <a:off x="177800" y="9385300"/>
            <a:ext cx="1371600" cy="292100"/>
          </a:xfrm>
          <a:prstGeom prst="roundRect">
            <a:avLst>
              <a:gd name="adj" fmla="val 20000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pic>
        <p:nvPicPr>
          <p:cNvPr id="416" name="Picture 415" descr="pytest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701800" y="9455150"/>
            <a:ext cx="152400" cy="152400"/>
          </a:xfrm>
          <a:prstGeom prst="rect">
            <a:avLst/>
          </a:prstGeom>
        </p:spPr>
      </p:pic>
      <p:sp>
        <p:nvSpPr>
          <p:cNvPr id="417" name="TextBox 416"/>
          <p:cNvSpPr txBox="1"/>
          <p:nvPr/>
        </p:nvSpPr>
        <p:spPr>
          <a:xfrm>
            <a:off x="1917700" y="9385300"/>
            <a:ext cx="449072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pytest</a:t>
            </a:r>
          </a:p>
        </p:txBody>
      </p:sp>
      <p:pic>
        <p:nvPicPr>
          <p:cNvPr id="418" name="Picture 417" descr="vitest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519172" y="9455150"/>
            <a:ext cx="152400" cy="152400"/>
          </a:xfrm>
          <a:prstGeom prst="rect">
            <a:avLst/>
          </a:prstGeom>
        </p:spPr>
      </p:pic>
      <p:sp>
        <p:nvSpPr>
          <p:cNvPr id="419" name="TextBox 418"/>
          <p:cNvSpPr txBox="1"/>
          <p:nvPr/>
        </p:nvSpPr>
        <p:spPr>
          <a:xfrm>
            <a:off x="2735072" y="9385300"/>
            <a:ext cx="423424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Vitest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3310896" y="9385300"/>
            <a:ext cx="864412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mypy --strict</a:t>
            </a:r>
          </a:p>
        </p:txBody>
      </p:sp>
      <p:pic>
        <p:nvPicPr>
          <p:cNvPr id="421" name="Picture 420" descr="typescript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327709" y="9455150"/>
            <a:ext cx="152400" cy="152400"/>
          </a:xfrm>
          <a:prstGeom prst="rect">
            <a:avLst/>
          </a:prstGeom>
        </p:spPr>
      </p:pic>
      <p:sp>
        <p:nvSpPr>
          <p:cNvPr id="422" name="TextBox 421"/>
          <p:cNvSpPr txBox="1"/>
          <p:nvPr/>
        </p:nvSpPr>
        <p:spPr>
          <a:xfrm>
            <a:off x="4543609" y="9385300"/>
            <a:ext cx="599846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C2434"/>
                </a:solidFill>
                <a:latin typeface="Arial"/>
              </a:rPr>
              <a:t>tsc strict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087" y="2425256"/>
            <a:ext cx="20574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Analysis of the feasibility of the idea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measured on the running prototype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480" y="5149596"/>
            <a:ext cx="20574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challenges and risks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where each stage could break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480" y="6932676"/>
            <a:ext cx="2057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Strategies for overcoming these challenges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fix for that stage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04339" y="4988505"/>
            <a:ext cx="17474759" cy="14335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04339" y="6771585"/>
            <a:ext cx="17474759" cy="14335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951990" y="4381484"/>
            <a:ext cx="14958056" cy="76232"/>
          </a:xfrm>
          <a:prstGeom prst="line">
            <a:avLst/>
          </a:prstGeom>
          <a:ln cap="rnd" w="3810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2715768" y="1498854"/>
            <a:ext cx="1306830" cy="762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0.1 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1576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Intake 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15768" y="2653284"/>
            <a:ext cx="239109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Median of 10 intakes into a 1,500-case database. Laptop, offline mode.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98294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2666905" y="4096417"/>
            <a:ext cx="646366" cy="646366"/>
            <a:chOff x="0" y="0"/>
            <a:chExt cx="861822" cy="861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825496" y="4255008"/>
            <a:ext cx="329184" cy="329184"/>
            <a:chOff x="0" y="0"/>
            <a:chExt cx="438912" cy="43891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40156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INTAKE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98055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848737" y="5256276"/>
            <a:ext cx="301752" cy="301752"/>
            <a:chOff x="0" y="0"/>
            <a:chExt cx="402336" cy="40233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26021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Names arrive misspelt or shortened, often with no state or ID.</a:t>
            </a:r>
          </a:p>
        </p:txBody>
      </p:sp>
      <p:sp>
        <p:nvSpPr>
          <p:cNvPr name="AutoShape 29" id="29"/>
          <p:cNvSpPr/>
          <p:nvPr/>
        </p:nvSpPr>
        <p:spPr>
          <a:xfrm>
            <a:off x="297817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2839212" y="7016043"/>
            <a:ext cx="301752" cy="301752"/>
            <a:chOff x="0" y="0"/>
            <a:chExt cx="402336" cy="40233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25069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short forms, correct spelling against the registry, and send doubtful names to a review queue.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41798" y="1498854"/>
            <a:ext cx="2052935" cy="762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3,751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4179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41798" y="2653284"/>
            <a:ext cx="231695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AICTE-approved institutions in six states, with Permanent IDs and trusts.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550897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5192935" y="4096417"/>
            <a:ext cx="646366" cy="646366"/>
            <a:chOff x="0" y="0"/>
            <a:chExt cx="861822" cy="8618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351526" y="4255008"/>
            <a:ext cx="329184" cy="329184"/>
            <a:chOff x="0" y="0"/>
            <a:chExt cx="438912" cy="43891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592759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REGISTRY</a:t>
            </a:r>
          </a:p>
        </p:txBody>
      </p:sp>
      <p:sp>
        <p:nvSpPr>
          <p:cNvPr name="AutoShape 42" id="42"/>
          <p:cNvSpPr/>
          <p:nvPr/>
        </p:nvSpPr>
        <p:spPr>
          <a:xfrm>
            <a:off x="550658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5374767" y="5256276"/>
            <a:ext cx="301752" cy="301752"/>
            <a:chOff x="0" y="0"/>
            <a:chExt cx="402336" cy="402336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5786247" y="5218176"/>
            <a:ext cx="181279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public list has no state column; states came from its row blocks.</a:t>
            </a:r>
          </a:p>
        </p:txBody>
      </p:sp>
      <p:sp>
        <p:nvSpPr>
          <p:cNvPr name="AutoShape 46" id="46"/>
          <p:cNvSpPr/>
          <p:nvPr/>
        </p:nvSpPr>
        <p:spPr>
          <a:xfrm>
            <a:off x="550420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5365242" y="7016043"/>
            <a:ext cx="301752" cy="301752"/>
            <a:chOff x="0" y="0"/>
            <a:chExt cx="402336" cy="402336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776722" y="6977943"/>
            <a:ext cx="194224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Get the full master list from AICTE and sync it nightly by Permanent ID, then cover every state.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67828" y="1498854"/>
            <a:ext cx="1843385" cy="762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0.998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6782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 precision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6782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655 of 656 automatic links were right on the test split. Recall is 0.852.</a:t>
            </a:r>
          </a:p>
        </p:txBody>
      </p:sp>
      <p:sp>
        <p:nvSpPr>
          <p:cNvPr name="AutoShape 53" id="53"/>
          <p:cNvSpPr/>
          <p:nvPr/>
        </p:nvSpPr>
        <p:spPr>
          <a:xfrm>
            <a:off x="803500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7718965" y="4096417"/>
            <a:ext cx="646366" cy="646366"/>
            <a:chOff x="0" y="0"/>
            <a:chExt cx="861822" cy="86182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877556" y="4255008"/>
            <a:ext cx="329184" cy="329184"/>
            <a:chOff x="0" y="0"/>
            <a:chExt cx="438912" cy="438912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845362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RESOLUTION</a:t>
            </a:r>
          </a:p>
        </p:txBody>
      </p:sp>
      <p:sp>
        <p:nvSpPr>
          <p:cNvPr name="AutoShape 59" id="59"/>
          <p:cNvSpPr/>
          <p:nvPr/>
        </p:nvSpPr>
        <p:spPr>
          <a:xfrm>
            <a:off x="803261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7900797" y="5256276"/>
            <a:ext cx="301752" cy="301752"/>
            <a:chOff x="0" y="0"/>
            <a:chExt cx="402336" cy="402336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831227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Acronyms resolve at 0.52; a wrong state blocks the link.</a:t>
            </a:r>
          </a:p>
        </p:txBody>
      </p:sp>
      <p:sp>
        <p:nvSpPr>
          <p:cNvPr name="AutoShape 63" id="63"/>
          <p:cNvSpPr/>
          <p:nvPr/>
        </p:nvSpPr>
        <p:spPr>
          <a:xfrm>
            <a:off x="803023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7891272" y="7016043"/>
            <a:ext cx="301752" cy="301752"/>
            <a:chOff x="0" y="0"/>
            <a:chExt cx="402336" cy="402336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830275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Review choices become aliases. Next: look beyond the stated state and keep a register of acronyms.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93858" y="1498854"/>
            <a:ext cx="1796891" cy="762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23 / 32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9385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Pairs found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9385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Planted pairs found, test split. With the right institution given: 32 of 32.</a:t>
            </a:r>
          </a:p>
        </p:txBody>
      </p:sp>
      <p:sp>
        <p:nvSpPr>
          <p:cNvPr name="AutoShape 70" id="70"/>
          <p:cNvSpPr/>
          <p:nvPr/>
        </p:nvSpPr>
        <p:spPr>
          <a:xfrm>
            <a:off x="1056103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0244995" y="4096417"/>
            <a:ext cx="646366" cy="646366"/>
            <a:chOff x="0" y="0"/>
            <a:chExt cx="861822" cy="86182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403586" y="4255008"/>
            <a:ext cx="329184" cy="329184"/>
            <a:chOff x="0" y="0"/>
            <a:chExt cx="438912" cy="438912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097965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OVERLAP</a:t>
            </a:r>
          </a:p>
        </p:txBody>
      </p:sp>
      <p:sp>
        <p:nvSpPr>
          <p:cNvPr name="AutoShape 76" id="76"/>
          <p:cNvSpPr/>
          <p:nvPr/>
        </p:nvSpPr>
        <p:spPr>
          <a:xfrm>
            <a:off x="1055864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0426827" y="5256276"/>
            <a:ext cx="301752" cy="301752"/>
            <a:chOff x="0" y="0"/>
            <a:chExt cx="402336" cy="402336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0838307" y="5218176"/>
            <a:ext cx="1954149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Misses start at names that never resolved, not at scoring.</a:t>
            </a:r>
          </a:p>
        </p:txBody>
      </p:sp>
      <p:sp>
        <p:nvSpPr>
          <p:cNvPr name="AutoShape 80" id="80"/>
          <p:cNvSpPr/>
          <p:nvPr/>
        </p:nvSpPr>
        <p:spPr>
          <a:xfrm>
            <a:off x="1055626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1" id="81"/>
          <p:cNvGrpSpPr/>
          <p:nvPr/>
        </p:nvGrpSpPr>
        <p:grpSpPr>
          <a:xfrm rot="0">
            <a:off x="10417302" y="7016043"/>
            <a:ext cx="301752" cy="301752"/>
            <a:chOff x="0" y="0"/>
            <a:chExt cx="402336" cy="402336"/>
          </a:xfrm>
        </p:grpSpPr>
        <p:sp>
          <p:nvSpPr>
            <p:cNvPr name="Freeform 82" id="82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082878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Fix resolution first. Probable precision is already 15 of 15, so hold the thresholds and re-run the eval after each change.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819888" y="1498854"/>
            <a:ext cx="653415" cy="762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39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81988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 overlaps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81988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Demo data: 25 Probable, 14 Possible. Each waits for a head.</a:t>
            </a:r>
          </a:p>
        </p:txBody>
      </p:sp>
      <p:sp>
        <p:nvSpPr>
          <p:cNvPr name="AutoShape 87" id="87"/>
          <p:cNvSpPr/>
          <p:nvPr/>
        </p:nvSpPr>
        <p:spPr>
          <a:xfrm>
            <a:off x="1308706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8" id="88"/>
          <p:cNvGrpSpPr/>
          <p:nvPr/>
        </p:nvGrpSpPr>
        <p:grpSpPr>
          <a:xfrm rot="0">
            <a:off x="12771025" y="4096417"/>
            <a:ext cx="646366" cy="646366"/>
            <a:chOff x="0" y="0"/>
            <a:chExt cx="861822" cy="86182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929616" y="4255008"/>
            <a:ext cx="329184" cy="329184"/>
            <a:chOff x="0" y="0"/>
            <a:chExt cx="438912" cy="438912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350568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</a:t>
            </a:r>
          </a:p>
        </p:txBody>
      </p:sp>
      <p:sp>
        <p:nvSpPr>
          <p:cNvPr name="AutoShape 93" id="93"/>
          <p:cNvSpPr/>
          <p:nvPr/>
        </p:nvSpPr>
        <p:spPr>
          <a:xfrm>
            <a:off x="1308467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12952857" y="5256276"/>
            <a:ext cx="301752" cy="301752"/>
            <a:chOff x="0" y="0"/>
            <a:chExt cx="402336" cy="402336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6" id="96"/>
          <p:cNvSpPr txBox="true"/>
          <p:nvPr/>
        </p:nvSpPr>
        <p:spPr>
          <a:xfrm rot="0">
            <a:off x="1336433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Flags are noisy: 23 of 70 flagged pairs were planted overlaps.</a:t>
            </a:r>
          </a:p>
        </p:txBody>
      </p:sp>
      <p:sp>
        <p:nvSpPr>
          <p:cNvPr name="AutoShape 97" id="97"/>
          <p:cNvSpPr/>
          <p:nvPr/>
        </p:nvSpPr>
        <p:spPr>
          <a:xfrm>
            <a:off x="1308229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8" id="98"/>
          <p:cNvGrpSpPr/>
          <p:nvPr/>
        </p:nvGrpSpPr>
        <p:grpSpPr>
          <a:xfrm rot="0">
            <a:off x="12943332" y="7016043"/>
            <a:ext cx="301752" cy="301752"/>
            <a:chOff x="0" y="0"/>
            <a:chExt cx="402336" cy="402336"/>
          </a:xfrm>
        </p:grpSpPr>
        <p:sp>
          <p:nvSpPr>
            <p:cNvPr name="Freeform 99" id="99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3354812" y="6977943"/>
            <a:ext cx="194224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Tier and deduplicate alerts. A head confirms or dismisses, and a dismissed pair stays out.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5345918" y="1498854"/>
            <a:ext cx="980122" cy="762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604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534591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tests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34591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Passing on main, plus 369 frontend tests. It runs in a browser; nothing to install.</a:t>
            </a:r>
          </a:p>
        </p:txBody>
      </p:sp>
      <p:sp>
        <p:nvSpPr>
          <p:cNvPr name="AutoShape 104" id="104"/>
          <p:cNvSpPr/>
          <p:nvPr/>
        </p:nvSpPr>
        <p:spPr>
          <a:xfrm>
            <a:off x="1561309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15297055" y="4096417"/>
            <a:ext cx="646366" cy="646366"/>
            <a:chOff x="0" y="0"/>
            <a:chExt cx="861822" cy="86182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455646" y="4255008"/>
            <a:ext cx="329184" cy="329184"/>
            <a:chOff x="0" y="0"/>
            <a:chExt cx="438912" cy="438912"/>
          </a:xfrm>
        </p:grpSpPr>
        <p:sp>
          <p:nvSpPr>
            <p:cNvPr name="Freeform 108" id="108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603171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OFFICER</a:t>
            </a:r>
          </a:p>
        </p:txBody>
      </p:sp>
      <p:sp>
        <p:nvSpPr>
          <p:cNvPr name="AutoShape 110" id="110"/>
          <p:cNvSpPr/>
          <p:nvPr/>
        </p:nvSpPr>
        <p:spPr>
          <a:xfrm>
            <a:off x="1561070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1" id="111"/>
          <p:cNvGrpSpPr/>
          <p:nvPr/>
        </p:nvGrpSpPr>
        <p:grpSpPr>
          <a:xfrm rot="0">
            <a:off x="15478887" y="5256276"/>
            <a:ext cx="301752" cy="301752"/>
            <a:chOff x="0" y="0"/>
            <a:chExt cx="402336" cy="402336"/>
          </a:xfrm>
        </p:grpSpPr>
        <p:sp>
          <p:nvSpPr>
            <p:cNvPr name="Freeform 112" id="112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3" id="113"/>
          <p:cNvSpPr txBox="true"/>
          <p:nvPr/>
        </p:nvSpPr>
        <p:spPr>
          <a:xfrm rot="0">
            <a:off x="1589036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Officers have set routines and may not take up a new tool.</a:t>
            </a:r>
          </a:p>
        </p:txBody>
      </p:sp>
      <p:sp>
        <p:nvSpPr>
          <p:cNvPr name="AutoShape 114" id="114"/>
          <p:cNvSpPr/>
          <p:nvPr/>
        </p:nvSpPr>
        <p:spPr>
          <a:xfrm>
            <a:off x="1560832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5" id="115"/>
          <p:cNvGrpSpPr/>
          <p:nvPr/>
        </p:nvGrpSpPr>
        <p:grpSpPr>
          <a:xfrm rot="0">
            <a:off x="15469362" y="7016043"/>
            <a:ext cx="301752" cy="301752"/>
            <a:chOff x="0" y="0"/>
            <a:chExt cx="402336" cy="402336"/>
          </a:xfrm>
        </p:grpSpPr>
        <p:sp>
          <p:nvSpPr>
            <p:cNvPr name="Freeform 116" id="116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7" id="117"/>
          <p:cNvSpPr txBox="true"/>
          <p:nvPr/>
        </p:nvSpPr>
        <p:spPr>
          <a:xfrm rot="0">
            <a:off x="1588084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Start with one bureau. Today shows each person’s own queue, and Ctrl K jumps to any case.</a:t>
            </a:r>
          </a:p>
        </p:txBody>
      </p:sp>
      <p:sp>
        <p:nvSpPr>
          <p:cNvPr name="AutoShape 118" id="118"/>
          <p:cNvSpPr/>
          <p:nvPr/>
        </p:nvSpPr>
        <p:spPr>
          <a:xfrm>
            <a:off x="404339" y="9021009"/>
            <a:ext cx="17474759" cy="14335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9" id="119"/>
          <p:cNvSpPr txBox="true"/>
          <p:nvPr/>
        </p:nvSpPr>
        <p:spPr>
          <a:xfrm rot="0">
            <a:off x="411480" y="9182100"/>
            <a:ext cx="20574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Viability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why it keeps running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715768" y="9182100"/>
            <a:ext cx="1515618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paid services</a:t>
            </a:r>
            <a:r>
              <a:rPr lang="en-US" sz="17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: the registry is AICTE’s public list, and matching runs on a laptop with no network.   </a:t>
            </a:r>
          </a:p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to run</a:t>
            </a:r>
            <a:r>
              <a:rPr lang="en-US" sz="17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: one FastAPI service, one SQLite file and one React app; PostgreSQL is the production path.   </a:t>
            </a:r>
          </a:p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Ready for real data</a:t>
            </a:r>
            <a:r>
              <a:rPr lang="en-US" sz="17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: connectors post to the same intake API, and CPGRAMS numbers stay as the external reference.   </a:t>
            </a:r>
          </a:p>
        </p:txBody>
      </p:sp>
      <p:sp>
        <p:nvSpPr>
          <p:cNvPr name="Freeform 121" id="121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3" id="123"/>
          <p:cNvSpPr txBox="true"/>
          <p:nvPr/>
        </p:nvSpPr>
        <p:spPr>
          <a:xfrm rot="0">
            <a:off x="4832899" y="196469"/>
            <a:ext cx="8622200" cy="9499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6380"/>
              </a:lnSpc>
            </a:pPr>
            <a:r>
              <a:rPr lang="en-US" b="true" sz="5800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</a:rPr>
              <a:t>Feasibility and Viability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532" y="939516"/>
            <a:ext cx="1798093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 spc="344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IMPACT ON THE TARGET AUDIENCE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55336" y="1453866"/>
            <a:ext cx="6127035" cy="6991018"/>
            <a:chOff x="0" y="0"/>
            <a:chExt cx="7960098" cy="9082564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7960071" cy="9082564"/>
            </a:xfrm>
            <a:custGeom>
              <a:avLst/>
              <a:gdLst/>
              <a:ahLst/>
              <a:cxnLst/>
              <a:rect r="r" b="b" t="t" l="l"/>
              <a:pathLst>
                <a:path h="9082564" w="7960071">
                  <a:moveTo>
                    <a:pt x="0" y="0"/>
                  </a:moveTo>
                  <a:lnTo>
                    <a:pt x="7960071" y="0"/>
                  </a:lnTo>
                  <a:lnTo>
                    <a:pt x="7960071" y="9082564"/>
                  </a:lnTo>
                  <a:lnTo>
                    <a:pt x="0" y="908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981" t="0" r="-98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004669" y="2171749"/>
            <a:ext cx="147670" cy="142494"/>
            <a:chOff x="0" y="0"/>
            <a:chExt cx="196893" cy="18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893" cy="189992"/>
            </a:xfrm>
            <a:custGeom>
              <a:avLst/>
              <a:gdLst/>
              <a:ahLst/>
              <a:cxnLst/>
              <a:rect r="r" b="b" t="t" l="l"/>
              <a:pathLst>
                <a:path h="189992" w="196893">
                  <a:moveTo>
                    <a:pt x="0" y="94996"/>
                  </a:moveTo>
                  <a:cubicBezTo>
                    <a:pt x="0" y="42545"/>
                    <a:pt x="44090" y="0"/>
                    <a:pt x="98446" y="0"/>
                  </a:cubicBezTo>
                  <a:cubicBezTo>
                    <a:pt x="152802" y="0"/>
                    <a:pt x="196893" y="42545"/>
                    <a:pt x="196893" y="94996"/>
                  </a:cubicBezTo>
                  <a:cubicBezTo>
                    <a:pt x="196893" y="147447"/>
                    <a:pt x="152802" y="189992"/>
                    <a:pt x="98446" y="189992"/>
                  </a:cubicBezTo>
                  <a:cubicBezTo>
                    <a:pt x="44090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313037" y="2070403"/>
            <a:ext cx="49749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1,500</a:t>
            </a:r>
            <a:r>
              <a:rPr lang="en-US" sz="14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 cases across 14 AICTE units in the demo data; 3,751 real institutions in the registry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59558" y="2718008"/>
            <a:ext cx="237890" cy="229553"/>
            <a:chOff x="0" y="0"/>
            <a:chExt cx="317187" cy="306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187" cy="306070"/>
            </a:xfrm>
            <a:custGeom>
              <a:avLst/>
              <a:gdLst/>
              <a:ahLst/>
              <a:cxnLst/>
              <a:rect r="r" b="b" t="t" l="l"/>
              <a:pathLst>
                <a:path h="306070" w="317187">
                  <a:moveTo>
                    <a:pt x="0" y="153035"/>
                  </a:moveTo>
                  <a:cubicBezTo>
                    <a:pt x="0" y="68453"/>
                    <a:pt x="70939" y="0"/>
                    <a:pt x="158593" y="0"/>
                  </a:cubicBezTo>
                  <a:cubicBezTo>
                    <a:pt x="246247" y="0"/>
                    <a:pt x="317187" y="68453"/>
                    <a:pt x="317187" y="153035"/>
                  </a:cubicBezTo>
                  <a:cubicBezTo>
                    <a:pt x="317187" y="237617"/>
                    <a:pt x="246247" y="306070"/>
                    <a:pt x="158593" y="306070"/>
                  </a:cubicBezTo>
                  <a:cubicBezTo>
                    <a:pt x="70939" y="306070"/>
                    <a:pt x="0" y="237617"/>
                    <a:pt x="0" y="15303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313037" y="2673907"/>
            <a:ext cx="49749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39 open overlaps: 25 Probable, 14 Possible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7064" y="1914250"/>
            <a:ext cx="426425" cy="411480"/>
            <a:chOff x="0" y="0"/>
            <a:chExt cx="568567" cy="54864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816" r="0" b="-181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75631" y="1839193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Senior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5631" y="2159995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All 14 units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064" y="2423647"/>
            <a:ext cx="1492489" cy="590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630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78838" y="2613766"/>
            <a:ext cx="3894685" cy="356616"/>
            <a:chOff x="0" y="0"/>
            <a:chExt cx="5192913" cy="475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cases past the 21-day limit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07064" y="3055726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Of 1,500 cases, 740 are pending. Every KPI opens the list behind it.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07064" y="4177390"/>
            <a:ext cx="426425" cy="411480"/>
            <a:chOff x="0" y="0"/>
            <a:chExt cx="568567" cy="54864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816" r="0" b="-1816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75631" y="4102333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Bureau heads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5631" y="4423135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PGRC, RB, AB and ACAD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7064" y="4686787"/>
            <a:ext cx="1492489" cy="590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39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1789" y="4876906"/>
            <a:ext cx="3894685" cy="356616"/>
            <a:chOff x="0" y="0"/>
            <a:chExt cx="5192913" cy="4754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overlaps waiting for a decision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07064" y="5318866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Each lists its cases and reasons. Confirming names a coordinator and alerts the other heads.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307064" y="6440530"/>
            <a:ext cx="426425" cy="411480"/>
            <a:chOff x="0" y="0"/>
            <a:chExt cx="568567" cy="54864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816" r="0" b="-1816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75631" y="6365473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Regional Offices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5631" y="6686275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One office per region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07064" y="6949927"/>
            <a:ext cx="1492489" cy="590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635988" y="7140046"/>
            <a:ext cx="3894685" cy="356616"/>
            <a:chOff x="0" y="0"/>
            <a:chExt cx="5192913" cy="475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Regional Offices in the system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07064" y="7582006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Each sees the cases of institutions in its region. Other units’ cases show as summary cards.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957683" y="3374566"/>
            <a:ext cx="426425" cy="411480"/>
            <a:chOff x="0" y="0"/>
            <a:chExt cx="568567" cy="54864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1816" r="0" b="-1816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526250" y="3299509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Intake operators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26250" y="3620311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Intake desk and match review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957683" y="3883963"/>
            <a:ext cx="1492489" cy="590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22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4350672" y="4074082"/>
            <a:ext cx="3894685" cy="356616"/>
            <a:chOff x="0" y="0"/>
            <a:chExt cx="5192913" cy="4754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uncertain matches in the review queue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2957683" y="4516042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The engine shows ranked candidates with reasons. The pick is saved, so the same spelling resolves next time.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957683" y="5637706"/>
            <a:ext cx="426425" cy="411480"/>
            <a:chOff x="0" y="0"/>
            <a:chExt cx="568567" cy="548640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1816" r="0" b="-1816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3526250" y="5562649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26250" y="5883451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AICTE-approved, six states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57683" y="6147103"/>
            <a:ext cx="1492489" cy="590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3,751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4350672" y="6337222"/>
            <a:ext cx="3894685" cy="356616"/>
            <a:chOff x="0" y="0"/>
            <a:chExt cx="5192913" cy="4754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institutions with Permanent IDs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957683" y="6779182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Each institution page lists its cases across every bureau, so one college gets one coordinated response.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07064" y="8278798"/>
            <a:ext cx="1778193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 spc="344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 OF THE SOLUTION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307064" y="8771050"/>
            <a:ext cx="341140" cy="329184"/>
            <a:chOff x="0" y="0"/>
            <a:chExt cx="454854" cy="438912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16" r="0" b="-1816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776132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Social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7064" y="9171862"/>
            <a:ext cx="40794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and parents get one answer from AICTE, not two that contradict. The 21-day clock and the day-17 warning keep cases from sitting unseen.</a:t>
            </a:r>
          </a:p>
        </p:txBody>
      </p:sp>
      <p:sp>
        <p:nvSpPr>
          <p:cNvPr name="AutoShape 86" id="86"/>
          <p:cNvSpPr/>
          <p:nvPr/>
        </p:nvSpPr>
        <p:spPr>
          <a:xfrm>
            <a:off x="4606556" y="8791339"/>
            <a:ext cx="14798" cy="1495614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4812958" y="8771050"/>
            <a:ext cx="341140" cy="329184"/>
            <a:chOff x="0" y="0"/>
            <a:chExt cx="454854" cy="438912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816" r="0" b="-1816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5282026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Economic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812958" y="9171862"/>
            <a:ext cx="40794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Built on open tools and AICTE’s public list, with no licences or hardware to buy. Heads start from one ranked queue instead of several registers.</a:t>
            </a:r>
          </a:p>
        </p:txBody>
      </p:sp>
      <p:sp>
        <p:nvSpPr>
          <p:cNvPr name="AutoShape 91" id="91"/>
          <p:cNvSpPr/>
          <p:nvPr/>
        </p:nvSpPr>
        <p:spPr>
          <a:xfrm>
            <a:off x="9112451" y="8791339"/>
            <a:ext cx="14798" cy="1495614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9318853" y="8771050"/>
            <a:ext cx="341140" cy="329184"/>
            <a:chOff x="0" y="0"/>
            <a:chExt cx="454854" cy="438912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816" r="0" b="-1816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9787921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Environmental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318853" y="9171862"/>
            <a:ext cx="407946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No new hardware. If two units learn of each other’s case early, one site visit can replace two. We have not measured this.</a:t>
            </a:r>
          </a:p>
        </p:txBody>
      </p:sp>
      <p:sp>
        <p:nvSpPr>
          <p:cNvPr name="AutoShape 96" id="96"/>
          <p:cNvSpPr/>
          <p:nvPr/>
        </p:nvSpPr>
        <p:spPr>
          <a:xfrm>
            <a:off x="13618346" y="8791339"/>
            <a:ext cx="14798" cy="1495614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7" id="97"/>
          <p:cNvGrpSpPr/>
          <p:nvPr/>
        </p:nvGrpSpPr>
        <p:grpSpPr>
          <a:xfrm rot="0">
            <a:off x="13824748" y="8771050"/>
            <a:ext cx="341140" cy="329184"/>
            <a:chOff x="0" y="0"/>
            <a:chExt cx="454854" cy="438912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816" r="0" b="-1816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4293816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Governance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824748" y="9171862"/>
            <a:ext cx="40794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Every flag lists its reasons. A head confirms or dismisses, and each action is logged. Unmatched names stay unlinked.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-2310582" y="-2324356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60" y="0"/>
                </a:lnTo>
                <a:lnTo>
                  <a:pt x="5542260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9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899228" y="-1689927"/>
            <a:ext cx="6626037" cy="3282628"/>
            <a:chOff x="0" y="0"/>
            <a:chExt cx="977692" cy="4843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77692" cy="484362"/>
            </a:xfrm>
            <a:custGeom>
              <a:avLst/>
              <a:gdLst/>
              <a:ahLst/>
              <a:cxnLst/>
              <a:rect r="r" b="b" t="t" l="l"/>
              <a:pathLst>
                <a:path h="484362" w="977692">
                  <a:moveTo>
                    <a:pt x="977692" y="242181"/>
                  </a:moveTo>
                  <a:lnTo>
                    <a:pt x="774492" y="484362"/>
                  </a:lnTo>
                  <a:lnTo>
                    <a:pt x="203200" y="484362"/>
                  </a:lnTo>
                  <a:lnTo>
                    <a:pt x="0" y="242181"/>
                  </a:lnTo>
                  <a:lnTo>
                    <a:pt x="203200" y="0"/>
                  </a:lnTo>
                  <a:lnTo>
                    <a:pt x="774492" y="0"/>
                  </a:lnTo>
                  <a:lnTo>
                    <a:pt x="977692" y="242181"/>
                  </a:lnTo>
                  <a:close/>
                </a:path>
              </a:pathLst>
            </a:custGeom>
            <a:solidFill>
              <a:srgbClr val="0F81CA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114300" y="-38100"/>
              <a:ext cx="749092" cy="522462"/>
            </a:xfrm>
            <a:prstGeom prst="rect">
              <a:avLst/>
            </a:prstGeom>
          </p:spPr>
          <p:txBody>
            <a:bodyPr anchor="ctr" rtlCol="false" tIns="34683" lIns="34683" bIns="34683" rIns="346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136320" y="-704474"/>
            <a:ext cx="5617587" cy="2129765"/>
            <a:chOff x="0" y="0"/>
            <a:chExt cx="970531" cy="3679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70531" cy="367952"/>
            </a:xfrm>
            <a:custGeom>
              <a:avLst/>
              <a:gdLst/>
              <a:ahLst/>
              <a:cxnLst/>
              <a:rect r="r" b="b" t="t" l="l"/>
              <a:pathLst>
                <a:path h="367952" w="970531">
                  <a:moveTo>
                    <a:pt x="970531" y="183976"/>
                  </a:moveTo>
                  <a:lnTo>
                    <a:pt x="767331" y="367952"/>
                  </a:lnTo>
                  <a:lnTo>
                    <a:pt x="203200" y="367952"/>
                  </a:lnTo>
                  <a:lnTo>
                    <a:pt x="0" y="183976"/>
                  </a:lnTo>
                  <a:lnTo>
                    <a:pt x="203200" y="0"/>
                  </a:lnTo>
                  <a:lnTo>
                    <a:pt x="767331" y="0"/>
                  </a:lnTo>
                  <a:lnTo>
                    <a:pt x="970531" y="183976"/>
                  </a:ln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114300" y="-38100"/>
              <a:ext cx="741931" cy="406052"/>
            </a:xfrm>
            <a:prstGeom prst="rect">
              <a:avLst/>
            </a:prstGeom>
          </p:spPr>
          <p:txBody>
            <a:bodyPr anchor="ctr" rtlCol="false" tIns="34683" lIns="34683" bIns="34683" rIns="346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5203076" y="-39019"/>
            <a:ext cx="7848346" cy="9499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6380"/>
              </a:lnSpc>
            </a:pPr>
            <a:r>
              <a:rPr lang="en-US" b="true" sz="5800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</a:rPr>
              <a:t>Impacts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68453" y="2133685"/>
            <a:ext cx="8254222" cy="7868209"/>
            <a:chOff x="0" y="0"/>
            <a:chExt cx="2173952" cy="2072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951" cy="2072286"/>
            </a:xfrm>
            <a:custGeom>
              <a:avLst/>
              <a:gdLst/>
              <a:ahLst/>
              <a:cxnLst/>
              <a:rect r="r" b="b" t="t" l="l"/>
              <a:pathLst>
                <a:path h="2072286" w="2173951">
                  <a:moveTo>
                    <a:pt x="47835" y="0"/>
                  </a:moveTo>
                  <a:lnTo>
                    <a:pt x="2126117" y="0"/>
                  </a:lnTo>
                  <a:cubicBezTo>
                    <a:pt x="2152535" y="0"/>
                    <a:pt x="2173951" y="21416"/>
                    <a:pt x="2173951" y="47835"/>
                  </a:cubicBezTo>
                  <a:lnTo>
                    <a:pt x="2173951" y="2024451"/>
                  </a:lnTo>
                  <a:cubicBezTo>
                    <a:pt x="2173951" y="2050869"/>
                    <a:pt x="2152535" y="2072286"/>
                    <a:pt x="2126117" y="2072286"/>
                  </a:cubicBezTo>
                  <a:lnTo>
                    <a:pt x="47835" y="2072286"/>
                  </a:lnTo>
                  <a:cubicBezTo>
                    <a:pt x="35148" y="2072286"/>
                    <a:pt x="22981" y="2067246"/>
                    <a:pt x="14010" y="2058275"/>
                  </a:cubicBezTo>
                  <a:cubicBezTo>
                    <a:pt x="5040" y="2049304"/>
                    <a:pt x="0" y="2037137"/>
                    <a:pt x="0" y="2024451"/>
                  </a:cubicBezTo>
                  <a:lnTo>
                    <a:pt x="0" y="47835"/>
                  </a:lnTo>
                  <a:cubicBezTo>
                    <a:pt x="0" y="21416"/>
                    <a:pt x="21416" y="0"/>
                    <a:pt x="47835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73952" cy="2091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4087" y="2133685"/>
            <a:ext cx="4519993" cy="821970"/>
            <a:chOff x="0" y="0"/>
            <a:chExt cx="1190451" cy="2164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0451" cy="216486"/>
            </a:xfrm>
            <a:custGeom>
              <a:avLst/>
              <a:gdLst/>
              <a:ahLst/>
              <a:cxnLst/>
              <a:rect r="r" b="b" t="t" l="l"/>
              <a:pathLst>
                <a:path h="216486" w="1190451">
                  <a:moveTo>
                    <a:pt x="87354" y="0"/>
                  </a:moveTo>
                  <a:lnTo>
                    <a:pt x="1103097" y="0"/>
                  </a:lnTo>
                  <a:cubicBezTo>
                    <a:pt x="1126265" y="0"/>
                    <a:pt x="1148483" y="9203"/>
                    <a:pt x="1164866" y="25585"/>
                  </a:cubicBezTo>
                  <a:cubicBezTo>
                    <a:pt x="1181247" y="41967"/>
                    <a:pt x="1190451" y="64186"/>
                    <a:pt x="1190451" y="87354"/>
                  </a:cubicBezTo>
                  <a:lnTo>
                    <a:pt x="1190451" y="129132"/>
                  </a:lnTo>
                  <a:cubicBezTo>
                    <a:pt x="1190451" y="177376"/>
                    <a:pt x="1151341" y="216486"/>
                    <a:pt x="1103097" y="216486"/>
                  </a:cubicBezTo>
                  <a:lnTo>
                    <a:pt x="87354" y="216486"/>
                  </a:lnTo>
                  <a:cubicBezTo>
                    <a:pt x="39110" y="216486"/>
                    <a:pt x="0" y="177376"/>
                    <a:pt x="0" y="129132"/>
                  </a:cubicBezTo>
                  <a:lnTo>
                    <a:pt x="0" y="87354"/>
                  </a:lnTo>
                  <a:cubicBezTo>
                    <a:pt x="0" y="39110"/>
                    <a:pt x="39110" y="0"/>
                    <a:pt x="87354" y="0"/>
                  </a:cubicBezTo>
                  <a:close/>
                </a:path>
              </a:pathLst>
            </a:custGeom>
            <a:solidFill>
              <a:srgbClr val="99D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90451" cy="235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60379" y="4674846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60379" y="6184944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60379" y="7801132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860379" y="9522380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675003" y="2204508"/>
            <a:ext cx="7975308" cy="7745613"/>
            <a:chOff x="0" y="0"/>
            <a:chExt cx="2100493" cy="20399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0493" cy="2039997"/>
            </a:xfrm>
            <a:custGeom>
              <a:avLst/>
              <a:gdLst/>
              <a:ahLst/>
              <a:cxnLst/>
              <a:rect r="r" b="b" t="t" l="l"/>
              <a:pathLst>
                <a:path h="2039997" w="2100493">
                  <a:moveTo>
                    <a:pt x="49508" y="0"/>
                  </a:moveTo>
                  <a:lnTo>
                    <a:pt x="2050985" y="0"/>
                  </a:lnTo>
                  <a:cubicBezTo>
                    <a:pt x="2078327" y="0"/>
                    <a:pt x="2100493" y="22165"/>
                    <a:pt x="2100493" y="49508"/>
                  </a:cubicBezTo>
                  <a:lnTo>
                    <a:pt x="2100493" y="1990490"/>
                  </a:lnTo>
                  <a:cubicBezTo>
                    <a:pt x="2100493" y="2003620"/>
                    <a:pt x="2095277" y="2016212"/>
                    <a:pt x="2085992" y="2025497"/>
                  </a:cubicBezTo>
                  <a:cubicBezTo>
                    <a:pt x="2076708" y="2034781"/>
                    <a:pt x="2064115" y="2039997"/>
                    <a:pt x="2050985" y="2039997"/>
                  </a:cubicBezTo>
                  <a:lnTo>
                    <a:pt x="49508" y="2039997"/>
                  </a:lnTo>
                  <a:cubicBezTo>
                    <a:pt x="22165" y="2039997"/>
                    <a:pt x="0" y="2017832"/>
                    <a:pt x="0" y="1990490"/>
                  </a:cubicBezTo>
                  <a:lnTo>
                    <a:pt x="0" y="49508"/>
                  </a:lnTo>
                  <a:cubicBezTo>
                    <a:pt x="0" y="36377"/>
                    <a:pt x="5216" y="23785"/>
                    <a:pt x="14500" y="14500"/>
                  </a:cubicBezTo>
                  <a:cubicBezTo>
                    <a:pt x="23785" y="5216"/>
                    <a:pt x="36377" y="0"/>
                    <a:pt x="49508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00493" cy="2059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0235503" y="4735698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0235503" y="6471506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235503" y="8234266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766639" y="2195909"/>
            <a:ext cx="4519993" cy="755295"/>
            <a:chOff x="0" y="0"/>
            <a:chExt cx="1190451" cy="1989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90451" cy="198926"/>
            </a:xfrm>
            <a:custGeom>
              <a:avLst/>
              <a:gdLst/>
              <a:ahLst/>
              <a:cxnLst/>
              <a:rect r="r" b="b" t="t" l="l"/>
              <a:pathLst>
                <a:path h="198926" w="1190451">
                  <a:moveTo>
                    <a:pt x="87354" y="0"/>
                  </a:moveTo>
                  <a:lnTo>
                    <a:pt x="1103097" y="0"/>
                  </a:lnTo>
                  <a:cubicBezTo>
                    <a:pt x="1126265" y="0"/>
                    <a:pt x="1148483" y="9203"/>
                    <a:pt x="1164866" y="25585"/>
                  </a:cubicBezTo>
                  <a:cubicBezTo>
                    <a:pt x="1181247" y="41967"/>
                    <a:pt x="1190451" y="64186"/>
                    <a:pt x="1190451" y="87354"/>
                  </a:cubicBezTo>
                  <a:lnTo>
                    <a:pt x="1190451" y="111572"/>
                  </a:lnTo>
                  <a:cubicBezTo>
                    <a:pt x="1190451" y="159816"/>
                    <a:pt x="1151341" y="198926"/>
                    <a:pt x="1103097" y="198926"/>
                  </a:cubicBezTo>
                  <a:lnTo>
                    <a:pt x="87354" y="198926"/>
                  </a:lnTo>
                  <a:cubicBezTo>
                    <a:pt x="39110" y="198926"/>
                    <a:pt x="0" y="159816"/>
                    <a:pt x="0" y="111572"/>
                  </a:cubicBezTo>
                  <a:lnTo>
                    <a:pt x="0" y="87354"/>
                  </a:lnTo>
                  <a:cubicBezTo>
                    <a:pt x="0" y="39110"/>
                    <a:pt x="39110" y="0"/>
                    <a:pt x="87354" y="0"/>
                  </a:cubicBezTo>
                  <a:close/>
                </a:path>
              </a:pathLst>
            </a:custGeom>
            <a:solidFill>
              <a:srgbClr val="99DA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90451" cy="217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0379" y="3405514"/>
            <a:ext cx="514175" cy="871483"/>
          </a:xfrm>
          <a:custGeom>
            <a:avLst/>
            <a:gdLst/>
            <a:ahLst/>
            <a:cxnLst/>
            <a:rect r="r" b="b" t="t" l="l"/>
            <a:pathLst>
              <a:path h="871483" w="514175">
                <a:moveTo>
                  <a:pt x="0" y="0"/>
                </a:moveTo>
                <a:lnTo>
                  <a:pt x="514175" y="0"/>
                </a:lnTo>
                <a:lnTo>
                  <a:pt x="514175" y="871482"/>
                </a:lnTo>
                <a:lnTo>
                  <a:pt x="0" y="8714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60379" y="5051083"/>
            <a:ext cx="583195" cy="793463"/>
          </a:xfrm>
          <a:custGeom>
            <a:avLst/>
            <a:gdLst/>
            <a:ahLst/>
            <a:cxnLst/>
            <a:rect r="r" b="b" t="t" l="l"/>
            <a:pathLst>
              <a:path h="793463" w="583195">
                <a:moveTo>
                  <a:pt x="0" y="0"/>
                </a:moveTo>
                <a:lnTo>
                  <a:pt x="583196" y="0"/>
                </a:lnTo>
                <a:lnTo>
                  <a:pt x="583196" y="793463"/>
                </a:lnTo>
                <a:lnTo>
                  <a:pt x="0" y="79346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87224" y="6609618"/>
            <a:ext cx="795202" cy="791226"/>
          </a:xfrm>
          <a:custGeom>
            <a:avLst/>
            <a:gdLst/>
            <a:ahLst/>
            <a:cxnLst/>
            <a:rect r="r" b="b" t="t" l="l"/>
            <a:pathLst>
              <a:path h="791226" w="795202">
                <a:moveTo>
                  <a:pt x="0" y="0"/>
                </a:moveTo>
                <a:lnTo>
                  <a:pt x="795202" y="0"/>
                </a:lnTo>
                <a:lnTo>
                  <a:pt x="795202" y="791226"/>
                </a:lnTo>
                <a:lnTo>
                  <a:pt x="0" y="79122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60379" y="8330666"/>
            <a:ext cx="698020" cy="715918"/>
          </a:xfrm>
          <a:custGeom>
            <a:avLst/>
            <a:gdLst/>
            <a:ahLst/>
            <a:cxnLst/>
            <a:rect r="r" b="b" t="t" l="l"/>
            <a:pathLst>
              <a:path h="715918" w="698020">
                <a:moveTo>
                  <a:pt x="0" y="0"/>
                </a:moveTo>
                <a:lnTo>
                  <a:pt x="698021" y="0"/>
                </a:lnTo>
                <a:lnTo>
                  <a:pt x="698021" y="715918"/>
                </a:lnTo>
                <a:lnTo>
                  <a:pt x="0" y="71591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10040" y="3209669"/>
            <a:ext cx="845301" cy="988656"/>
          </a:xfrm>
          <a:custGeom>
            <a:avLst/>
            <a:gdLst/>
            <a:ahLst/>
            <a:cxnLst/>
            <a:rect r="r" b="b" t="t" l="l"/>
            <a:pathLst>
              <a:path h="988656" w="845301">
                <a:moveTo>
                  <a:pt x="0" y="0"/>
                </a:moveTo>
                <a:lnTo>
                  <a:pt x="845300" y="0"/>
                </a:lnTo>
                <a:lnTo>
                  <a:pt x="845300" y="988655"/>
                </a:lnTo>
                <a:lnTo>
                  <a:pt x="0" y="98865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147493" y="5193504"/>
            <a:ext cx="1020451" cy="806157"/>
          </a:xfrm>
          <a:custGeom>
            <a:avLst/>
            <a:gdLst/>
            <a:ahLst/>
            <a:cxnLst/>
            <a:rect r="r" b="b" t="t" l="l"/>
            <a:pathLst>
              <a:path h="806157" w="1020451">
                <a:moveTo>
                  <a:pt x="0" y="0"/>
                </a:moveTo>
                <a:lnTo>
                  <a:pt x="1020451" y="0"/>
                </a:lnTo>
                <a:lnTo>
                  <a:pt x="1020451" y="806157"/>
                </a:lnTo>
                <a:lnTo>
                  <a:pt x="0" y="80615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318371" y="6919430"/>
            <a:ext cx="716795" cy="814539"/>
          </a:xfrm>
          <a:custGeom>
            <a:avLst/>
            <a:gdLst/>
            <a:ahLst/>
            <a:cxnLst/>
            <a:rect r="r" b="b" t="t" l="l"/>
            <a:pathLst>
              <a:path h="814539" w="716795">
                <a:moveTo>
                  <a:pt x="0" y="0"/>
                </a:moveTo>
                <a:lnTo>
                  <a:pt x="716795" y="0"/>
                </a:lnTo>
                <a:lnTo>
                  <a:pt x="716795" y="814539"/>
                </a:lnTo>
                <a:lnTo>
                  <a:pt x="0" y="81453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AutoShape 38" id="38"/>
          <p:cNvSpPr/>
          <p:nvPr/>
        </p:nvSpPr>
        <p:spPr>
          <a:xfrm>
            <a:off x="10235503" y="9682701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0210040" y="8462004"/>
            <a:ext cx="996004" cy="926284"/>
          </a:xfrm>
          <a:custGeom>
            <a:avLst/>
            <a:gdLst/>
            <a:ahLst/>
            <a:cxnLst/>
            <a:rect r="r" b="b" t="t" l="l"/>
            <a:pathLst>
              <a:path h="926284" w="996004">
                <a:moveTo>
                  <a:pt x="0" y="0"/>
                </a:moveTo>
                <a:lnTo>
                  <a:pt x="996004" y="0"/>
                </a:lnTo>
                <a:lnTo>
                  <a:pt x="996004" y="926284"/>
                </a:lnTo>
                <a:lnTo>
                  <a:pt x="0" y="92628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4147916" y="417915"/>
            <a:ext cx="9992169" cy="100139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6709"/>
              </a:lnSpc>
            </a:pPr>
            <a:r>
              <a:rPr lang="en-US" b="true" sz="6099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</a:rPr>
              <a:t>Research and References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9676" y="2332363"/>
            <a:ext cx="419100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and Related 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12532" y="3386464"/>
            <a:ext cx="5795061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Registry-anchored matching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Exact match, then fuzzy, with a location check: precision 0.97 (Kang et al., 2026)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12532" y="4955833"/>
            <a:ext cx="6296082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embeddings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Sentence-BERT makes similarity search practical (Reimers and Gurevych, 2019)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12532" y="6465932"/>
            <a:ext cx="5597787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Complete-linkage clustering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Stops unrelated records chaining into one group (Mamun et al., 2016)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12532" y="8154907"/>
            <a:ext cx="6103095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Synthetic test data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Synthetic data with replicated errors estimated linkage quality well (Lam et al., 2024)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49435" y="3170279"/>
            <a:ext cx="6085561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Kang et al., 2026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Registry-anchored name matching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  <a:hlinkClick r:id="rId20" tooltip="https://firms.modaps.eosdis.nasa.gov"/>
              </a:rPr>
              <a:t>doi.org/10.6087/kcse.396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49435" y="4937595"/>
            <a:ext cx="5554004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Reimers and Gurevych, 2019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Sentence-BERT, EMNLP-IJCNLP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  <a:hlinkClick r:id="rId21" tooltip="https://l1nq.com/tb9bf5f"/>
              </a:rPr>
              <a:t>aclanthology.org/D19-1410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49435" y="6619143"/>
            <a:ext cx="5554004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CPGRAMS guidelines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DARPG memo, 23 Aug 2024: 21 days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  <a:hlinkClick r:id="rId22" tooltip="https://www.mongodb.com/products/platform/atlas-database"/>
              </a:rPr>
              <a:t>pgportal.gov.in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73739" y="2356069"/>
            <a:ext cx="241300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49435" y="8353328"/>
            <a:ext cx="5776426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Unicomply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code and documentation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Arial"/>
                <a:ea typeface="Arial"/>
                <a:cs typeface="Arial"/>
                <a:sym typeface="Arial"/>
                <a:hlinkClick r:id="rId23" tooltip="https://firms.modaps.eosdis.nasa.gov"/>
              </a:rPr>
              <a:t>github.com/krishnasharma1493/Unicomply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DAHTMa66kF8</dc:identifier>
  <dcterms:modified xsi:type="dcterms:W3CDTF">2011-08-01T06:04:30Z</dcterms:modified>
  <cp:revision>1</cp:revision>
  <dc:title>Team-AstraX PPT (SIH26162)</dc:title>
</cp:coreProperties>
</file>