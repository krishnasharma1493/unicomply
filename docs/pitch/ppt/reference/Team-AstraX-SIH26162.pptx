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  <p:embeddedFont>
      <p:font typeface="Helvetica Now Bold" charset="1" panose="020B0804030202020204"/>
      <p:regular r:id="rId17"/>
    </p:embeddedFont>
    <p:embeddedFont>
      <p:font typeface="Helvetica Now" charset="1" panose="020B050403020202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1"/>
    </p:embeddedFont>
    <p:embeddedFont>
      <p:font typeface="Courier New Bold" charset="1" panose="02070609020205020404"/>
      <p:regular r:id="rId22"/>
    </p:embeddedFont>
    <p:embeddedFont>
      <p:font typeface="Arial Italics" charset="1" panose="020B06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6.png" Type="http://schemas.openxmlformats.org/officeDocument/2006/relationships/image"/><Relationship Id="rId17" Target="../media/image7.svg" Type="http://schemas.openxmlformats.org/officeDocument/2006/relationships/image"/><Relationship Id="rId18" Target="../media/image8.png" Type="http://schemas.openxmlformats.org/officeDocument/2006/relationships/image"/><Relationship Id="rId19" Target="../media/image23.png" Type="http://schemas.openxmlformats.org/officeDocument/2006/relationships/image"/><Relationship Id="rId2" Target="../media/image9.png" Type="http://schemas.openxmlformats.org/officeDocument/2006/relationships/imag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4.jpe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27" Target="../media/image50.png" Type="http://schemas.openxmlformats.org/officeDocument/2006/relationships/image"/><Relationship Id="rId28" Target="../media/image51.png" Type="http://schemas.openxmlformats.org/officeDocument/2006/relationships/image"/><Relationship Id="rId29" Target="../media/image52.png" Type="http://schemas.openxmlformats.org/officeDocument/2006/relationships/image"/><Relationship Id="rId3" Target="../media/image26.png" Type="http://schemas.openxmlformats.org/officeDocument/2006/relationships/image"/><Relationship Id="rId30" Target="../media/image6.png" Type="http://schemas.openxmlformats.org/officeDocument/2006/relationships/image"/><Relationship Id="rId31" Target="../media/image7.svg" Type="http://schemas.openxmlformats.org/officeDocument/2006/relationships/image"/><Relationship Id="rId32" Target="../media/image23.png" Type="http://schemas.openxmlformats.org/officeDocument/2006/relationships/image"/><Relationship Id="rId33" Target="../media/image8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23.png" Type="http://schemas.openxmlformats.org/officeDocument/2006/relationships/image"/><Relationship Id="rId13" Target="../media/image8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8.png" Type="http://schemas.openxmlformats.org/officeDocument/2006/relationships/image"/><Relationship Id="rId16" Target="../media/image23.png" Type="http://schemas.openxmlformats.org/officeDocument/2006/relationships/image"/><Relationship Id="rId2" Target="../media/image61.png" Type="http://schemas.openxmlformats.org/officeDocument/2006/relationships/image"/><Relationship Id="rId3" Target="../media/image4.jpe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17" Target="../media/image82.png" Type="http://schemas.openxmlformats.org/officeDocument/2006/relationships/image"/><Relationship Id="rId18" Target="../media/image83.png" Type="http://schemas.openxmlformats.org/officeDocument/2006/relationships/image"/><Relationship Id="rId19" Target="../media/image84.svg" Type="http://schemas.openxmlformats.org/officeDocument/2006/relationships/image"/><Relationship Id="rId2" Target="../media/image6.png" Type="http://schemas.openxmlformats.org/officeDocument/2006/relationships/image"/><Relationship Id="rId20" Target="https://firms.modaps.eosdis.nasa.gov" TargetMode="External" Type="http://schemas.openxmlformats.org/officeDocument/2006/relationships/hyperlink"/><Relationship Id="rId21" Target="https://l1nq.com/tb9bf5f" TargetMode="External" Type="http://schemas.openxmlformats.org/officeDocument/2006/relationships/hyperlink"/><Relationship Id="rId22" Target="https://www.mongodb.com/products/platform/atlas-database" TargetMode="External" Type="http://schemas.openxmlformats.org/officeDocument/2006/relationships/hyperlink"/><Relationship Id="rId23" Target="https://firms.modaps.eosdis.nasa.gov" TargetMode="External" Type="http://schemas.openxmlformats.org/officeDocument/2006/relationships/hyperlink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23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2" Target="../media/image4.jpe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23.png" Type="http://schemas.openxmlformats.org/officeDocument/2006/relationships/image"/><Relationship Id="rId8" Target="https://github.com/krishnasharma1493/IGNISSENSE" TargetMode="External" Type="http://schemas.openxmlformats.org/officeDocument/2006/relationships/hyperlink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139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38246" y="316039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834640" y="1000125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71600" y="-949936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0055" y="3027045"/>
            <a:ext cx="10741390" cy="616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SIH162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Detection and Classification of Industrial Fires and Persistent Thermal Sources Using NASA FIRMS, OSM &amp; Satellite Data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Miscellaneous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SIH26-DU-T07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AstraX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673182" y="103226"/>
            <a:ext cx="2486436" cy="1174048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414442" y="2196100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471724" y="1953890"/>
            <a:ext cx="8120187" cy="1426901"/>
            <a:chOff x="0" y="0"/>
            <a:chExt cx="2138650" cy="3758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8650" cy="375809"/>
            </a:xfrm>
            <a:custGeom>
              <a:avLst/>
              <a:gdLst/>
              <a:ahLst/>
              <a:cxnLst/>
              <a:rect r="r" b="b" t="t" l="l"/>
              <a:pathLst>
                <a:path h="375809" w="2138650">
                  <a:moveTo>
                    <a:pt x="48624" y="0"/>
                  </a:moveTo>
                  <a:lnTo>
                    <a:pt x="2090026" y="0"/>
                  </a:lnTo>
                  <a:cubicBezTo>
                    <a:pt x="2116880" y="0"/>
                    <a:pt x="2138650" y="21770"/>
                    <a:pt x="2138650" y="48624"/>
                  </a:cubicBezTo>
                  <a:lnTo>
                    <a:pt x="2138650" y="327185"/>
                  </a:lnTo>
                  <a:cubicBezTo>
                    <a:pt x="2138650" y="340081"/>
                    <a:pt x="2133527" y="352449"/>
                    <a:pt x="2124408" y="361568"/>
                  </a:cubicBezTo>
                  <a:cubicBezTo>
                    <a:pt x="2115289" y="370686"/>
                    <a:pt x="2102922" y="375809"/>
                    <a:pt x="2090026" y="375809"/>
                  </a:cubicBezTo>
                  <a:lnTo>
                    <a:pt x="48624" y="375809"/>
                  </a:lnTo>
                  <a:cubicBezTo>
                    <a:pt x="35728" y="375809"/>
                    <a:pt x="23361" y="370686"/>
                    <a:pt x="14242" y="361568"/>
                  </a:cubicBezTo>
                  <a:cubicBezTo>
                    <a:pt x="5123" y="352449"/>
                    <a:pt x="0" y="340081"/>
                    <a:pt x="0" y="327185"/>
                  </a:cubicBezTo>
                  <a:lnTo>
                    <a:pt x="0" y="48624"/>
                  </a:lnTo>
                  <a:cubicBezTo>
                    <a:pt x="0" y="35728"/>
                    <a:pt x="5123" y="23361"/>
                    <a:pt x="14242" y="14242"/>
                  </a:cubicBezTo>
                  <a:cubicBezTo>
                    <a:pt x="23361" y="5123"/>
                    <a:pt x="35728" y="0"/>
                    <a:pt x="48624" y="0"/>
                  </a:cubicBez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38650" cy="394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446092" y="7531846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683966" y="2353949"/>
            <a:ext cx="770356" cy="798296"/>
          </a:xfrm>
          <a:custGeom>
            <a:avLst/>
            <a:gdLst/>
            <a:ahLst/>
            <a:cxnLst/>
            <a:rect r="r" b="b" t="t" l="l"/>
            <a:pathLst>
              <a:path h="798296" w="770356">
                <a:moveTo>
                  <a:pt x="0" y="0"/>
                </a:moveTo>
                <a:lnTo>
                  <a:pt x="770356" y="0"/>
                </a:lnTo>
                <a:lnTo>
                  <a:pt x="770356" y="798296"/>
                </a:lnTo>
                <a:lnTo>
                  <a:pt x="0" y="798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83966" y="3473993"/>
            <a:ext cx="793757" cy="826831"/>
          </a:xfrm>
          <a:custGeom>
            <a:avLst/>
            <a:gdLst/>
            <a:ahLst/>
            <a:cxnLst/>
            <a:rect r="r" b="b" t="t" l="l"/>
            <a:pathLst>
              <a:path h="826831" w="793757">
                <a:moveTo>
                  <a:pt x="0" y="0"/>
                </a:moveTo>
                <a:lnTo>
                  <a:pt x="793758" y="0"/>
                </a:lnTo>
                <a:lnTo>
                  <a:pt x="793758" y="826831"/>
                </a:lnTo>
                <a:lnTo>
                  <a:pt x="0" y="826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08600" y="2422350"/>
            <a:ext cx="1269277" cy="1269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1570" y="2561987"/>
            <a:ext cx="959535" cy="959535"/>
          </a:xfrm>
          <a:custGeom>
            <a:avLst/>
            <a:gdLst/>
            <a:ahLst/>
            <a:cxnLst/>
            <a:rect r="r" b="b" t="t" l="l"/>
            <a:pathLst>
              <a:path h="959535" w="959535">
                <a:moveTo>
                  <a:pt x="0" y="0"/>
                </a:moveTo>
                <a:lnTo>
                  <a:pt x="959535" y="0"/>
                </a:lnTo>
                <a:lnTo>
                  <a:pt x="959535" y="959535"/>
                </a:lnTo>
                <a:lnTo>
                  <a:pt x="0" y="959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17483" y="4444598"/>
            <a:ext cx="1269277" cy="12692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8096" y="8315785"/>
            <a:ext cx="1269277" cy="12692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42504" y="4596503"/>
            <a:ext cx="1025814" cy="887329"/>
          </a:xfrm>
          <a:custGeom>
            <a:avLst/>
            <a:gdLst/>
            <a:ahLst/>
            <a:cxnLst/>
            <a:rect r="r" b="b" t="t" l="l"/>
            <a:pathLst>
              <a:path h="887329" w="1025814">
                <a:moveTo>
                  <a:pt x="0" y="0"/>
                </a:moveTo>
                <a:lnTo>
                  <a:pt x="1025814" y="0"/>
                </a:lnTo>
                <a:lnTo>
                  <a:pt x="1025814" y="887329"/>
                </a:lnTo>
                <a:lnTo>
                  <a:pt x="0" y="8873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17483" y="6485400"/>
            <a:ext cx="1269277" cy="12692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16943" y="6699815"/>
            <a:ext cx="857887" cy="857887"/>
          </a:xfrm>
          <a:custGeom>
            <a:avLst/>
            <a:gdLst/>
            <a:ahLst/>
            <a:cxnLst/>
            <a:rect r="r" b="b" t="t" l="l"/>
            <a:pathLst>
              <a:path h="857887" w="857887">
                <a:moveTo>
                  <a:pt x="0" y="0"/>
                </a:moveTo>
                <a:lnTo>
                  <a:pt x="857886" y="0"/>
                </a:lnTo>
                <a:lnTo>
                  <a:pt x="857886" y="857887"/>
                </a:lnTo>
                <a:lnTo>
                  <a:pt x="0" y="8578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76577" y="8619842"/>
            <a:ext cx="833265" cy="724941"/>
          </a:xfrm>
          <a:custGeom>
            <a:avLst/>
            <a:gdLst/>
            <a:ahLst/>
            <a:cxnLst/>
            <a:rect r="r" b="b" t="t" l="l"/>
            <a:pathLst>
              <a:path h="724941" w="833265">
                <a:moveTo>
                  <a:pt x="0" y="0"/>
                </a:moveTo>
                <a:lnTo>
                  <a:pt x="833265" y="0"/>
                </a:lnTo>
                <a:lnTo>
                  <a:pt x="833265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>
            <a:off x="51658" y="3152245"/>
            <a:ext cx="1127197" cy="5563714"/>
          </a:xfrm>
          <a:custGeom>
            <a:avLst/>
            <a:gdLst/>
            <a:ahLst/>
            <a:cxnLst/>
            <a:rect r="r" b="b" t="t" l="l"/>
            <a:pathLst>
              <a:path h="5563714" w="1127197">
                <a:moveTo>
                  <a:pt x="1104026" y="5563714"/>
                </a:moveTo>
                <a:quadBezTo>
                  <a:pt x="-1115552" y="2772565"/>
                  <a:pt x="1127196" y="0"/>
                </a:quadBezTo>
              </a:path>
            </a:pathLst>
          </a:cu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84325" y="5079237"/>
            <a:ext cx="1033158" cy="12069"/>
          </a:xfrm>
          <a:prstGeom prst="line">
            <a:avLst/>
          </a:pr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235355" y="7032571"/>
            <a:ext cx="992992" cy="21752"/>
          </a:xfrm>
          <a:prstGeom prst="line">
            <a:avLst/>
          </a:pr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38540" y="3026342"/>
            <a:ext cx="203964" cy="20396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5724" y="8664248"/>
            <a:ext cx="203964" cy="20396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77893" y="4264721"/>
            <a:ext cx="6312831" cy="1844350"/>
            <a:chOff x="0" y="0"/>
            <a:chExt cx="1662639" cy="4857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62639" cy="485755"/>
            </a:xfrm>
            <a:custGeom>
              <a:avLst/>
              <a:gdLst/>
              <a:ahLst/>
              <a:cxnLst/>
              <a:rect r="r" b="b" t="t" l="l"/>
              <a:pathLst>
                <a:path h="485755" w="1662639">
                  <a:moveTo>
                    <a:pt x="62545" y="0"/>
                  </a:moveTo>
                  <a:lnTo>
                    <a:pt x="1600093" y="0"/>
                  </a:lnTo>
                  <a:cubicBezTo>
                    <a:pt x="1634636" y="0"/>
                    <a:pt x="1662639" y="28002"/>
                    <a:pt x="1662639" y="62545"/>
                  </a:cubicBezTo>
                  <a:lnTo>
                    <a:pt x="1662639" y="423209"/>
                  </a:lnTo>
                  <a:cubicBezTo>
                    <a:pt x="1662639" y="457752"/>
                    <a:pt x="1634636" y="485755"/>
                    <a:pt x="1600093" y="485755"/>
                  </a:cubicBezTo>
                  <a:lnTo>
                    <a:pt x="62545" y="485755"/>
                  </a:lnTo>
                  <a:cubicBezTo>
                    <a:pt x="28002" y="485755"/>
                    <a:pt x="0" y="457752"/>
                    <a:pt x="0" y="423209"/>
                  </a:cubicBezTo>
                  <a:lnTo>
                    <a:pt x="0" y="62545"/>
                  </a:lnTo>
                  <a:cubicBezTo>
                    <a:pt x="0" y="28002"/>
                    <a:pt x="28002" y="0"/>
                    <a:pt x="62545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662639" cy="504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777893" y="2196100"/>
            <a:ext cx="6217581" cy="1710358"/>
            <a:chOff x="0" y="0"/>
            <a:chExt cx="1637552" cy="4504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37552" cy="450465"/>
            </a:xfrm>
            <a:custGeom>
              <a:avLst/>
              <a:gdLst/>
              <a:ahLst/>
              <a:cxnLst/>
              <a:rect r="r" b="b" t="t" l="l"/>
              <a:pathLst>
                <a:path h="450465" w="1637552">
                  <a:moveTo>
                    <a:pt x="63503" y="0"/>
                  </a:moveTo>
                  <a:lnTo>
                    <a:pt x="1574049" y="0"/>
                  </a:lnTo>
                  <a:cubicBezTo>
                    <a:pt x="1590891" y="0"/>
                    <a:pt x="1607043" y="6691"/>
                    <a:pt x="1618952" y="18600"/>
                  </a:cubicBezTo>
                  <a:cubicBezTo>
                    <a:pt x="1630862" y="30509"/>
                    <a:pt x="1637552" y="46661"/>
                    <a:pt x="1637552" y="63503"/>
                  </a:cubicBezTo>
                  <a:lnTo>
                    <a:pt x="1637552" y="386961"/>
                  </a:lnTo>
                  <a:cubicBezTo>
                    <a:pt x="1637552" y="403804"/>
                    <a:pt x="1630862" y="419956"/>
                    <a:pt x="1618952" y="431865"/>
                  </a:cubicBezTo>
                  <a:cubicBezTo>
                    <a:pt x="1607043" y="443774"/>
                    <a:pt x="1590891" y="450465"/>
                    <a:pt x="1574049" y="450465"/>
                  </a:cubicBezTo>
                  <a:lnTo>
                    <a:pt x="63503" y="450465"/>
                  </a:lnTo>
                  <a:cubicBezTo>
                    <a:pt x="46661" y="450465"/>
                    <a:pt x="30509" y="443774"/>
                    <a:pt x="18600" y="431865"/>
                  </a:cubicBezTo>
                  <a:cubicBezTo>
                    <a:pt x="6691" y="419956"/>
                    <a:pt x="0" y="403804"/>
                    <a:pt x="0" y="386961"/>
                  </a:cubicBezTo>
                  <a:lnTo>
                    <a:pt x="0" y="63503"/>
                  </a:lnTo>
                  <a:cubicBezTo>
                    <a:pt x="0" y="46661"/>
                    <a:pt x="6691" y="30509"/>
                    <a:pt x="18600" y="18600"/>
                  </a:cubicBezTo>
                  <a:cubicBezTo>
                    <a:pt x="30509" y="6691"/>
                    <a:pt x="46661" y="0"/>
                    <a:pt x="63503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637552" cy="46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777893" y="6410469"/>
            <a:ext cx="6308881" cy="1659684"/>
            <a:chOff x="0" y="0"/>
            <a:chExt cx="1661598" cy="43711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61598" cy="437118"/>
            </a:xfrm>
            <a:custGeom>
              <a:avLst/>
              <a:gdLst/>
              <a:ahLst/>
              <a:cxnLst/>
              <a:rect r="r" b="b" t="t" l="l"/>
              <a:pathLst>
                <a:path h="437118" w="1661598">
                  <a:moveTo>
                    <a:pt x="62584" y="0"/>
                  </a:moveTo>
                  <a:lnTo>
                    <a:pt x="1599014" y="0"/>
                  </a:lnTo>
                  <a:cubicBezTo>
                    <a:pt x="1633578" y="0"/>
                    <a:pt x="1661598" y="28020"/>
                    <a:pt x="1661598" y="62584"/>
                  </a:cubicBezTo>
                  <a:lnTo>
                    <a:pt x="1661598" y="374534"/>
                  </a:lnTo>
                  <a:cubicBezTo>
                    <a:pt x="1661598" y="409098"/>
                    <a:pt x="1633578" y="437118"/>
                    <a:pt x="1599014" y="437118"/>
                  </a:cubicBezTo>
                  <a:lnTo>
                    <a:pt x="62584" y="437118"/>
                  </a:lnTo>
                  <a:cubicBezTo>
                    <a:pt x="45986" y="437118"/>
                    <a:pt x="30067" y="430525"/>
                    <a:pt x="18331" y="418788"/>
                  </a:cubicBezTo>
                  <a:cubicBezTo>
                    <a:pt x="6594" y="407051"/>
                    <a:pt x="0" y="391132"/>
                    <a:pt x="0" y="374534"/>
                  </a:cubicBezTo>
                  <a:lnTo>
                    <a:pt x="0" y="62584"/>
                  </a:lnTo>
                  <a:cubicBezTo>
                    <a:pt x="0" y="28020"/>
                    <a:pt x="28020" y="0"/>
                    <a:pt x="62584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61598" cy="45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777893" y="8406375"/>
            <a:ext cx="6308881" cy="1622232"/>
            <a:chOff x="0" y="0"/>
            <a:chExt cx="1661598" cy="4272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61598" cy="427255"/>
            </a:xfrm>
            <a:custGeom>
              <a:avLst/>
              <a:gdLst/>
              <a:ahLst/>
              <a:cxnLst/>
              <a:rect r="r" b="b" t="t" l="l"/>
              <a:pathLst>
                <a:path h="427255" w="1661598">
                  <a:moveTo>
                    <a:pt x="62584" y="0"/>
                  </a:moveTo>
                  <a:lnTo>
                    <a:pt x="1599014" y="0"/>
                  </a:lnTo>
                  <a:cubicBezTo>
                    <a:pt x="1633578" y="0"/>
                    <a:pt x="1661598" y="28020"/>
                    <a:pt x="1661598" y="62584"/>
                  </a:cubicBezTo>
                  <a:lnTo>
                    <a:pt x="1661598" y="364670"/>
                  </a:lnTo>
                  <a:cubicBezTo>
                    <a:pt x="1661598" y="399235"/>
                    <a:pt x="1633578" y="427255"/>
                    <a:pt x="1599014" y="427255"/>
                  </a:cubicBezTo>
                  <a:lnTo>
                    <a:pt x="62584" y="427255"/>
                  </a:lnTo>
                  <a:cubicBezTo>
                    <a:pt x="45986" y="427255"/>
                    <a:pt x="30067" y="420661"/>
                    <a:pt x="18331" y="408924"/>
                  </a:cubicBezTo>
                  <a:cubicBezTo>
                    <a:pt x="6594" y="397187"/>
                    <a:pt x="0" y="381269"/>
                    <a:pt x="0" y="364670"/>
                  </a:cubicBezTo>
                  <a:lnTo>
                    <a:pt x="0" y="62584"/>
                  </a:lnTo>
                  <a:cubicBezTo>
                    <a:pt x="0" y="28020"/>
                    <a:pt x="28020" y="0"/>
                    <a:pt x="62584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661598" cy="446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835053" y="2334899"/>
            <a:ext cx="6148532" cy="170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Satellite Data Ingestion: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Automatically takes in estimated real-time NASA satellite fire data (Brightness Temperature and Fire Radiative Power)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701477" y="7829351"/>
            <a:ext cx="829101" cy="783500"/>
          </a:xfrm>
          <a:custGeom>
            <a:avLst/>
            <a:gdLst/>
            <a:ahLst/>
            <a:cxnLst/>
            <a:rect r="r" b="b" t="t" l="l"/>
            <a:pathLst>
              <a:path h="783500" w="829101">
                <a:moveTo>
                  <a:pt x="0" y="0"/>
                </a:moveTo>
                <a:lnTo>
                  <a:pt x="829101" y="0"/>
                </a:lnTo>
                <a:lnTo>
                  <a:pt x="829101" y="783501"/>
                </a:lnTo>
                <a:lnTo>
                  <a:pt x="0" y="7835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803468" y="9080555"/>
            <a:ext cx="764648" cy="859155"/>
          </a:xfrm>
          <a:custGeom>
            <a:avLst/>
            <a:gdLst/>
            <a:ahLst/>
            <a:cxnLst/>
            <a:rect r="r" b="b" t="t" l="l"/>
            <a:pathLst>
              <a:path h="859155" w="764648">
                <a:moveTo>
                  <a:pt x="0" y="0"/>
                </a:moveTo>
                <a:lnTo>
                  <a:pt x="764647" y="0"/>
                </a:lnTo>
                <a:lnTo>
                  <a:pt x="764647" y="859155"/>
                </a:lnTo>
                <a:lnTo>
                  <a:pt x="0" y="8591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9" id="49"/>
          <p:cNvSpPr/>
          <p:nvPr/>
        </p:nvSpPr>
        <p:spPr>
          <a:xfrm>
            <a:off x="5267049" y="2014659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9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59" id="59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60" id="60"/>
          <p:cNvSpPr/>
          <p:nvPr/>
        </p:nvSpPr>
        <p:spPr>
          <a:xfrm>
            <a:off x="13414442" y="5352564"/>
            <a:ext cx="1249172" cy="0"/>
          </a:xfrm>
          <a:prstGeom prst="line">
            <a:avLst/>
          </a:prstGeom>
          <a:ln cap="flat" w="66675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9471724" y="5110354"/>
            <a:ext cx="8120187" cy="1426901"/>
            <a:chOff x="0" y="0"/>
            <a:chExt cx="2138650" cy="3758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38650" cy="375809"/>
            </a:xfrm>
            <a:custGeom>
              <a:avLst/>
              <a:gdLst/>
              <a:ahLst/>
              <a:cxnLst/>
              <a:rect r="r" b="b" t="t" l="l"/>
              <a:pathLst>
                <a:path h="375809" w="2138650">
                  <a:moveTo>
                    <a:pt x="48624" y="0"/>
                  </a:moveTo>
                  <a:lnTo>
                    <a:pt x="2090026" y="0"/>
                  </a:lnTo>
                  <a:cubicBezTo>
                    <a:pt x="2116880" y="0"/>
                    <a:pt x="2138650" y="21770"/>
                    <a:pt x="2138650" y="48624"/>
                  </a:cubicBezTo>
                  <a:lnTo>
                    <a:pt x="2138650" y="327185"/>
                  </a:lnTo>
                  <a:cubicBezTo>
                    <a:pt x="2138650" y="340081"/>
                    <a:pt x="2133527" y="352449"/>
                    <a:pt x="2124408" y="361568"/>
                  </a:cubicBezTo>
                  <a:cubicBezTo>
                    <a:pt x="2115289" y="370686"/>
                    <a:pt x="2102922" y="375809"/>
                    <a:pt x="2090026" y="375809"/>
                  </a:cubicBezTo>
                  <a:lnTo>
                    <a:pt x="48624" y="375809"/>
                  </a:lnTo>
                  <a:cubicBezTo>
                    <a:pt x="35728" y="375809"/>
                    <a:pt x="23361" y="370686"/>
                    <a:pt x="14242" y="361568"/>
                  </a:cubicBezTo>
                  <a:cubicBezTo>
                    <a:pt x="5123" y="352449"/>
                    <a:pt x="0" y="340081"/>
                    <a:pt x="0" y="327185"/>
                  </a:cubicBezTo>
                  <a:lnTo>
                    <a:pt x="0" y="48624"/>
                  </a:lnTo>
                  <a:cubicBezTo>
                    <a:pt x="0" y="35728"/>
                    <a:pt x="5123" y="23361"/>
                    <a:pt x="14242" y="14242"/>
                  </a:cubicBezTo>
                  <a:cubicBezTo>
                    <a:pt x="23361" y="5123"/>
                    <a:pt x="35728" y="0"/>
                    <a:pt x="48624" y="0"/>
                  </a:cubicBezTo>
                  <a:close/>
                </a:path>
              </a:pathLst>
            </a:custGeom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138650" cy="394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635825" y="5605386"/>
            <a:ext cx="866639" cy="931870"/>
          </a:xfrm>
          <a:custGeom>
            <a:avLst/>
            <a:gdLst/>
            <a:ahLst/>
            <a:cxnLst/>
            <a:rect r="r" b="b" t="t" l="l"/>
            <a:pathLst>
              <a:path h="931870" w="866639">
                <a:moveTo>
                  <a:pt x="0" y="0"/>
                </a:moveTo>
                <a:lnTo>
                  <a:pt x="866638" y="0"/>
                </a:lnTo>
                <a:lnTo>
                  <a:pt x="866638" y="931870"/>
                </a:lnTo>
                <a:lnTo>
                  <a:pt x="0" y="93187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4708574" y="108577"/>
            <a:ext cx="838973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  <a:spcBef>
                <a:spcPct val="0"/>
              </a:spcBef>
            </a:pPr>
            <a:r>
              <a:rPr lang="en-US" b="true" sz="3699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IGNISSENSE</a:t>
            </a:r>
          </a:p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299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&amp; SATELLITE-POWERED INDUSTRIAL FIRE INTELLIGENCE PLATFORM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596193" y="1745608"/>
            <a:ext cx="4769421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KEY INNOVATIONS AND UNIQUENESS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570852" y="2470332"/>
            <a:ext cx="7384158" cy="67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Class ML &amp; Explainable AI:</a:t>
            </a:r>
            <a:r>
              <a:rPr lang="en-US" sz="20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 Categorises risks and elaborates on alerts with SHAP insights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513702" y="3340536"/>
            <a:ext cx="7441308" cy="10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Dual-Layer Logic &amp; Interoperability: </a:t>
            </a:r>
            <a:r>
              <a:rPr lang="en-US" sz="20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Minimises count of false alarms with persistence baselines; exports GeoJSON/CSV for QGIS and state systems.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248426" y="7077504"/>
            <a:ext cx="364450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ADDRESSING THE PROBLEM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972818" y="4466949"/>
            <a:ext cx="5942810" cy="13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</a:t>
            </a:r>
            <a:r>
              <a:rPr lang="en-US" b="true" sz="2079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eospatial Context Fusion:</a:t>
            </a: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Maps real-time fire warnings to nearby industrial infrastructure using MongoDB spatial indexing + geospatial queries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92972" y="6542032"/>
            <a:ext cx="6102502" cy="13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AI False Alarm Filtering: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Apply</a:t>
            </a: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 XGBoost algorithm to distinguish chimney fires from true incidents, based on thermal oddity patterns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892220" y="8546402"/>
            <a:ext cx="6189384" cy="136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Incident Command Dashboard: </a:t>
            </a:r>
          </a:p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V</a:t>
            </a:r>
            <a:r>
              <a:rPr lang="en-US" sz="2079">
                <a:solidFill>
                  <a:srgbClr val="023D63"/>
                </a:solidFill>
                <a:latin typeface="Helvetica Now"/>
                <a:ea typeface="Helvetica Now"/>
                <a:cs typeface="Helvetica Now"/>
                <a:sym typeface="Helvetica Now"/>
              </a:rPr>
              <a:t>isualize high-risk areas in real-time with single-click GeoJSON export for emergency response teams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537104" y="7800776"/>
            <a:ext cx="7417906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b="true" sz="197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Zero-Lag &amp; Zero CapEx:</a:t>
            </a:r>
            <a:r>
              <a:rPr lang="en-US" sz="19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 Identifies satellite heat signatures within minutes, safeguarding industrial corridors without the use of expensive ground sensors.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664233" y="8993560"/>
            <a:ext cx="7290778" cy="96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b="true" sz="197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Context-Aware Triage &amp; Scale:</a:t>
            </a:r>
            <a:r>
              <a:rPr lang="en-US" sz="19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 Computes hazard proximity to critical architecture for prioritized dispatch—scalable nationwide.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455071" y="1573652"/>
            <a:ext cx="283502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PROPOSED SOLUTION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161330" y="4902072"/>
            <a:ext cx="3639145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023D63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ACTIONABLE INTELLIGENCE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776513" y="5588879"/>
            <a:ext cx="3406445" cy="10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Risk Based Prioritization:</a:t>
            </a:r>
            <a:r>
              <a:rPr lang="en-US" sz="20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 R</a:t>
            </a:r>
            <a:r>
              <a:rPr lang="en-US" sz="20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anks fire alerts using thermal intensity, proximity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255582" y="5588879"/>
            <a:ext cx="3731932" cy="10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Automated Response Alerts:</a:t>
            </a:r>
            <a:r>
              <a:rPr lang="en-US" sz="20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2079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Triggers prioritized notifis with location, risk level, etc</a:t>
            </a:r>
          </a:p>
        </p:txBody>
      </p:sp>
      <p:sp>
        <p:nvSpPr>
          <p:cNvPr name="AutoShape 79" id="79"/>
          <p:cNvSpPr/>
          <p:nvPr/>
        </p:nvSpPr>
        <p:spPr>
          <a:xfrm flipV="true">
            <a:off x="9338374" y="1793233"/>
            <a:ext cx="0" cy="8284012"/>
          </a:xfrm>
          <a:prstGeom prst="line">
            <a:avLst/>
          </a:prstGeom>
          <a:ln cap="flat" w="38100">
            <a:solidFill>
              <a:srgbClr val="023D6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153" y="1597556"/>
            <a:ext cx="2677578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DATA SOURCES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153" y="1991716"/>
            <a:ext cx="2535154" cy="284849"/>
            <a:chOff x="0" y="0"/>
            <a:chExt cx="3255264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5264" cy="365760"/>
            </a:xfrm>
            <a:custGeom>
              <a:avLst/>
              <a:gdLst/>
              <a:ahLst/>
              <a:cxnLst/>
              <a:rect r="r" b="b" t="t" l="l"/>
              <a:pathLst>
                <a:path h="365760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5526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Free, public, updated by others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76314" y="2332937"/>
            <a:ext cx="2564822" cy="29680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797216" y="1597556"/>
            <a:ext cx="2990912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INGESTION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97216" y="2005959"/>
            <a:ext cx="227879" cy="227879"/>
            <a:chOff x="0" y="0"/>
            <a:chExt cx="292608" cy="29260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24792" y="1991716"/>
            <a:ext cx="2563639" cy="284849"/>
            <a:chOff x="0" y="0"/>
            <a:chExt cx="3291840" cy="365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1840" cy="365760"/>
            </a:xfrm>
            <a:custGeom>
              <a:avLst/>
              <a:gdLst/>
              <a:ahLst/>
              <a:cxnLst/>
              <a:rect r="r" b="b" t="t" l="l"/>
              <a:pathLst>
                <a:path h="36576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29184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· Node.js, Express 5, TS · :5001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2782378" y="2332933"/>
            <a:ext cx="2878154" cy="29689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816613" y="1597556"/>
            <a:ext cx="4016367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ENRICH AND FEATURES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16613" y="2005959"/>
            <a:ext cx="227879" cy="227879"/>
            <a:chOff x="0" y="0"/>
            <a:chExt cx="292608" cy="29260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101462" y="2005959"/>
            <a:ext cx="227879" cy="227879"/>
            <a:chOff x="0" y="0"/>
            <a:chExt cx="292608" cy="29260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29038" y="1991716"/>
            <a:ext cx="3304245" cy="284849"/>
            <a:chOff x="0" y="0"/>
            <a:chExt cx="4242816" cy="365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42816" cy="365760"/>
            </a:xfrm>
            <a:custGeom>
              <a:avLst/>
              <a:gdLst/>
              <a:ahLst/>
              <a:cxnLst/>
              <a:rect r="r" b="b" t="t" l="l"/>
              <a:pathLst>
                <a:path h="365760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242816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· MongoDB 2dsphere queries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801774" y="2332925"/>
            <a:ext cx="3903610" cy="2970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861465" y="1597556"/>
            <a:ext cx="2848487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CLASSIFY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61465" y="2005959"/>
            <a:ext cx="227879" cy="227879"/>
            <a:chOff x="0" y="0"/>
            <a:chExt cx="292608" cy="29260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89041" y="1991716"/>
            <a:ext cx="2421214" cy="284849"/>
            <a:chOff x="0" y="0"/>
            <a:chExt cx="3108960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365760"/>
            </a:xfrm>
            <a:custGeom>
              <a:avLst/>
              <a:gdLst/>
              <a:ahLst/>
              <a:cxnLst/>
              <a:rect r="r" b="b" t="t" l="l"/>
              <a:pathLst>
                <a:path h="3657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10896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 · Python, XGBoost 3.4 · :8000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9846630" y="2332951"/>
            <a:ext cx="2735732" cy="29652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2738437" y="1597556"/>
            <a:ext cx="2848487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SCORE AND ALERT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738437" y="2005959"/>
            <a:ext cx="227879" cy="227879"/>
            <a:chOff x="0" y="0"/>
            <a:chExt cx="292608" cy="292608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66013" y="1991716"/>
            <a:ext cx="2421214" cy="284849"/>
            <a:chOff x="0" y="0"/>
            <a:chExt cx="3108960" cy="365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08960" cy="365760"/>
            </a:xfrm>
            <a:custGeom>
              <a:avLst/>
              <a:gdLst/>
              <a:ahLst/>
              <a:cxnLst/>
              <a:rect r="r" b="b" t="t" l="l"/>
              <a:pathLst>
                <a:path h="3657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10896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· rules in TypeScript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723603" y="2332951"/>
            <a:ext cx="2735732" cy="29652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5615410" y="1597556"/>
            <a:ext cx="2748790" cy="26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505" spc="200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STORE AND SERVE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615410" y="2005959"/>
            <a:ext cx="227879" cy="227879"/>
            <a:chOff x="0" y="0"/>
            <a:chExt cx="292608" cy="29260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900258" y="2005959"/>
            <a:ext cx="227879" cy="227879"/>
            <a:chOff x="0" y="0"/>
            <a:chExt cx="292608" cy="292608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292608"/>
                  </a:lnTo>
                  <a:lnTo>
                    <a:pt x="0" y="292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151634" y="1991716"/>
            <a:ext cx="2036669" cy="284849"/>
            <a:chOff x="0" y="0"/>
            <a:chExt cx="2615184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15184" cy="365760"/>
            </a:xfrm>
            <a:custGeom>
              <a:avLst/>
              <a:gdLst/>
              <a:ahLst/>
              <a:cxnLst/>
              <a:rect r="r" b="b" t="t" l="l"/>
              <a:pathLst>
                <a:path h="365760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61518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Atlas · React 19 · :5173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5600578" y="2332939"/>
            <a:ext cx="2636039" cy="296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81262" y="2423341"/>
            <a:ext cx="2554935" cy="2469480"/>
            <a:chOff x="0" y="0"/>
            <a:chExt cx="3280664" cy="31709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80664" cy="3170936"/>
            </a:xfrm>
            <a:custGeom>
              <a:avLst/>
              <a:gdLst/>
              <a:ahLst/>
              <a:cxnLst/>
              <a:rect r="r" b="b" t="t" l="l"/>
              <a:pathLst>
                <a:path h="3170936" w="3280664">
                  <a:moveTo>
                    <a:pt x="0" y="0"/>
                  </a:moveTo>
                  <a:lnTo>
                    <a:pt x="3280664" y="0"/>
                  </a:lnTo>
                  <a:lnTo>
                    <a:pt x="3280664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4012" t="0" r="-74012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2241761" y="2532929"/>
            <a:ext cx="270606" cy="270606"/>
            <a:chOff x="0" y="0"/>
            <a:chExt cx="347472" cy="347472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05092" y="2518687"/>
            <a:ext cx="1993941" cy="341818"/>
            <a:chOff x="0" y="0"/>
            <a:chExt cx="25603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5603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NASA FIRMS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5092" y="2860415"/>
            <a:ext cx="2335760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Area API, near-real-time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05092" y="3112061"/>
            <a:ext cx="2350002" cy="179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VIIRS_SNPP_NRT, VIIRS_NOAA20_NRT, VIIRS_NOAA21_NRT (375 m)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MODIS_NRT on Terra, Aqua (1 km)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CSV over HTTPS with a MAP_KEY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Last 2 days per poll (API allows 1–5)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India rectangle 68–97.5°E, 6.5–37.5°N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1262" y="5043950"/>
            <a:ext cx="2554935" cy="2298571"/>
            <a:chOff x="0" y="0"/>
            <a:chExt cx="3280664" cy="2951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80664" cy="2951480"/>
            </a:xfrm>
            <a:custGeom>
              <a:avLst/>
              <a:gdLst/>
              <a:ahLst/>
              <a:cxnLst/>
              <a:rect r="r" b="b" t="t" l="l"/>
              <a:pathLst>
                <a:path h="2951480" w="3280664">
                  <a:moveTo>
                    <a:pt x="0" y="0"/>
                  </a:moveTo>
                  <a:lnTo>
                    <a:pt x="3280664" y="0"/>
                  </a:lnTo>
                  <a:lnTo>
                    <a:pt x="3280664" y="2951480"/>
                  </a:lnTo>
                  <a:lnTo>
                    <a:pt x="0" y="295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429" t="0" r="-65429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241761" y="5153538"/>
            <a:ext cx="270606" cy="270606"/>
            <a:chOff x="0" y="0"/>
            <a:chExt cx="347472" cy="347472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05092" y="5139295"/>
            <a:ext cx="1993941" cy="341818"/>
            <a:chOff x="0" y="0"/>
            <a:chExt cx="2560320" cy="4389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5603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OpenStreetMap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205092" y="5481023"/>
            <a:ext cx="2335760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Geofabrik India extract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5092" y="5723145"/>
            <a:ext cx="23500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341,086 features across India</a:t>
            </a:r>
          </a:p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Industry, power, oil &amp; gas, mining</a:t>
            </a:r>
          </a:p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Same tag filter as the Overpass extractor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2787325" y="2423341"/>
            <a:ext cx="2868269" cy="2070692"/>
            <a:chOff x="0" y="0"/>
            <a:chExt cx="3683000" cy="26588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83000" cy="2658872"/>
            </a:xfrm>
            <a:custGeom>
              <a:avLst/>
              <a:gdLst/>
              <a:ahLst/>
              <a:cxnLst/>
              <a:rect r="r" b="b" t="t" l="l"/>
              <a:pathLst>
                <a:path h="2658872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2658872"/>
                  </a:lnTo>
                  <a:lnTo>
                    <a:pt x="0" y="26588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26" t="0" r="-42626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2901265" y="2523039"/>
            <a:ext cx="333115" cy="333115"/>
            <a:chOff x="0" y="0"/>
            <a:chExt cx="427736" cy="4277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911156" y="2532929"/>
            <a:ext cx="313334" cy="313334"/>
            <a:chOff x="0" y="0"/>
            <a:chExt cx="402336" cy="4023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61158" y="2532929"/>
            <a:ext cx="270606" cy="270606"/>
            <a:chOff x="0" y="0"/>
            <a:chExt cx="347472" cy="347472"/>
          </a:xfrm>
        </p:grpSpPr>
        <p:sp>
          <p:nvSpPr>
            <p:cNvPr name="Freeform 72" id="72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3309944" y="2518687"/>
            <a:ext cx="1908487" cy="341818"/>
            <a:chOff x="0" y="0"/>
            <a:chExt cx="2450592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50592" cy="438912"/>
            </a:xfrm>
            <a:custGeom>
              <a:avLst/>
              <a:gdLst/>
              <a:ahLst/>
              <a:cxnLst/>
              <a:rect r="r" b="b" t="t" l="l"/>
              <a:pathLst>
                <a:path h="438912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245059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Pull satellite data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2911156" y="2860415"/>
            <a:ext cx="2649093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firms.client.ts · scheduler.ts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911156" y="3112061"/>
            <a:ext cx="2663336" cy="126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4 FIRMS products, fetched one after another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Every 5 min; runs never overlap; catch-up after a restart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4 requests per cycle; limit is 5,000 per 10 min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One IngestionLog row per product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2787325" y="4673647"/>
            <a:ext cx="2868269" cy="2668874"/>
            <a:chOff x="0" y="0"/>
            <a:chExt cx="3683000" cy="34269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83000" cy="3426968"/>
            </a:xfrm>
            <a:custGeom>
              <a:avLst/>
              <a:gdLst/>
              <a:ahLst/>
              <a:cxnLst/>
              <a:rect r="r" b="b" t="t" l="l"/>
              <a:pathLst>
                <a:path h="3426968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3426968"/>
                  </a:lnTo>
                  <a:lnTo>
                    <a:pt x="0" y="3426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384" t="0" r="-69384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2901265" y="4773344"/>
            <a:ext cx="333115" cy="333115"/>
            <a:chOff x="0" y="0"/>
            <a:chExt cx="427736" cy="427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2911156" y="4783234"/>
            <a:ext cx="313334" cy="313334"/>
            <a:chOff x="0" y="0"/>
            <a:chExt cx="402336" cy="4023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261158" y="4783234"/>
            <a:ext cx="270606" cy="270606"/>
            <a:chOff x="0" y="0"/>
            <a:chExt cx="347472" cy="347472"/>
          </a:xfrm>
        </p:grpSpPr>
        <p:sp>
          <p:nvSpPr>
            <p:cNvPr name="Freeform 86" id="86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309944" y="4768992"/>
            <a:ext cx="1908487" cy="341818"/>
            <a:chOff x="0" y="0"/>
            <a:chExt cx="2450592" cy="4389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50592" cy="438912"/>
            </a:xfrm>
            <a:custGeom>
              <a:avLst/>
              <a:gdLst/>
              <a:ahLst/>
              <a:cxnLst/>
              <a:rect r="r" b="b" t="t" l="l"/>
              <a:pathLst>
                <a:path h="438912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245059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and deduplicate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2911156" y="5110720"/>
            <a:ext cx="2649093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ingestion.service.ts · indiaBoundary.ts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877428" y="5469360"/>
            <a:ext cx="2663336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VIIRS I-4/I-5 and MODIS 21/31 mapped to one schema</a:t>
            </a:r>
          </a:p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Malformed rows dropped</a:t>
            </a:r>
          </a:p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Point-in-polygon test against India's boundary</a:t>
            </a:r>
          </a:p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Unique index on location, time, satellite, sensor</a:t>
            </a:r>
          </a:p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457,869 repeat rows rejected so far</a:t>
            </a:r>
          </a:p>
        </p:txBody>
      </p:sp>
      <p:sp>
        <p:nvSpPr>
          <p:cNvPr name="AutoShape 92" id="92"/>
          <p:cNvSpPr/>
          <p:nvPr/>
        </p:nvSpPr>
        <p:spPr>
          <a:xfrm>
            <a:off x="4209096" y="4500264"/>
            <a:ext cx="24728" cy="167152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3" id="93"/>
          <p:cNvGrpSpPr/>
          <p:nvPr/>
        </p:nvGrpSpPr>
        <p:grpSpPr>
          <a:xfrm rot="0">
            <a:off x="5806722" y="2423341"/>
            <a:ext cx="3893724" cy="1614934"/>
            <a:chOff x="0" y="0"/>
            <a:chExt cx="4999736" cy="20736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99736" cy="2073656"/>
            </a:xfrm>
            <a:custGeom>
              <a:avLst/>
              <a:gdLst/>
              <a:ahLst/>
              <a:cxnLst/>
              <a:rect r="r" b="b" t="t" l="l"/>
              <a:pathLst>
                <a:path h="2073656" w="4999736">
                  <a:moveTo>
                    <a:pt x="0" y="0"/>
                  </a:moveTo>
                  <a:lnTo>
                    <a:pt x="4999736" y="0"/>
                  </a:lnTo>
                  <a:lnTo>
                    <a:pt x="4999736" y="2073656"/>
                  </a:lnTo>
                  <a:lnTo>
                    <a:pt x="0" y="2073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14" t="0" r="-3214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5920662" y="2523039"/>
            <a:ext cx="333115" cy="333115"/>
            <a:chOff x="0" y="0"/>
            <a:chExt cx="427736" cy="4277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5930552" y="2532929"/>
            <a:ext cx="313334" cy="313334"/>
            <a:chOff x="0" y="0"/>
            <a:chExt cx="402336" cy="40233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06010" y="2532929"/>
            <a:ext cx="270606" cy="270606"/>
            <a:chOff x="0" y="0"/>
            <a:chExt cx="347472" cy="347472"/>
          </a:xfrm>
        </p:grpSpPr>
        <p:sp>
          <p:nvSpPr>
            <p:cNvPr name="Freeform 101" id="101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329341" y="2518687"/>
            <a:ext cx="2933942" cy="341818"/>
            <a:chOff x="0" y="0"/>
            <a:chExt cx="3767328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767328" cy="438912"/>
            </a:xfrm>
            <a:custGeom>
              <a:avLst/>
              <a:gdLst/>
              <a:ahLst/>
              <a:cxnLst/>
              <a:rect r="r" b="b" t="t" l="l"/>
              <a:pathLst>
                <a:path h="438912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3767328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Spatial enrichment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5930552" y="2860415"/>
            <a:ext cx="367454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enrichment.service.ts · taxonomy.ts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916310" y="3029487"/>
            <a:ext cx="3688791" cy="909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Nearest OSM feature within 25 km ($nearSphere, 2dsphere); closest category wins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9 categories: industrial, oil &amp; gas, mining, power, forest, agriculture, urban, water, other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Land cover inferred from that category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5806722" y="4160919"/>
            <a:ext cx="3893724" cy="1871298"/>
            <a:chOff x="0" y="0"/>
            <a:chExt cx="4999736" cy="24028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999736" cy="2402840"/>
            </a:xfrm>
            <a:custGeom>
              <a:avLst/>
              <a:gdLst/>
              <a:ahLst/>
              <a:cxnLst/>
              <a:rect r="r" b="b" t="t" l="l"/>
              <a:pathLst>
                <a:path h="2402840" w="4999736">
                  <a:moveTo>
                    <a:pt x="0" y="0"/>
                  </a:moveTo>
                  <a:lnTo>
                    <a:pt x="4999736" y="0"/>
                  </a:lnTo>
                  <a:lnTo>
                    <a:pt x="4999736" y="2402840"/>
                  </a:lnTo>
                  <a:lnTo>
                    <a:pt x="0" y="2402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661" t="0" r="-11661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5920662" y="4260616"/>
            <a:ext cx="333115" cy="333115"/>
            <a:chOff x="0" y="0"/>
            <a:chExt cx="427736" cy="42773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5930552" y="4270506"/>
            <a:ext cx="313334" cy="313334"/>
            <a:chOff x="0" y="0"/>
            <a:chExt cx="402336" cy="40233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306010" y="4270506"/>
            <a:ext cx="270606" cy="270606"/>
            <a:chOff x="0" y="0"/>
            <a:chExt cx="347472" cy="347472"/>
          </a:xfrm>
        </p:grpSpPr>
        <p:sp>
          <p:nvSpPr>
            <p:cNvPr name="Freeform 115" id="115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329341" y="4256264"/>
            <a:ext cx="2933942" cy="341818"/>
            <a:chOff x="0" y="0"/>
            <a:chExt cx="3767328" cy="4389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767328" cy="438912"/>
            </a:xfrm>
            <a:custGeom>
              <a:avLst/>
              <a:gdLst/>
              <a:ahLst/>
              <a:cxnLst/>
              <a:rect r="r" b="b" t="t" l="l"/>
              <a:pathLst>
                <a:path h="438912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3767328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feature vector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5930552" y="4597992"/>
            <a:ext cx="367454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feature.extractor.ts · featureContract.ts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930552" y="4849639"/>
            <a:ext cx="3688791" cy="108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14 values per detection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Radiometry: FRP, TI4, TI5, ΔT, confidence, day/night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Context: facility distance and type, land cover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History: 3 km / 72 h cluster, 1.5 km recurrence, mean FRP, z-score, days since last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New detections classified 15 at a time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5788128" y="6154860"/>
            <a:ext cx="3912318" cy="1305952"/>
            <a:chOff x="0" y="0"/>
            <a:chExt cx="4999736" cy="166893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999736" cy="1668938"/>
            </a:xfrm>
            <a:custGeom>
              <a:avLst/>
              <a:gdLst/>
              <a:ahLst/>
              <a:cxnLst/>
              <a:rect r="r" b="b" t="t" l="l"/>
              <a:pathLst>
                <a:path h="1668938" w="4999736">
                  <a:moveTo>
                    <a:pt x="0" y="0"/>
                  </a:moveTo>
                  <a:lnTo>
                    <a:pt x="4999736" y="0"/>
                  </a:lnTo>
                  <a:lnTo>
                    <a:pt x="4999736" y="1668938"/>
                  </a:lnTo>
                  <a:lnTo>
                    <a:pt x="0" y="16689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84" r="0" b="-406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5920662" y="6254557"/>
            <a:ext cx="333115" cy="333115"/>
            <a:chOff x="0" y="0"/>
            <a:chExt cx="427736" cy="42773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5930552" y="6264448"/>
            <a:ext cx="313334" cy="313334"/>
            <a:chOff x="0" y="0"/>
            <a:chExt cx="402336" cy="40233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06010" y="6264448"/>
            <a:ext cx="270606" cy="270606"/>
            <a:chOff x="0" y="0"/>
            <a:chExt cx="347472" cy="347472"/>
          </a:xfrm>
        </p:grpSpPr>
        <p:sp>
          <p:nvSpPr>
            <p:cNvPr name="Freeform 129" id="129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6329341" y="6250205"/>
            <a:ext cx="2933942" cy="341818"/>
            <a:chOff x="0" y="0"/>
            <a:chExt cx="3767328" cy="43891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767328" cy="438912"/>
            </a:xfrm>
            <a:custGeom>
              <a:avLst/>
              <a:gdLst/>
              <a:ahLst/>
              <a:cxnLst/>
              <a:rect r="r" b="b" t="t" l="l"/>
              <a:pathLst>
                <a:path h="438912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246" r="0" b="-11724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3767328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Completeness check</a:t>
              </a:r>
            </a:p>
          </p:txBody>
        </p:sp>
      </p:grpSp>
      <p:sp>
        <p:nvSpPr>
          <p:cNvPr name="TextBox 133" id="133"/>
          <p:cNvSpPr txBox="true"/>
          <p:nvPr/>
        </p:nvSpPr>
        <p:spPr>
          <a:xfrm rot="0">
            <a:off x="5930552" y="6591934"/>
            <a:ext cx="367454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classification.service.ts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930552" y="6843580"/>
            <a:ext cx="3688791" cy="55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10 of the 14 must resolve; the 4 history features may be empty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If not: stored as </a:t>
            </a:r>
            <a:r>
              <a:rPr lang="en-US" b="true" sz="1194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unclassified</a:t>
            </a: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, no model call (229 so far)</a:t>
            </a:r>
          </a:p>
        </p:txBody>
      </p:sp>
      <p:sp>
        <p:nvSpPr>
          <p:cNvPr name="AutoShape 135" id="135"/>
          <p:cNvSpPr/>
          <p:nvPr/>
        </p:nvSpPr>
        <p:spPr>
          <a:xfrm>
            <a:off x="7741216" y="4044507"/>
            <a:ext cx="24727" cy="110180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6" id="136"/>
          <p:cNvSpPr/>
          <p:nvPr/>
        </p:nvSpPr>
        <p:spPr>
          <a:xfrm>
            <a:off x="7741216" y="6038448"/>
            <a:ext cx="24727" cy="110180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7" id="137"/>
          <p:cNvGrpSpPr/>
          <p:nvPr/>
        </p:nvGrpSpPr>
        <p:grpSpPr>
          <a:xfrm rot="0">
            <a:off x="9851574" y="2423341"/>
            <a:ext cx="2725844" cy="2868269"/>
            <a:chOff x="0" y="0"/>
            <a:chExt cx="3500120" cy="36830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001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3683000"/>
                  </a:lnTo>
                  <a:lnTo>
                    <a:pt x="0" y="3683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007" t="0" r="-85007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9965514" y="2523039"/>
            <a:ext cx="333115" cy="333115"/>
            <a:chOff x="0" y="0"/>
            <a:chExt cx="427736" cy="42773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9975404" y="2532929"/>
            <a:ext cx="313334" cy="313334"/>
            <a:chOff x="0" y="0"/>
            <a:chExt cx="402336" cy="40233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182982" y="2532929"/>
            <a:ext cx="270606" cy="270606"/>
            <a:chOff x="0" y="0"/>
            <a:chExt cx="347472" cy="347472"/>
          </a:xfrm>
        </p:grpSpPr>
        <p:sp>
          <p:nvSpPr>
            <p:cNvPr name="Freeform 145" id="145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374193" y="2518687"/>
            <a:ext cx="1766062" cy="341818"/>
            <a:chOff x="0" y="0"/>
            <a:chExt cx="2267712" cy="43891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267712" cy="438912"/>
            </a:xfrm>
            <a:custGeom>
              <a:avLst/>
              <a:gdLst/>
              <a:ahLst/>
              <a:cxnLst/>
              <a:rect r="r" b="b" t="t" l="l"/>
              <a:pathLst>
                <a:path h="438912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22677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9975404" y="2860415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service.py · feature_frame.py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9975404" y="3112061"/>
            <a:ext cx="2520911" cy="179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POST /predict on a stdlib HTTP server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HTTP 400 if a required feature is missing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Empty history → 0; days_since stays NaN; same code as train.py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 XGB-FIRMS-v2.0.0-INDIA returns the class and all 6 probabilities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Service down: no prediction, row tagged -OFFLINE (153 so far)</a:t>
            </a:r>
          </a:p>
        </p:txBody>
      </p:sp>
      <p:grpSp>
        <p:nvGrpSpPr>
          <p:cNvPr name="Group 151" id="151"/>
          <p:cNvGrpSpPr/>
          <p:nvPr/>
        </p:nvGrpSpPr>
        <p:grpSpPr>
          <a:xfrm rot="0">
            <a:off x="9851574" y="5442738"/>
            <a:ext cx="2725844" cy="1899783"/>
            <a:chOff x="0" y="0"/>
            <a:chExt cx="3500120" cy="243941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500120" cy="2439416"/>
            </a:xfrm>
            <a:custGeom>
              <a:avLst/>
              <a:gdLst/>
              <a:ahLst/>
              <a:cxnLst/>
              <a:rect r="r" b="b" t="t" l="l"/>
              <a:pathLst>
                <a:path h="2439416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2439416"/>
                  </a:lnTo>
                  <a:lnTo>
                    <a:pt x="0" y="24394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421" t="0" r="-39421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12182982" y="5552326"/>
            <a:ext cx="270606" cy="270606"/>
            <a:chOff x="0" y="0"/>
            <a:chExt cx="347472" cy="347472"/>
          </a:xfrm>
        </p:grpSpPr>
        <p:sp>
          <p:nvSpPr>
            <p:cNvPr name="Freeform 154" id="154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975404" y="5538083"/>
            <a:ext cx="2164850" cy="341818"/>
            <a:chOff x="0" y="0"/>
            <a:chExt cx="2779776" cy="43891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779776" cy="438912"/>
            </a:xfrm>
            <a:custGeom>
              <a:avLst/>
              <a:gdLst/>
              <a:ahLst/>
              <a:cxnLst/>
              <a:rect r="r" b="b" t="t" l="l"/>
              <a:pathLst>
                <a:path h="438912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277977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was trained</a:t>
              </a:r>
            </a:p>
          </p:txBody>
        </p:sp>
      </p:grpSp>
      <p:sp>
        <p:nvSpPr>
          <p:cNvPr name="TextBox 158" id="158"/>
          <p:cNvSpPr txBox="true"/>
          <p:nvPr/>
        </p:nvSpPr>
        <p:spPr>
          <a:xfrm rot="0">
            <a:off x="9975404" y="5879812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build_labels.py · train.py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975404" y="6121933"/>
            <a:ext cx="252091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FIRMS archive 2022–24, independent labels</a:t>
            </a:r>
          </a:p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0.5° blocks; train 2023, test 2024</a:t>
            </a:r>
          </a:p>
          <a:p>
            <a:pPr algn="l" marL="234206" indent="-117103" lvl="1">
              <a:lnSpc>
                <a:spcPts val="1552"/>
              </a:lnSpc>
              <a:buFont typeface="Arial"/>
              <a:buChar char="•"/>
            </a:pPr>
            <a:r>
              <a:rPr lang="en-US" sz="12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Macro-F1 0.55 on held-out 2024 regions (distance rule 0.41)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12728547" y="2423341"/>
            <a:ext cx="2725844" cy="2327056"/>
            <a:chOff x="0" y="0"/>
            <a:chExt cx="3500120" cy="298805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500120" cy="2988056"/>
            </a:xfrm>
            <a:custGeom>
              <a:avLst/>
              <a:gdLst/>
              <a:ahLst/>
              <a:cxnLst/>
              <a:rect r="r" b="b" t="t" l="l"/>
              <a:pathLst>
                <a:path h="2988056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2988056"/>
                  </a:lnTo>
                  <a:lnTo>
                    <a:pt x="0" y="2988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532" t="0" r="-59532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62" id="162"/>
          <p:cNvGrpSpPr/>
          <p:nvPr/>
        </p:nvGrpSpPr>
        <p:grpSpPr>
          <a:xfrm rot="0">
            <a:off x="12842486" y="2523039"/>
            <a:ext cx="333115" cy="333115"/>
            <a:chOff x="0" y="0"/>
            <a:chExt cx="427736" cy="42773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852377" y="2532929"/>
            <a:ext cx="313334" cy="313334"/>
            <a:chOff x="0" y="0"/>
            <a:chExt cx="402336" cy="40233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059955" y="2532929"/>
            <a:ext cx="270606" cy="270606"/>
            <a:chOff x="0" y="0"/>
            <a:chExt cx="347472" cy="347472"/>
          </a:xfrm>
        </p:grpSpPr>
        <p:sp>
          <p:nvSpPr>
            <p:cNvPr name="Freeform 168" id="168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251165" y="2518687"/>
            <a:ext cx="1766062" cy="341818"/>
            <a:chOff x="0" y="0"/>
            <a:chExt cx="2267712" cy="43891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267712" cy="438912"/>
            </a:xfrm>
            <a:custGeom>
              <a:avLst/>
              <a:gdLst/>
              <a:ahLst/>
              <a:cxnLst/>
              <a:rect r="r" b="b" t="t" l="l"/>
              <a:pathLst>
                <a:path h="438912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28575"/>
              <a:ext cx="22677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 and raise alerts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12852377" y="2860415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classification.service.ts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2852377" y="3102536"/>
            <a:ext cx="252091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Persistence and anomaly scores (0–1), rule-based</a:t>
            </a:r>
          </a:p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Alert when anomaly ≥ 0.65 and the facility is ≤ 1.5 km</a:t>
            </a:r>
          </a:p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at anomaly ≥ 0.80</a:t>
            </a:r>
          </a:p>
          <a:p>
            <a:pPr algn="l" marL="252303" indent="-126151" lvl="1">
              <a:lnSpc>
                <a:spcPts val="1672"/>
              </a:lnSpc>
              <a:buFont typeface="Arial"/>
              <a:buChar char="•"/>
            </a:pPr>
            <a:r>
              <a:rPr lang="en-US" sz="13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Explanation text built from the features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12728547" y="4901526"/>
            <a:ext cx="2725844" cy="2440995"/>
            <a:chOff x="0" y="0"/>
            <a:chExt cx="3500120" cy="31343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50012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3134360"/>
                  </a:lnTo>
                  <a:lnTo>
                    <a:pt x="0" y="3134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895" t="0" r="-64895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76" id="176"/>
          <p:cNvGrpSpPr/>
          <p:nvPr/>
        </p:nvGrpSpPr>
        <p:grpSpPr>
          <a:xfrm rot="0">
            <a:off x="15059955" y="5011113"/>
            <a:ext cx="270606" cy="270606"/>
            <a:chOff x="0" y="0"/>
            <a:chExt cx="347472" cy="347472"/>
          </a:xfrm>
        </p:grpSpPr>
        <p:sp>
          <p:nvSpPr>
            <p:cNvPr name="Freeform 177" id="177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852377" y="4996871"/>
            <a:ext cx="2164850" cy="341818"/>
            <a:chOff x="0" y="0"/>
            <a:chExt cx="2779776" cy="438912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779776" cy="438912"/>
            </a:xfrm>
            <a:custGeom>
              <a:avLst/>
              <a:gdLst/>
              <a:ahLst/>
              <a:cxnLst/>
              <a:rect r="r" b="b" t="t" l="l"/>
              <a:pathLst>
                <a:path h="438912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28575"/>
              <a:ext cx="277977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lifecycle</a:t>
              </a:r>
            </a:p>
          </p:txBody>
        </p:sp>
      </p:grpSp>
      <p:sp>
        <p:nvSpPr>
          <p:cNvPr name="TextBox 181" id="181"/>
          <p:cNvSpPr txBox="true"/>
          <p:nvPr/>
        </p:nvSpPr>
        <p:spPr>
          <a:xfrm rot="0">
            <a:off x="12852377" y="5338599"/>
            <a:ext cx="2506669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alert.model.ts · AlertsPage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2852377" y="5580721"/>
            <a:ext cx="2520911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0400" indent="-135200" lvl="1">
              <a:lnSpc>
                <a:spcPts val="1792"/>
              </a:lnSpc>
              <a:buFont typeface="Arial"/>
              <a:buChar char="•"/>
            </a:pPr>
            <a:r>
              <a:rPr lang="en-US" sz="14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open → acknowledged → resolved, set by an officer</a:t>
            </a:r>
          </a:p>
          <a:p>
            <a:pPr algn="l" marL="270400" indent="-135200" lvl="1">
              <a:lnSpc>
                <a:spcPts val="1792"/>
              </a:lnSpc>
              <a:buFont typeface="Arial"/>
              <a:buChar char="•"/>
            </a:pPr>
            <a:r>
              <a:rPr lang="en-US" sz="14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Sort by latest, severity or anomaly; filter by severity</a:t>
            </a:r>
          </a:p>
          <a:p>
            <a:pPr algn="l" marL="270400" indent="-135200" lvl="1">
              <a:lnSpc>
                <a:spcPts val="1792"/>
              </a:lnSpc>
              <a:buFont typeface="Arial"/>
              <a:buChar char="•"/>
            </a:pPr>
            <a:r>
              <a:rPr lang="en-US" sz="14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74 alerts so far: 34 critical, 37 high, 3 medium</a:t>
            </a:r>
          </a:p>
        </p:txBody>
      </p:sp>
      <p:sp>
        <p:nvSpPr>
          <p:cNvPr name="AutoShape 183" id="183"/>
          <p:cNvSpPr/>
          <p:nvPr/>
        </p:nvSpPr>
        <p:spPr>
          <a:xfrm>
            <a:off x="14079100" y="4756629"/>
            <a:ext cx="24727" cy="13866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4" id="184"/>
          <p:cNvGrpSpPr/>
          <p:nvPr/>
        </p:nvGrpSpPr>
        <p:grpSpPr>
          <a:xfrm rot="0">
            <a:off x="15605519" y="2423341"/>
            <a:ext cx="2626147" cy="2042207"/>
            <a:chOff x="0" y="0"/>
            <a:chExt cx="3372104" cy="2622296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3372104" cy="2622296"/>
            </a:xfrm>
            <a:custGeom>
              <a:avLst/>
              <a:gdLst/>
              <a:ahLst/>
              <a:cxnLst/>
              <a:rect r="r" b="b" t="t" l="l"/>
              <a:pathLst>
                <a:path h="2622296" w="3372104">
                  <a:moveTo>
                    <a:pt x="0" y="0"/>
                  </a:moveTo>
                  <a:lnTo>
                    <a:pt x="3372104" y="0"/>
                  </a:lnTo>
                  <a:lnTo>
                    <a:pt x="3372104" y="2622296"/>
                  </a:lnTo>
                  <a:lnTo>
                    <a:pt x="0" y="2622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774" t="0" r="-49774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86" id="186"/>
          <p:cNvGrpSpPr/>
          <p:nvPr/>
        </p:nvGrpSpPr>
        <p:grpSpPr>
          <a:xfrm rot="0">
            <a:off x="17761030" y="2532929"/>
            <a:ext cx="270606" cy="270606"/>
            <a:chOff x="0" y="0"/>
            <a:chExt cx="347472" cy="347472"/>
          </a:xfrm>
        </p:grpSpPr>
        <p:sp>
          <p:nvSpPr>
            <p:cNvPr name="Freeform 187" id="187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5729349" y="2518687"/>
            <a:ext cx="2065153" cy="341818"/>
            <a:chOff x="0" y="0"/>
            <a:chExt cx="2651760" cy="43891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651760" cy="438912"/>
            </a:xfrm>
            <a:custGeom>
              <a:avLst/>
              <a:gdLst/>
              <a:ahLst/>
              <a:cxnLst/>
              <a:rect r="r" b="b" t="t" l="l"/>
              <a:pathLst>
                <a:path h="43891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722" r="0" b="-67722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28575"/>
              <a:ext cx="26517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Atlas</a:t>
              </a:r>
            </a:p>
          </p:txBody>
        </p:sp>
      </p:grpSp>
      <p:sp>
        <p:nvSpPr>
          <p:cNvPr name="TextBox 191" id="191"/>
          <p:cNvSpPr txBox="true"/>
          <p:nvPr/>
        </p:nvSpPr>
        <p:spPr>
          <a:xfrm rot="0">
            <a:off x="15729349" y="2860415"/>
            <a:ext cx="2406972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geospatial store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15729349" y="3126304"/>
            <a:ext cx="1281819" cy="73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hotspots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classifications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alerts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osmfeatures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6863756" y="3126304"/>
            <a:ext cx="1253334" cy="73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osmtiles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facilities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ingestionlogs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geocodecaches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5729349" y="3857386"/>
            <a:ext cx="2406972" cy="3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2dsphere on hotspots and osmfeatures; unique dedup index</a:t>
            </a:r>
          </a:p>
        </p:txBody>
      </p:sp>
      <p:grpSp>
        <p:nvGrpSpPr>
          <p:cNvPr name="Group 195" id="195"/>
          <p:cNvGrpSpPr/>
          <p:nvPr/>
        </p:nvGrpSpPr>
        <p:grpSpPr>
          <a:xfrm rot="0">
            <a:off x="15605519" y="4616677"/>
            <a:ext cx="2626147" cy="2844136"/>
            <a:chOff x="0" y="0"/>
            <a:chExt cx="3372104" cy="3652012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372104" cy="3652012"/>
            </a:xfrm>
            <a:custGeom>
              <a:avLst/>
              <a:gdLst/>
              <a:ahLst/>
              <a:cxnLst/>
              <a:rect r="r" b="b" t="t" l="l"/>
              <a:pathLst>
                <a:path h="3652012" w="3372104">
                  <a:moveTo>
                    <a:pt x="0" y="0"/>
                  </a:moveTo>
                  <a:lnTo>
                    <a:pt x="3372104" y="0"/>
                  </a:lnTo>
                  <a:lnTo>
                    <a:pt x="3372104" y="3652012"/>
                  </a:lnTo>
                  <a:lnTo>
                    <a:pt x="0" y="3652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74" t="0" r="-83174" b="4159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97" id="197"/>
          <p:cNvGrpSpPr/>
          <p:nvPr/>
        </p:nvGrpSpPr>
        <p:grpSpPr>
          <a:xfrm rot="0">
            <a:off x="15719459" y="4716374"/>
            <a:ext cx="333115" cy="333115"/>
            <a:chOff x="0" y="0"/>
            <a:chExt cx="427736" cy="42773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27736" cy="427736"/>
            </a:xfrm>
            <a:custGeom>
              <a:avLst/>
              <a:gdLst/>
              <a:ahLst/>
              <a:cxnLst/>
              <a:rect r="r" b="b" t="t" l="l"/>
              <a:pathLst>
                <a:path h="427736" w="427736">
                  <a:moveTo>
                    <a:pt x="0" y="213868"/>
                  </a:moveTo>
                  <a:cubicBezTo>
                    <a:pt x="0" y="95758"/>
                    <a:pt x="95758" y="0"/>
                    <a:pt x="213868" y="0"/>
                  </a:cubicBezTo>
                  <a:cubicBezTo>
                    <a:pt x="331978" y="0"/>
                    <a:pt x="427736" y="95758"/>
                    <a:pt x="427736" y="213868"/>
                  </a:cubicBezTo>
                  <a:cubicBezTo>
                    <a:pt x="427736" y="331978"/>
                    <a:pt x="331978" y="427736"/>
                    <a:pt x="213868" y="427736"/>
                  </a:cubicBezTo>
                  <a:cubicBezTo>
                    <a:pt x="95758" y="427736"/>
                    <a:pt x="0" y="331978"/>
                    <a:pt x="0" y="213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199" id="199"/>
          <p:cNvGrpSpPr/>
          <p:nvPr/>
        </p:nvGrpSpPr>
        <p:grpSpPr>
          <a:xfrm rot="0">
            <a:off x="15729349" y="4726264"/>
            <a:ext cx="313334" cy="313334"/>
            <a:chOff x="0" y="0"/>
            <a:chExt cx="402336" cy="402336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28575"/>
              <a:ext cx="402336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7761030" y="4726264"/>
            <a:ext cx="270606" cy="270606"/>
            <a:chOff x="0" y="0"/>
            <a:chExt cx="347472" cy="347472"/>
          </a:xfrm>
        </p:grpSpPr>
        <p:sp>
          <p:nvSpPr>
            <p:cNvPr name="Freeform 203" id="203" descr="preencoded.png"/>
            <p:cNvSpPr/>
            <p:nvPr/>
          </p:nvSpPr>
          <p:spPr>
            <a:xfrm flipH="false" flipV="false" rot="0">
              <a:off x="0" y="0"/>
              <a:ext cx="347472" cy="347472"/>
            </a:xfrm>
            <a:custGeom>
              <a:avLst/>
              <a:gdLst/>
              <a:ahLst/>
              <a:cxnLst/>
              <a:rect r="r" b="b" t="t" l="l"/>
              <a:pathLst>
                <a:path h="347472" w="347472">
                  <a:moveTo>
                    <a:pt x="0" y="0"/>
                  </a:moveTo>
                  <a:lnTo>
                    <a:pt x="347472" y="0"/>
                  </a:lnTo>
                  <a:lnTo>
                    <a:pt x="347472" y="347472"/>
                  </a:lnTo>
                  <a:lnTo>
                    <a:pt x="0" y="347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6128137" y="4712022"/>
            <a:ext cx="1666365" cy="341818"/>
            <a:chOff x="0" y="0"/>
            <a:chExt cx="2139696" cy="438912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139696" cy="438912"/>
            </a:xfrm>
            <a:custGeom>
              <a:avLst/>
              <a:gdLst/>
              <a:ahLst/>
              <a:cxnLst/>
              <a:rect r="r" b="b" t="t" l="l"/>
              <a:pathLst>
                <a:path h="438912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28575"/>
              <a:ext cx="213969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3"/>
                </a:lnSpc>
              </a:pPr>
              <a:r>
                <a:rPr lang="en-US" sz="1494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 the map</a:t>
              </a:r>
            </a:p>
          </p:txBody>
        </p:sp>
      </p:grpSp>
      <p:sp>
        <p:nvSpPr>
          <p:cNvPr name="TextBox 207" id="207"/>
          <p:cNvSpPr txBox="true"/>
          <p:nvPr/>
        </p:nvSpPr>
        <p:spPr>
          <a:xfrm rot="0">
            <a:off x="15729349" y="5053750"/>
            <a:ext cx="2406972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app.ts · MapView.tsx</a:t>
            </a:r>
          </a:p>
        </p:txBody>
      </p:sp>
      <p:sp>
        <p:nvSpPr>
          <p:cNvPr name="TextBox 208" id="208"/>
          <p:cNvSpPr txBox="true"/>
          <p:nvPr/>
        </p:nvSpPr>
        <p:spPr>
          <a:xfrm rot="0">
            <a:off x="15729349" y="5305397"/>
            <a:ext cx="2421214" cy="215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REST /api/v1 with a {success, data, error} envelope; Helmet; 500 req / 15 min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MapLibre GL map with layers and filters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Unclassified shown as hollow rings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coordinates, places, facilities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Detail panel: facility, district, FRP history</a:t>
            </a:r>
          </a:p>
          <a:p>
            <a:pPr algn="l" marL="216109" indent="-108054" lvl="1">
              <a:lnSpc>
                <a:spcPts val="1432"/>
              </a:lnSpc>
              <a:buFont typeface="Arial"/>
              <a:buChar char="•"/>
            </a:pPr>
            <a:r>
              <a:rPr lang="en-US" sz="119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TanStack Query refresh every 15–60 s</a:t>
            </a:r>
          </a:p>
        </p:txBody>
      </p:sp>
      <p:sp>
        <p:nvSpPr>
          <p:cNvPr name="AutoShape 209" id="209"/>
          <p:cNvSpPr/>
          <p:nvPr/>
        </p:nvSpPr>
        <p:spPr>
          <a:xfrm>
            <a:off x="16830024" y="4471781"/>
            <a:ext cx="24727" cy="13866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0" id="210"/>
          <p:cNvSpPr/>
          <p:nvPr/>
        </p:nvSpPr>
        <p:spPr>
          <a:xfrm>
            <a:off x="2628186" y="341783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1" id="211"/>
          <p:cNvSpPr/>
          <p:nvPr/>
        </p:nvSpPr>
        <p:spPr>
          <a:xfrm>
            <a:off x="2628186" y="575359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2" id="212"/>
          <p:cNvSpPr/>
          <p:nvPr/>
        </p:nvSpPr>
        <p:spPr>
          <a:xfrm>
            <a:off x="5647588" y="5525720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3" id="213"/>
          <p:cNvSpPr/>
          <p:nvPr/>
        </p:nvSpPr>
        <p:spPr>
          <a:xfrm flipV="true">
            <a:off x="5718800" y="3132990"/>
            <a:ext cx="24726" cy="241745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4" id="214"/>
          <p:cNvSpPr/>
          <p:nvPr/>
        </p:nvSpPr>
        <p:spPr>
          <a:xfrm>
            <a:off x="5718800" y="3132991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5" id="215"/>
          <p:cNvSpPr/>
          <p:nvPr/>
        </p:nvSpPr>
        <p:spPr>
          <a:xfrm>
            <a:off x="9692440" y="6650873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6" id="216"/>
          <p:cNvSpPr/>
          <p:nvPr/>
        </p:nvSpPr>
        <p:spPr>
          <a:xfrm flipV="true">
            <a:off x="9763635" y="3702690"/>
            <a:ext cx="24751" cy="2972907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7" id="217"/>
          <p:cNvSpPr/>
          <p:nvPr/>
        </p:nvSpPr>
        <p:spPr>
          <a:xfrm>
            <a:off x="9763652" y="3702689"/>
            <a:ext cx="95939" cy="24726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8" id="218"/>
          <p:cNvSpPr/>
          <p:nvPr/>
        </p:nvSpPr>
        <p:spPr>
          <a:xfrm>
            <a:off x="12569407" y="341783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9" id="219"/>
          <p:cNvSpPr/>
          <p:nvPr/>
        </p:nvSpPr>
        <p:spPr>
          <a:xfrm>
            <a:off x="15446379" y="3417839"/>
            <a:ext cx="167152" cy="24728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0" id="220"/>
          <p:cNvGrpSpPr/>
          <p:nvPr/>
        </p:nvGrpSpPr>
        <p:grpSpPr>
          <a:xfrm rot="0">
            <a:off x="81262" y="7607589"/>
            <a:ext cx="4790998" cy="2469480"/>
            <a:chOff x="0" y="0"/>
            <a:chExt cx="6151880" cy="3170936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6151880" cy="3170936"/>
            </a:xfrm>
            <a:custGeom>
              <a:avLst/>
              <a:gdLst/>
              <a:ahLst/>
              <a:cxnLst/>
              <a:rect r="r" b="b" t="t" l="l"/>
              <a:pathLst>
                <a:path h="3170936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133" t="0" r="-16133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222" id="222"/>
          <p:cNvGrpSpPr/>
          <p:nvPr/>
        </p:nvGrpSpPr>
        <p:grpSpPr>
          <a:xfrm rot="0">
            <a:off x="5037631" y="7607589"/>
            <a:ext cx="4719785" cy="2469480"/>
            <a:chOff x="0" y="0"/>
            <a:chExt cx="6060440" cy="3170936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6060440" cy="3170936"/>
            </a:xfrm>
            <a:custGeom>
              <a:avLst/>
              <a:gdLst/>
              <a:ahLst/>
              <a:cxnLst/>
              <a:rect r="r" b="b" t="t" l="l"/>
              <a:pathLst>
                <a:path h="3170936" w="6060440">
                  <a:moveTo>
                    <a:pt x="0" y="0"/>
                  </a:moveTo>
                  <a:lnTo>
                    <a:pt x="6060440" y="0"/>
                  </a:lnTo>
                  <a:lnTo>
                    <a:pt x="6060440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130" t="0" r="-17130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224" id="224"/>
          <p:cNvGrpSpPr/>
          <p:nvPr/>
        </p:nvGrpSpPr>
        <p:grpSpPr>
          <a:xfrm rot="0">
            <a:off x="9922787" y="7607589"/>
            <a:ext cx="3936451" cy="2469480"/>
            <a:chOff x="0" y="0"/>
            <a:chExt cx="5054600" cy="3170936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5054600" cy="3170936"/>
            </a:xfrm>
            <a:custGeom>
              <a:avLst/>
              <a:gdLst/>
              <a:ahLst/>
              <a:cxnLst/>
              <a:rect r="r" b="b" t="t" l="l"/>
              <a:pathLst>
                <a:path h="3170936" w="5054600">
                  <a:moveTo>
                    <a:pt x="0" y="0"/>
                  </a:moveTo>
                  <a:lnTo>
                    <a:pt x="5054600" y="0"/>
                  </a:lnTo>
                  <a:lnTo>
                    <a:pt x="5054600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489" t="0" r="-30489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226" id="226"/>
          <p:cNvGrpSpPr/>
          <p:nvPr/>
        </p:nvGrpSpPr>
        <p:grpSpPr>
          <a:xfrm rot="0">
            <a:off x="14024608" y="7607589"/>
            <a:ext cx="4207058" cy="2469480"/>
            <a:chOff x="0" y="0"/>
            <a:chExt cx="5402072" cy="31709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5402072" cy="3170936"/>
            </a:xfrm>
            <a:custGeom>
              <a:avLst/>
              <a:gdLst/>
              <a:ahLst/>
              <a:cxnLst/>
              <a:rect r="r" b="b" t="t" l="l"/>
              <a:pathLst>
                <a:path h="3170936" w="5402072">
                  <a:moveTo>
                    <a:pt x="0" y="0"/>
                  </a:moveTo>
                  <a:lnTo>
                    <a:pt x="5402072" y="0"/>
                  </a:lnTo>
                  <a:lnTo>
                    <a:pt x="5402072" y="3170936"/>
                  </a:lnTo>
                  <a:lnTo>
                    <a:pt x="0" y="3170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312" t="0" r="-25312" b="0"/>
              </a:stretch>
            </a:blip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sp>
        <p:nvSpPr>
          <p:cNvPr name="TextBox 228" id="228"/>
          <p:cNvSpPr txBox="true"/>
          <p:nvPr/>
        </p:nvSpPr>
        <p:spPr>
          <a:xfrm rot="0">
            <a:off x="233577" y="7674359"/>
            <a:ext cx="4486368" cy="27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3"/>
              </a:lnSpc>
            </a:pPr>
            <a:r>
              <a:rPr lang="en-US" sz="1661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Thermal-Event Classes</a:t>
            </a:r>
            <a:r>
              <a:rPr lang="en-US" sz="1661">
                <a:solidFill>
                  <a:srgbClr val="5A6478"/>
                </a:solidFill>
                <a:latin typeface="Calibri (MS)"/>
                <a:ea typeface="Calibri (MS)"/>
                <a:cs typeface="Calibri (MS)"/>
                <a:sym typeface="Calibri (MS)"/>
              </a:rPr>
              <a:t>  training label rule</a:t>
            </a:r>
          </a:p>
        </p:txBody>
      </p:sp>
      <p:grpSp>
        <p:nvGrpSpPr>
          <p:cNvPr name="Group 229" id="229"/>
          <p:cNvGrpSpPr/>
          <p:nvPr/>
        </p:nvGrpSpPr>
        <p:grpSpPr>
          <a:xfrm rot="0">
            <a:off x="233577" y="8134954"/>
            <a:ext cx="199394" cy="199394"/>
            <a:chOff x="0" y="0"/>
            <a:chExt cx="256032" cy="256032"/>
          </a:xfrm>
        </p:grpSpPr>
        <p:sp>
          <p:nvSpPr>
            <p:cNvPr name="Freeform 230" id="230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518426" y="8073237"/>
            <a:ext cx="1922729" cy="322829"/>
            <a:chOff x="0" y="0"/>
            <a:chExt cx="2468880" cy="414528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246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0" r="0" b="-66050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19050"/>
              <a:ext cx="246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Industrial Fire</a:t>
              </a: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2398428" y="8073237"/>
            <a:ext cx="2350002" cy="322829"/>
            <a:chOff x="0" y="0"/>
            <a:chExt cx="3017520" cy="414528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3017520" cy="414528"/>
            </a:xfrm>
            <a:custGeom>
              <a:avLst/>
              <a:gdLst/>
              <a:ahLst/>
              <a:cxnLst/>
              <a:rect r="r" b="b" t="t" l="l"/>
              <a:pathLst>
                <a:path h="41452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839" r="0" b="-91839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-9525"/>
              <a:ext cx="30175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7"/>
                </a:lnSpc>
              </a:pPr>
              <a:r>
                <a:rPr lang="en-US" sz="116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source, no flare or mine</a:t>
              </a:r>
            </a:p>
          </p:txBody>
        </p:sp>
      </p:grpSp>
      <p:sp>
        <p:nvSpPr>
          <p:cNvPr name="AutoShape 237" id="237"/>
          <p:cNvSpPr/>
          <p:nvPr/>
        </p:nvSpPr>
        <p:spPr>
          <a:xfrm>
            <a:off x="228628" y="8391122"/>
            <a:ext cx="4496257" cy="9888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8" id="238"/>
          <p:cNvGrpSpPr/>
          <p:nvPr/>
        </p:nvGrpSpPr>
        <p:grpSpPr>
          <a:xfrm rot="0">
            <a:off x="233577" y="8457783"/>
            <a:ext cx="199394" cy="199394"/>
            <a:chOff x="0" y="0"/>
            <a:chExt cx="256032" cy="256032"/>
          </a:xfrm>
        </p:grpSpPr>
        <p:sp>
          <p:nvSpPr>
            <p:cNvPr name="Freeform 239" id="239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240" id="240"/>
          <p:cNvGrpSpPr/>
          <p:nvPr/>
        </p:nvGrpSpPr>
        <p:grpSpPr>
          <a:xfrm rot="0">
            <a:off x="518426" y="8396066"/>
            <a:ext cx="1922729" cy="322829"/>
            <a:chOff x="0" y="0"/>
            <a:chExt cx="2468880" cy="414528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46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0" r="0" b="-66050"/>
              </a:stretch>
            </a:blipFill>
          </p:spPr>
        </p:sp>
        <p:sp>
          <p:nvSpPr>
            <p:cNvPr name="TextBox 242" id="242"/>
            <p:cNvSpPr txBox="true"/>
            <p:nvPr/>
          </p:nvSpPr>
          <p:spPr>
            <a:xfrm>
              <a:off x="0" y="-19050"/>
              <a:ext cx="246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Gas Flare</a:t>
              </a:r>
            </a:p>
          </p:txBody>
        </p:sp>
      </p:grpSp>
      <p:grpSp>
        <p:nvGrpSpPr>
          <p:cNvPr name="Group 243" id="243"/>
          <p:cNvGrpSpPr/>
          <p:nvPr/>
        </p:nvGrpSpPr>
        <p:grpSpPr>
          <a:xfrm rot="0">
            <a:off x="2398428" y="8396066"/>
            <a:ext cx="2350002" cy="322829"/>
            <a:chOff x="0" y="0"/>
            <a:chExt cx="3017520" cy="414528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3017520" cy="414528"/>
            </a:xfrm>
            <a:custGeom>
              <a:avLst/>
              <a:gdLst/>
              <a:ahLst/>
              <a:cxnLst/>
              <a:rect r="r" b="b" t="t" l="l"/>
              <a:pathLst>
                <a:path h="41452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839" r="0" b="-91839"/>
              </a:stretch>
            </a:blipFill>
          </p:spPr>
        </p:sp>
        <p:sp>
          <p:nvSpPr>
            <p:cNvPr name="TextBox 245" id="245"/>
            <p:cNvSpPr txBox="true"/>
            <p:nvPr/>
          </p:nvSpPr>
          <p:spPr>
            <a:xfrm>
              <a:off x="0" y="-9525"/>
              <a:ext cx="30175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7"/>
                </a:lnSpc>
              </a:pPr>
              <a:r>
                <a:rPr lang="en-US" sz="116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source ≤ 1 km from a flare site</a:t>
              </a:r>
            </a:p>
          </p:txBody>
        </p:sp>
      </p:grpSp>
      <p:sp>
        <p:nvSpPr>
          <p:cNvPr name="AutoShape 246" id="246"/>
          <p:cNvSpPr/>
          <p:nvPr/>
        </p:nvSpPr>
        <p:spPr>
          <a:xfrm>
            <a:off x="228628" y="8713950"/>
            <a:ext cx="4496257" cy="9888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7" id="247"/>
          <p:cNvGrpSpPr/>
          <p:nvPr/>
        </p:nvGrpSpPr>
        <p:grpSpPr>
          <a:xfrm rot="0">
            <a:off x="233577" y="8780612"/>
            <a:ext cx="199394" cy="199394"/>
            <a:chOff x="0" y="0"/>
            <a:chExt cx="256032" cy="256032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518426" y="8718894"/>
            <a:ext cx="1922729" cy="322829"/>
            <a:chOff x="0" y="0"/>
            <a:chExt cx="2468880" cy="414528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246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0" r="0" b="-66050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-19050"/>
              <a:ext cx="246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Wildfire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2398428" y="8718894"/>
            <a:ext cx="2350002" cy="322829"/>
            <a:chOff x="0" y="0"/>
            <a:chExt cx="3017520" cy="414528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017520" cy="414528"/>
            </a:xfrm>
            <a:custGeom>
              <a:avLst/>
              <a:gdLst/>
              <a:ahLst/>
              <a:cxnLst/>
              <a:rect r="r" b="b" t="t" l="l"/>
              <a:pathLst>
                <a:path h="41452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839" r="0" b="-91839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-9525"/>
              <a:ext cx="30175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7"/>
                </a:lnSpc>
              </a:pPr>
              <a:r>
                <a:rPr lang="en-US" sz="116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Vegetation fire, ≥ 60% tree/grass</a:t>
              </a:r>
            </a:p>
          </p:txBody>
        </p:sp>
      </p:grpSp>
      <p:sp>
        <p:nvSpPr>
          <p:cNvPr name="AutoShape 255" id="255"/>
          <p:cNvSpPr/>
          <p:nvPr/>
        </p:nvSpPr>
        <p:spPr>
          <a:xfrm>
            <a:off x="228628" y="9036779"/>
            <a:ext cx="4496257" cy="9888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6" id="256"/>
          <p:cNvGrpSpPr/>
          <p:nvPr/>
        </p:nvGrpSpPr>
        <p:grpSpPr>
          <a:xfrm rot="0">
            <a:off x="233577" y="9103440"/>
            <a:ext cx="199394" cy="199394"/>
            <a:chOff x="0" y="0"/>
            <a:chExt cx="256032" cy="256032"/>
          </a:xfrm>
        </p:grpSpPr>
        <p:sp>
          <p:nvSpPr>
            <p:cNvPr name="Freeform 257" id="257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258" id="258"/>
          <p:cNvGrpSpPr/>
          <p:nvPr/>
        </p:nvGrpSpPr>
        <p:grpSpPr>
          <a:xfrm rot="0">
            <a:off x="518426" y="9041723"/>
            <a:ext cx="1922729" cy="322829"/>
            <a:chOff x="0" y="0"/>
            <a:chExt cx="2468880" cy="414528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246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0" r="0" b="-66050"/>
              </a:stretch>
            </a:blipFill>
          </p:spPr>
        </p:sp>
        <p:sp>
          <p:nvSpPr>
            <p:cNvPr name="TextBox 260" id="260"/>
            <p:cNvSpPr txBox="true"/>
            <p:nvPr/>
          </p:nvSpPr>
          <p:spPr>
            <a:xfrm>
              <a:off x="0" y="-19050"/>
              <a:ext cx="246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Agricultural Burning</a:t>
              </a:r>
            </a:p>
          </p:txBody>
        </p:sp>
      </p:grpSp>
      <p:grpSp>
        <p:nvGrpSpPr>
          <p:cNvPr name="Group 261" id="261"/>
          <p:cNvGrpSpPr/>
          <p:nvPr/>
        </p:nvGrpSpPr>
        <p:grpSpPr>
          <a:xfrm rot="0">
            <a:off x="2398428" y="9041723"/>
            <a:ext cx="2350002" cy="322829"/>
            <a:chOff x="0" y="0"/>
            <a:chExt cx="3017520" cy="414528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3017520" cy="414528"/>
            </a:xfrm>
            <a:custGeom>
              <a:avLst/>
              <a:gdLst/>
              <a:ahLst/>
              <a:cxnLst/>
              <a:rect r="r" b="b" t="t" l="l"/>
              <a:pathLst>
                <a:path h="41452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839" r="0" b="-91839"/>
              </a:stretch>
            </a:blipFill>
          </p:spPr>
        </p:sp>
        <p:sp>
          <p:nvSpPr>
            <p:cNvPr name="TextBox 263" id="263"/>
            <p:cNvSpPr txBox="true"/>
            <p:nvPr/>
          </p:nvSpPr>
          <p:spPr>
            <a:xfrm>
              <a:off x="0" y="-9525"/>
              <a:ext cx="30175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7"/>
                </a:lnSpc>
              </a:pPr>
              <a:r>
                <a:rPr lang="en-US" sz="116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Vegetation fire, ≥ 60% cropland</a:t>
              </a:r>
            </a:p>
          </p:txBody>
        </p:sp>
      </p:grpSp>
      <p:sp>
        <p:nvSpPr>
          <p:cNvPr name="AutoShape 264" id="264"/>
          <p:cNvSpPr/>
          <p:nvPr/>
        </p:nvSpPr>
        <p:spPr>
          <a:xfrm>
            <a:off x="228628" y="9359608"/>
            <a:ext cx="4496257" cy="9888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5" id="265"/>
          <p:cNvGrpSpPr/>
          <p:nvPr/>
        </p:nvGrpSpPr>
        <p:grpSpPr>
          <a:xfrm rot="0">
            <a:off x="233577" y="9426269"/>
            <a:ext cx="199394" cy="199394"/>
            <a:chOff x="0" y="0"/>
            <a:chExt cx="256032" cy="256032"/>
          </a:xfrm>
        </p:grpSpPr>
        <p:sp>
          <p:nvSpPr>
            <p:cNvPr name="Freeform 266" id="266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518426" y="9364552"/>
            <a:ext cx="1922729" cy="322829"/>
            <a:chOff x="0" y="0"/>
            <a:chExt cx="2468880" cy="414528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246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0" r="0" b="-66050"/>
              </a:stretch>
            </a:blipFill>
          </p:spPr>
        </p:sp>
        <p:sp>
          <p:nvSpPr>
            <p:cNvPr name="TextBox 269" id="269"/>
            <p:cNvSpPr txBox="true"/>
            <p:nvPr/>
          </p:nvSpPr>
          <p:spPr>
            <a:xfrm>
              <a:off x="0" y="-19050"/>
              <a:ext cx="246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Mining Thermal Activity</a:t>
              </a:r>
            </a:p>
          </p:txBody>
        </p:sp>
      </p:grpSp>
      <p:grpSp>
        <p:nvGrpSpPr>
          <p:cNvPr name="Group 270" id="270"/>
          <p:cNvGrpSpPr/>
          <p:nvPr/>
        </p:nvGrpSpPr>
        <p:grpSpPr>
          <a:xfrm rot="0">
            <a:off x="2398428" y="9364552"/>
            <a:ext cx="2350002" cy="322829"/>
            <a:chOff x="0" y="0"/>
            <a:chExt cx="3017520" cy="414528"/>
          </a:xfrm>
        </p:grpSpPr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3017520" cy="414528"/>
            </a:xfrm>
            <a:custGeom>
              <a:avLst/>
              <a:gdLst/>
              <a:ahLst/>
              <a:cxnLst/>
              <a:rect r="r" b="b" t="t" l="l"/>
              <a:pathLst>
                <a:path h="41452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839" r="0" b="-91839"/>
              </a:stretch>
            </a:blipFill>
          </p:spPr>
        </p:sp>
        <p:sp>
          <p:nvSpPr>
            <p:cNvPr name="TextBox 272" id="272"/>
            <p:cNvSpPr txBox="true"/>
            <p:nvPr/>
          </p:nvSpPr>
          <p:spPr>
            <a:xfrm>
              <a:off x="0" y="-9525"/>
              <a:ext cx="30175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7"/>
                </a:lnSpc>
              </a:pPr>
              <a:r>
                <a:rPr lang="en-US" sz="116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source inside a mining polygon</a:t>
              </a:r>
            </a:p>
          </p:txBody>
        </p:sp>
      </p:grpSp>
      <p:sp>
        <p:nvSpPr>
          <p:cNvPr name="AutoShape 273" id="273"/>
          <p:cNvSpPr/>
          <p:nvPr/>
        </p:nvSpPr>
        <p:spPr>
          <a:xfrm>
            <a:off x="228628" y="9682436"/>
            <a:ext cx="4496257" cy="9888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4" id="274"/>
          <p:cNvGrpSpPr/>
          <p:nvPr/>
        </p:nvGrpSpPr>
        <p:grpSpPr>
          <a:xfrm rot="0">
            <a:off x="233577" y="9749097"/>
            <a:ext cx="199394" cy="199394"/>
            <a:chOff x="0" y="0"/>
            <a:chExt cx="256032" cy="256032"/>
          </a:xfrm>
        </p:grpSpPr>
        <p:sp>
          <p:nvSpPr>
            <p:cNvPr name="Freeform 275" id="275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276" id="276"/>
          <p:cNvGrpSpPr/>
          <p:nvPr/>
        </p:nvGrpSpPr>
        <p:grpSpPr>
          <a:xfrm rot="0">
            <a:off x="518426" y="9687380"/>
            <a:ext cx="1922729" cy="322829"/>
            <a:chOff x="0" y="0"/>
            <a:chExt cx="2468880" cy="414528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246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50" r="0" b="-66050"/>
              </a:stretch>
            </a:blipFill>
          </p:spPr>
        </p:sp>
        <p:sp>
          <p:nvSpPr>
            <p:cNvPr name="TextBox 278" id="278"/>
            <p:cNvSpPr txBox="true"/>
            <p:nvPr/>
          </p:nvSpPr>
          <p:spPr>
            <a:xfrm>
              <a:off x="0" y="-19050"/>
              <a:ext cx="246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0A2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Other / Uncertain</a:t>
              </a:r>
            </a:p>
          </p:txBody>
        </p:sp>
      </p:grpSp>
      <p:grpSp>
        <p:nvGrpSpPr>
          <p:cNvPr name="Group 279" id="279"/>
          <p:cNvGrpSpPr/>
          <p:nvPr/>
        </p:nvGrpSpPr>
        <p:grpSpPr>
          <a:xfrm rot="0">
            <a:off x="2398428" y="9687380"/>
            <a:ext cx="2350002" cy="322829"/>
            <a:chOff x="0" y="0"/>
            <a:chExt cx="3017520" cy="414528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3017520" cy="414528"/>
            </a:xfrm>
            <a:custGeom>
              <a:avLst/>
              <a:gdLst/>
              <a:ahLst/>
              <a:cxnLst/>
              <a:rect r="r" b="b" t="t" l="l"/>
              <a:pathLst>
                <a:path h="41452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839" r="0" b="-91839"/>
              </a:stretch>
            </a:blipFill>
          </p:spPr>
        </p:sp>
        <p:sp>
          <p:nvSpPr>
            <p:cNvPr name="TextBox 281" id="281"/>
            <p:cNvSpPr txBox="true"/>
            <p:nvPr/>
          </p:nvSpPr>
          <p:spPr>
            <a:xfrm>
              <a:off x="0" y="-9525"/>
              <a:ext cx="30175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7"/>
                </a:lnSpc>
              </a:pPr>
              <a:r>
                <a:rPr lang="en-US" sz="116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Volcano, offshore, mixed cover</a:t>
              </a:r>
            </a:p>
          </p:txBody>
        </p:sp>
      </p:grpSp>
      <p:sp>
        <p:nvSpPr>
          <p:cNvPr name="TextBox 282" id="282"/>
          <p:cNvSpPr txBox="true"/>
          <p:nvPr/>
        </p:nvSpPr>
        <p:spPr>
          <a:xfrm rot="0">
            <a:off x="5189946" y="7683884"/>
            <a:ext cx="4415156" cy="2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240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Set</a:t>
            </a:r>
            <a:r>
              <a:rPr lang="en-US" sz="1240">
                <a:solidFill>
                  <a:srgbClr val="5A6478"/>
                </a:solidFill>
                <a:latin typeface="Calibri (MS)"/>
                <a:ea typeface="Calibri (MS)"/>
                <a:cs typeface="Calibri (MS)"/>
                <a:sym typeface="Calibri (MS)"/>
              </a:rPr>
              <a:t>  one schema, 14 features</a:t>
            </a:r>
          </a:p>
        </p:txBody>
      </p:sp>
      <p:sp>
        <p:nvSpPr>
          <p:cNvPr name="TextBox 283" id="283"/>
          <p:cNvSpPr txBox="true"/>
          <p:nvPr/>
        </p:nvSpPr>
        <p:spPr>
          <a:xfrm rot="0">
            <a:off x="5189946" y="8016177"/>
            <a:ext cx="2278790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Required 10</a:t>
            </a:r>
            <a:r>
              <a:rPr lang="en-US" sz="1131">
                <a:solidFill>
                  <a:srgbClr val="5A6478"/>
                </a:solidFill>
                <a:latin typeface="Calibri (MS)"/>
                <a:ea typeface="Calibri (MS)"/>
                <a:cs typeface="Calibri (MS)"/>
                <a:sym typeface="Calibri (MS)"/>
              </a:rPr>
              <a:t>  must be present</a:t>
            </a:r>
          </a:p>
        </p:txBody>
      </p:sp>
      <p:sp>
        <p:nvSpPr>
          <p:cNvPr name="TextBox 284" id="284"/>
          <p:cNvSpPr txBox="true"/>
          <p:nvPr/>
        </p:nvSpPr>
        <p:spPr>
          <a:xfrm rot="0">
            <a:off x="5189946" y="8258299"/>
            <a:ext cx="2307275" cy="170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frp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brightness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brightness_ti5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temp_delta_ti4_ti5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is_night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facility_distance_m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facility_type_encoded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landcover_encoded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nearby_cluster_count_3km</a:t>
            </a:r>
          </a:p>
        </p:txBody>
      </p:sp>
      <p:sp>
        <p:nvSpPr>
          <p:cNvPr name="TextBox 285" id="285"/>
          <p:cNvSpPr txBox="true"/>
          <p:nvPr/>
        </p:nvSpPr>
        <p:spPr>
          <a:xfrm rot="0">
            <a:off x="7497220" y="8016177"/>
            <a:ext cx="2136366" cy="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131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Optional 4</a:t>
            </a:r>
            <a:r>
              <a:rPr lang="en-US" sz="1131">
                <a:solidFill>
                  <a:srgbClr val="5A6478"/>
                </a:solidFill>
                <a:latin typeface="Calibri (MS)"/>
                <a:ea typeface="Calibri (MS)"/>
                <a:cs typeface="Calibri (MS)"/>
                <a:sym typeface="Calibri (MS)"/>
              </a:rPr>
              <a:t>  can be absent</a:t>
            </a:r>
          </a:p>
        </p:txBody>
      </p:sp>
      <p:sp>
        <p:nvSpPr>
          <p:cNvPr name="TextBox 286" id="286"/>
          <p:cNvSpPr txBox="true"/>
          <p:nvPr/>
        </p:nvSpPr>
        <p:spPr>
          <a:xfrm rot="0">
            <a:off x="7497220" y="8258299"/>
            <a:ext cx="2164850" cy="70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historical_recurrence_1_5km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historical_mean_frp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frp_z_score</a:t>
            </a:r>
          </a:p>
          <a:p>
            <a:pPr algn="l" marL="202015" indent="-101007" lvl="1">
              <a:lnSpc>
                <a:spcPts val="1339"/>
              </a:lnSpc>
              <a:buFont typeface="Arial"/>
              <a:buChar char="•"/>
            </a:pPr>
            <a:r>
              <a:rPr lang="en-US" sz="1116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days_since_last_detection</a:t>
            </a:r>
          </a:p>
        </p:txBody>
      </p:sp>
      <p:grpSp>
        <p:nvGrpSpPr>
          <p:cNvPr name="Group 287" id="287"/>
          <p:cNvGrpSpPr/>
          <p:nvPr/>
        </p:nvGrpSpPr>
        <p:grpSpPr>
          <a:xfrm rot="0">
            <a:off x="7489802" y="9062790"/>
            <a:ext cx="2122717" cy="897867"/>
            <a:chOff x="0" y="0"/>
            <a:chExt cx="2725674" cy="1152906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0" y="0"/>
              <a:ext cx="272567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725674">
                  <a:moveTo>
                    <a:pt x="0" y="0"/>
                  </a:moveTo>
                  <a:lnTo>
                    <a:pt x="2725674" y="0"/>
                  </a:lnTo>
                  <a:lnTo>
                    <a:pt x="2725674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9" t="0" r="-4269" b="0"/>
              </a:stretch>
            </a:blipFill>
            <a:ln w="14288" cap="sq">
              <a:solidFill>
                <a:srgbClr val="B7CBEE"/>
              </a:solidFill>
              <a:prstDash val="solid"/>
              <a:miter/>
            </a:ln>
          </p:spPr>
        </p:sp>
      </p:grpSp>
      <p:grpSp>
        <p:nvGrpSpPr>
          <p:cNvPr name="Group 289" id="289"/>
          <p:cNvGrpSpPr/>
          <p:nvPr/>
        </p:nvGrpSpPr>
        <p:grpSpPr>
          <a:xfrm rot="0">
            <a:off x="7582675" y="9112935"/>
            <a:ext cx="1936971" cy="797576"/>
            <a:chOff x="0" y="0"/>
            <a:chExt cx="2487168" cy="1024128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248716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291" id="291"/>
            <p:cNvSpPr txBox="true"/>
            <p:nvPr/>
          </p:nvSpPr>
          <p:spPr>
            <a:xfrm>
              <a:off x="0" y="-19050"/>
              <a:ext cx="248716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89"/>
                </a:lnSpc>
              </a:pPr>
              <a:r>
                <a:rPr lang="en-US" sz="1074" i="true">
                  <a:solidFill>
                    <a:srgbClr val="5A64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Vitest test parses classes.py and fails if the TypeScript and Python feature lists drift apart.</a:t>
              </a:r>
            </a:p>
          </p:txBody>
        </p:sp>
      </p:grpSp>
      <p:sp>
        <p:nvSpPr>
          <p:cNvPr name="TextBox 292" id="292"/>
          <p:cNvSpPr txBox="true"/>
          <p:nvPr/>
        </p:nvSpPr>
        <p:spPr>
          <a:xfrm rot="0">
            <a:off x="10075102" y="7683884"/>
            <a:ext cx="3631822" cy="2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240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Current System Metrics</a:t>
            </a:r>
            <a:r>
              <a:rPr lang="en-US" sz="1240">
                <a:solidFill>
                  <a:srgbClr val="5A6478"/>
                </a:solidFill>
                <a:latin typeface="Calibri (MS)"/>
                <a:ea typeface="Calibri (MS)"/>
                <a:cs typeface="Calibri (MS)"/>
                <a:sym typeface="Calibri (MS)"/>
              </a:rPr>
              <a:t>  live database, 26 Sep 2026</a:t>
            </a:r>
          </a:p>
        </p:txBody>
      </p:sp>
      <p:grpSp>
        <p:nvGrpSpPr>
          <p:cNvPr name="Group 293" id="293"/>
          <p:cNvGrpSpPr/>
          <p:nvPr/>
        </p:nvGrpSpPr>
        <p:grpSpPr>
          <a:xfrm rot="0">
            <a:off x="10103586" y="8174359"/>
            <a:ext cx="213637" cy="213637"/>
            <a:chOff x="0" y="0"/>
            <a:chExt cx="274320" cy="274320"/>
          </a:xfrm>
        </p:grpSpPr>
        <p:sp>
          <p:nvSpPr>
            <p:cNvPr name="Freeform 294" id="294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10445405" y="8087480"/>
            <a:ext cx="1110910" cy="387395"/>
            <a:chOff x="0" y="0"/>
            <a:chExt cx="1426464" cy="497434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297" id="297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12,966</a:t>
              </a:r>
            </a:p>
          </p:txBody>
        </p:sp>
      </p:grpSp>
      <p:grpSp>
        <p:nvGrpSpPr>
          <p:cNvPr name="Group 298" id="298"/>
          <p:cNvGrpSpPr/>
          <p:nvPr/>
        </p:nvGrpSpPr>
        <p:grpSpPr>
          <a:xfrm rot="0">
            <a:off x="11556315" y="8087480"/>
            <a:ext cx="2207578" cy="387395"/>
            <a:chOff x="0" y="0"/>
            <a:chExt cx="2834640" cy="497434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00" id="300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satellite detections</a:t>
              </a:r>
            </a:p>
          </p:txBody>
        </p:sp>
      </p:grpSp>
      <p:grpSp>
        <p:nvGrpSpPr>
          <p:cNvPr name="Group 301" id="301"/>
          <p:cNvGrpSpPr/>
          <p:nvPr/>
        </p:nvGrpSpPr>
        <p:grpSpPr>
          <a:xfrm rot="0">
            <a:off x="10103586" y="8561753"/>
            <a:ext cx="213637" cy="213637"/>
            <a:chOff x="0" y="0"/>
            <a:chExt cx="274320" cy="274320"/>
          </a:xfrm>
        </p:grpSpPr>
        <p:sp>
          <p:nvSpPr>
            <p:cNvPr name="Freeform 302" id="302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0445405" y="8474874"/>
            <a:ext cx="1110910" cy="387395"/>
            <a:chOff x="0" y="0"/>
            <a:chExt cx="1426464" cy="497434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05" id="305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12,569</a:t>
              </a:r>
            </a:p>
          </p:txBody>
        </p:sp>
      </p:grpSp>
      <p:grpSp>
        <p:nvGrpSpPr>
          <p:cNvPr name="Group 306" id="306"/>
          <p:cNvGrpSpPr/>
          <p:nvPr/>
        </p:nvGrpSpPr>
        <p:grpSpPr>
          <a:xfrm rot="0">
            <a:off x="11556315" y="8474874"/>
            <a:ext cx="2207578" cy="387395"/>
            <a:chOff x="0" y="0"/>
            <a:chExt cx="2834640" cy="497434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classified by the model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10103586" y="8949147"/>
            <a:ext cx="213637" cy="213637"/>
            <a:chOff x="0" y="0"/>
            <a:chExt cx="274320" cy="274320"/>
          </a:xfrm>
        </p:grpSpPr>
        <p:sp>
          <p:nvSpPr>
            <p:cNvPr name="Freeform 310" id="310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10445405" y="8862268"/>
            <a:ext cx="1110910" cy="387395"/>
            <a:chOff x="0" y="0"/>
            <a:chExt cx="1426464" cy="497434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341,086</a:t>
              </a:r>
            </a:p>
          </p:txBody>
        </p:sp>
      </p:grpSp>
      <p:grpSp>
        <p:nvGrpSpPr>
          <p:cNvPr name="Group 314" id="314"/>
          <p:cNvGrpSpPr/>
          <p:nvPr/>
        </p:nvGrpSpPr>
        <p:grpSpPr>
          <a:xfrm rot="0">
            <a:off x="11556315" y="8862268"/>
            <a:ext cx="2207578" cy="387395"/>
            <a:chOff x="0" y="0"/>
            <a:chExt cx="2834640" cy="497434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16" id="316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OSM features indexed</a:t>
              </a:r>
            </a:p>
          </p:txBody>
        </p:sp>
      </p:grpSp>
      <p:grpSp>
        <p:nvGrpSpPr>
          <p:cNvPr name="Group 317" id="317"/>
          <p:cNvGrpSpPr/>
          <p:nvPr/>
        </p:nvGrpSpPr>
        <p:grpSpPr>
          <a:xfrm rot="0">
            <a:off x="10103586" y="9336541"/>
            <a:ext cx="213637" cy="213637"/>
            <a:chOff x="0" y="0"/>
            <a:chExt cx="274320" cy="274320"/>
          </a:xfrm>
        </p:grpSpPr>
        <p:sp>
          <p:nvSpPr>
            <p:cNvPr name="Freeform 318" id="318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19" id="319"/>
          <p:cNvGrpSpPr/>
          <p:nvPr/>
        </p:nvGrpSpPr>
        <p:grpSpPr>
          <a:xfrm rot="0">
            <a:off x="10445405" y="9249663"/>
            <a:ext cx="1110910" cy="387395"/>
            <a:chOff x="0" y="0"/>
            <a:chExt cx="1426464" cy="497434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21" id="321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73</a:t>
              </a:r>
            </a:p>
          </p:txBody>
        </p:sp>
      </p:grpSp>
      <p:grpSp>
        <p:nvGrpSpPr>
          <p:cNvPr name="Group 322" id="322"/>
          <p:cNvGrpSpPr/>
          <p:nvPr/>
        </p:nvGrpSpPr>
        <p:grpSpPr>
          <a:xfrm rot="0">
            <a:off x="11556315" y="9249663"/>
            <a:ext cx="2207578" cy="387395"/>
            <a:chOff x="0" y="0"/>
            <a:chExt cx="2834640" cy="497434"/>
          </a:xfrm>
        </p:grpSpPr>
        <p:sp>
          <p:nvSpPr>
            <p:cNvPr name="Freeform 323" id="323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24" id="324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alerts</a:t>
              </a:r>
            </a:p>
          </p:txBody>
        </p:sp>
      </p:grpSp>
      <p:grpSp>
        <p:nvGrpSpPr>
          <p:cNvPr name="Group 325" id="325"/>
          <p:cNvGrpSpPr/>
          <p:nvPr/>
        </p:nvGrpSpPr>
        <p:grpSpPr>
          <a:xfrm rot="0">
            <a:off x="10103586" y="9723936"/>
            <a:ext cx="213637" cy="213637"/>
            <a:chOff x="0" y="0"/>
            <a:chExt cx="274320" cy="274320"/>
          </a:xfrm>
        </p:grpSpPr>
        <p:sp>
          <p:nvSpPr>
            <p:cNvPr name="Freeform 326" id="326" descr="preencoded.png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10445405" y="9637057"/>
            <a:ext cx="1110910" cy="387395"/>
            <a:chOff x="0" y="0"/>
            <a:chExt cx="1426464" cy="497434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1426464" cy="497434"/>
            </a:xfrm>
            <a:custGeom>
              <a:avLst/>
              <a:gdLst/>
              <a:ahLst/>
              <a:cxnLst/>
              <a:rect r="r" b="b" t="t" l="l"/>
              <a:pathLst>
                <a:path h="49743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76" r="0" b="-5876"/>
              </a:stretch>
            </a:blipFill>
          </p:spPr>
        </p:sp>
        <p:sp>
          <p:nvSpPr>
            <p:cNvPr name="TextBox 329" id="329"/>
            <p:cNvSpPr txBox="true"/>
            <p:nvPr/>
          </p:nvSpPr>
          <p:spPr>
            <a:xfrm>
              <a:off x="0" y="-38100"/>
              <a:ext cx="1426464" cy="535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9"/>
                </a:lnSpc>
              </a:pPr>
              <a:r>
                <a:rPr lang="en-US" sz="1674" b="true">
                  <a:solidFill>
                    <a:srgbClr val="1459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457,869</a:t>
              </a:r>
            </a:p>
          </p:txBody>
        </p:sp>
      </p:grpSp>
      <p:grpSp>
        <p:nvGrpSpPr>
          <p:cNvPr name="Group 330" id="330"/>
          <p:cNvGrpSpPr/>
          <p:nvPr/>
        </p:nvGrpSpPr>
        <p:grpSpPr>
          <a:xfrm rot="0">
            <a:off x="11556315" y="9637057"/>
            <a:ext cx="2207578" cy="387395"/>
            <a:chOff x="0" y="0"/>
            <a:chExt cx="2834640" cy="497434"/>
          </a:xfrm>
        </p:grpSpPr>
        <p:sp>
          <p:nvSpPr>
            <p:cNvPr name="Freeform 331" id="331"/>
            <p:cNvSpPr/>
            <p:nvPr/>
          </p:nvSpPr>
          <p:spPr>
            <a:xfrm flipH="false" flipV="false" rot="0">
              <a:off x="0" y="0"/>
              <a:ext cx="2834640" cy="497434"/>
            </a:xfrm>
            <a:custGeom>
              <a:avLst/>
              <a:gdLst/>
              <a:ahLst/>
              <a:cxnLst/>
              <a:rect r="r" b="b" t="t" l="l"/>
              <a:pathLst>
                <a:path h="49743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97434"/>
                  </a:lnTo>
                  <a:lnTo>
                    <a:pt x="0" y="497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035" r="0" b="-61035"/>
              </a:stretch>
            </a:blipFill>
          </p:spPr>
        </p:sp>
        <p:sp>
          <p:nvSpPr>
            <p:cNvPr name="TextBox 332" id="332"/>
            <p:cNvSpPr txBox="true"/>
            <p:nvPr/>
          </p:nvSpPr>
          <p:spPr>
            <a:xfrm>
              <a:off x="0" y="-19050"/>
              <a:ext cx="2834640" cy="516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3"/>
                </a:lnSpc>
              </a:pPr>
              <a:r>
                <a:rPr lang="en-US" sz="1194">
                  <a:solidFill>
                    <a:srgbClr val="1C243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repeat rows rejected</a:t>
              </a:r>
            </a:p>
          </p:txBody>
        </p:sp>
      </p:grpSp>
      <p:sp>
        <p:nvSpPr>
          <p:cNvPr name="TextBox 333" id="333"/>
          <p:cNvSpPr txBox="true"/>
          <p:nvPr/>
        </p:nvSpPr>
        <p:spPr>
          <a:xfrm rot="0">
            <a:off x="14176923" y="7683884"/>
            <a:ext cx="3902428" cy="2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240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Known Limitations</a:t>
            </a:r>
            <a:r>
              <a:rPr lang="en-US" sz="1240">
                <a:solidFill>
                  <a:srgbClr val="5A6478"/>
                </a:solidFill>
                <a:latin typeface="Calibri (MS)"/>
                <a:ea typeface="Calibri (MS)"/>
                <a:cs typeface="Calibri (MS)"/>
                <a:sym typeface="Calibri (MS)"/>
              </a:rPr>
              <a:t>  from model metadata</a:t>
            </a:r>
          </a:p>
        </p:txBody>
      </p:sp>
      <p:grpSp>
        <p:nvGrpSpPr>
          <p:cNvPr name="Group 334" id="334"/>
          <p:cNvGrpSpPr/>
          <p:nvPr/>
        </p:nvGrpSpPr>
        <p:grpSpPr>
          <a:xfrm rot="0">
            <a:off x="14176923" y="8130207"/>
            <a:ext cx="199394" cy="199394"/>
            <a:chOff x="0" y="0"/>
            <a:chExt cx="256032" cy="256032"/>
          </a:xfrm>
        </p:grpSpPr>
        <p:sp>
          <p:nvSpPr>
            <p:cNvPr name="Freeform 335" id="335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336" id="336"/>
          <p:cNvSpPr txBox="true"/>
          <p:nvPr/>
        </p:nvSpPr>
        <p:spPr>
          <a:xfrm rot="0">
            <a:off x="14461772" y="8082672"/>
            <a:ext cx="3646064" cy="5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Labels are rule-based.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From FIRMS type, flare sites, mine maps and WorldCover, not field visits.</a:t>
            </a:r>
          </a:p>
        </p:txBody>
      </p:sp>
      <p:grpSp>
        <p:nvGrpSpPr>
          <p:cNvPr name="Group 337" id="337"/>
          <p:cNvGrpSpPr/>
          <p:nvPr/>
        </p:nvGrpSpPr>
        <p:grpSpPr>
          <a:xfrm rot="0">
            <a:off x="14176923" y="8614450"/>
            <a:ext cx="199394" cy="199394"/>
            <a:chOff x="0" y="0"/>
            <a:chExt cx="256032" cy="256032"/>
          </a:xfrm>
        </p:grpSpPr>
        <p:sp>
          <p:nvSpPr>
            <p:cNvPr name="Freeform 338" id="338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339" id="339"/>
          <p:cNvSpPr txBox="true"/>
          <p:nvPr/>
        </p:nvSpPr>
        <p:spPr>
          <a:xfrm rot="0">
            <a:off x="14461772" y="8566915"/>
            <a:ext cx="3646064" cy="5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facility within 25 km, no class.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Remote wildfires are under-represented in training and on the map.</a:t>
            </a:r>
          </a:p>
        </p:txBody>
      </p:sp>
      <p:grpSp>
        <p:nvGrpSpPr>
          <p:cNvPr name="Group 340" id="340"/>
          <p:cNvGrpSpPr/>
          <p:nvPr/>
        </p:nvGrpSpPr>
        <p:grpSpPr>
          <a:xfrm rot="0">
            <a:off x="14176923" y="9098693"/>
            <a:ext cx="199394" cy="199394"/>
            <a:chOff x="0" y="0"/>
            <a:chExt cx="256032" cy="256032"/>
          </a:xfrm>
        </p:grpSpPr>
        <p:sp>
          <p:nvSpPr>
            <p:cNvPr name="Freeform 341" id="341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342" id="342"/>
          <p:cNvSpPr txBox="true"/>
          <p:nvPr/>
        </p:nvSpPr>
        <p:spPr>
          <a:xfrm rot="0">
            <a:off x="14461772" y="9051158"/>
            <a:ext cx="3646064" cy="36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Gas flare F1 is 0.24.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India has only about 156 known flare sites to learn from.</a:t>
            </a:r>
          </a:p>
        </p:txBody>
      </p:sp>
      <p:grpSp>
        <p:nvGrpSpPr>
          <p:cNvPr name="Group 343" id="343"/>
          <p:cNvGrpSpPr/>
          <p:nvPr/>
        </p:nvGrpSpPr>
        <p:grpSpPr>
          <a:xfrm rot="0">
            <a:off x="14176923" y="9582936"/>
            <a:ext cx="199394" cy="199394"/>
            <a:chOff x="0" y="0"/>
            <a:chExt cx="256032" cy="256032"/>
          </a:xfrm>
        </p:grpSpPr>
        <p:sp>
          <p:nvSpPr>
            <p:cNvPr name="Freeform 344" id="344" descr="preencoded.png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256032"/>
                  </a:lnTo>
                  <a:lnTo>
                    <a:pt x="0" y="2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sp>
        <p:nvSpPr>
          <p:cNvPr name="TextBox 345" id="345"/>
          <p:cNvSpPr txBox="true"/>
          <p:nvPr/>
        </p:nvSpPr>
        <p:spPr>
          <a:xfrm rot="0">
            <a:off x="14461772" y="9535401"/>
            <a:ext cx="3646064" cy="36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225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Every sensor run is logged</a:t>
            </a:r>
          </a:p>
          <a:p>
            <a:pPr algn="l">
              <a:lnSpc>
                <a:spcPts val="1358"/>
              </a:lnSpc>
            </a:pPr>
            <a:r>
              <a:rPr lang="en-US" sz="1131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with status and counts (1,662 runs so far).</a:t>
            </a:r>
          </a:p>
        </p:txBody>
      </p:sp>
      <p:grpSp>
        <p:nvGrpSpPr>
          <p:cNvPr name="Group 346" id="346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347" id="347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348" id="348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349" id="349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0" id="350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351" id="351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352" id="352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53" id="353"/>
          <p:cNvSpPr/>
          <p:nvPr/>
        </p:nvSpPr>
        <p:spPr>
          <a:xfrm flipH="false" flipV="false" rot="0">
            <a:off x="-2474617" y="-2601648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59"/>
                </a:lnTo>
                <a:lnTo>
                  <a:pt x="0" y="554225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alphaModFix amt="5900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4" id="354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55" id="355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356" id="356"/>
          <p:cNvSpPr txBox="true"/>
          <p:nvPr/>
        </p:nvSpPr>
        <p:spPr>
          <a:xfrm rot="0">
            <a:off x="5377056" y="196469"/>
            <a:ext cx="7117759" cy="94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</a:pPr>
            <a:r>
              <a:rPr lang="en-US" b="true" sz="5800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4087" y="2425256"/>
            <a:ext cx="20574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Analysis of the feasibility of the idea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measured on the running prototype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480" y="5149596"/>
            <a:ext cx="20574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challenges and risks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where each stage could break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1480" y="6932676"/>
            <a:ext cx="2057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Strategies for overcoming these challenges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fix for that stage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04339" y="4988505"/>
            <a:ext cx="17474759" cy="14335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04339" y="6771585"/>
            <a:ext cx="17474759" cy="14335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951990" y="4381484"/>
            <a:ext cx="14958056" cy="76232"/>
          </a:xfrm>
          <a:prstGeom prst="line">
            <a:avLst/>
          </a:prstGeom>
          <a:ln cap="rnd" w="3810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2715768" y="1498854"/>
            <a:ext cx="28322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1576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atellites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15768" y="2653284"/>
            <a:ext cx="239109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VIIRS on S-NPP, NOAA-20 and NOAA-21, plus MODIS, give several passes over India every day.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98294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2666905" y="4096417"/>
            <a:ext cx="646366" cy="646366"/>
            <a:chOff x="0" y="0"/>
            <a:chExt cx="861822" cy="861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825496" y="4255008"/>
            <a:ext cx="329184" cy="329184"/>
            <a:chOff x="0" y="0"/>
            <a:chExt cx="438912" cy="43891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40156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SATELLITE PASS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98055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848737" y="5256276"/>
            <a:ext cx="301752" cy="301752"/>
            <a:chOff x="0" y="0"/>
            <a:chExt cx="402336" cy="40233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26021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Clouds and smoke hide fires, and 375 m pixels can miss small burns.</a:t>
            </a:r>
          </a:p>
        </p:txBody>
      </p:sp>
      <p:sp>
        <p:nvSpPr>
          <p:cNvPr name="AutoShape 29" id="29"/>
          <p:cNvSpPr/>
          <p:nvPr/>
        </p:nvSpPr>
        <p:spPr>
          <a:xfrm>
            <a:off x="297817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2839212" y="7016043"/>
            <a:ext cx="301752" cy="301752"/>
            <a:chOff x="0" y="0"/>
            <a:chExt cx="402336" cy="40233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25069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Merge all four sensors and judge persistence over 72 h rather than single passes. Confirm important sites with Sentinel-2 imagery.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41798" y="1498854"/>
            <a:ext cx="205293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/ 5,000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4179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FIRMS requests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41798" y="2653284"/>
            <a:ext cx="231695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4 requests per 5-minute cycle against 5,000 allowed per 10 minutes. An average run takes 42 s.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550897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5192935" y="4096417"/>
            <a:ext cx="646366" cy="646366"/>
            <a:chOff x="0" y="0"/>
            <a:chExt cx="861822" cy="8618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351526" y="4255008"/>
            <a:ext cx="329184" cy="329184"/>
            <a:chOff x="0" y="0"/>
            <a:chExt cx="438912" cy="438912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592759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INGESTION</a:t>
            </a:r>
          </a:p>
        </p:txBody>
      </p:sp>
      <p:sp>
        <p:nvSpPr>
          <p:cNvPr name="AutoShape 42" id="42"/>
          <p:cNvSpPr/>
          <p:nvPr/>
        </p:nvSpPr>
        <p:spPr>
          <a:xfrm>
            <a:off x="550658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5374767" y="5256276"/>
            <a:ext cx="301752" cy="301752"/>
            <a:chOff x="0" y="0"/>
            <a:chExt cx="402336" cy="402336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5786247" y="5218176"/>
            <a:ext cx="181279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FIRMS serves only the last 5 days, so a longer outage loses data. It happened on 25–28 Aug.</a:t>
            </a:r>
          </a:p>
        </p:txBody>
      </p:sp>
      <p:sp>
        <p:nvSpPr>
          <p:cNvPr name="AutoShape 46" id="46"/>
          <p:cNvSpPr/>
          <p:nvPr/>
        </p:nvSpPr>
        <p:spPr>
          <a:xfrm>
            <a:off x="550420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5365242" y="7016043"/>
            <a:ext cx="301752" cy="301752"/>
            <a:chOff x="0" y="0"/>
            <a:chExt cx="402336" cy="402336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776722" y="6977943"/>
            <a:ext cx="194224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Run on an always-on server. On restart, catch-up refills the missed window by itself. Backfill older gaps from FIRMS archive files.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67828" y="1498854"/>
            <a:ext cx="184338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341,086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6782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</a:t>
            </a: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acilities mapped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6782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Industrial, power, oil &amp; gas and mining sites from OpenStreetMap, at no cost.</a:t>
            </a:r>
          </a:p>
        </p:txBody>
      </p:sp>
      <p:sp>
        <p:nvSpPr>
          <p:cNvPr name="AutoShape 53" id="53"/>
          <p:cNvSpPr/>
          <p:nvPr/>
        </p:nvSpPr>
        <p:spPr>
          <a:xfrm>
            <a:off x="803500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7718965" y="4096417"/>
            <a:ext cx="646366" cy="646366"/>
            <a:chOff x="0" y="0"/>
            <a:chExt cx="861822" cy="86182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877556" y="4255008"/>
            <a:ext cx="329184" cy="329184"/>
            <a:chOff x="0" y="0"/>
            <a:chExt cx="438912" cy="438912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845362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ENRICHMENT</a:t>
            </a:r>
          </a:p>
        </p:txBody>
      </p:sp>
      <p:sp>
        <p:nvSpPr>
          <p:cNvPr name="AutoShape 59" id="59"/>
          <p:cNvSpPr/>
          <p:nvPr/>
        </p:nvSpPr>
        <p:spPr>
          <a:xfrm>
            <a:off x="803261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7900797" y="5256276"/>
            <a:ext cx="301752" cy="301752"/>
            <a:chOff x="0" y="0"/>
            <a:chExt cx="402336" cy="402336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831227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mapped facility within 25 km means no class. 219 detections so far.</a:t>
            </a:r>
          </a:p>
        </p:txBody>
      </p:sp>
      <p:sp>
        <p:nvSpPr>
          <p:cNvPr name="AutoShape 63" id="63"/>
          <p:cNvSpPr/>
          <p:nvPr/>
        </p:nvSpPr>
        <p:spPr>
          <a:xfrm>
            <a:off x="803023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7891272" y="7016043"/>
            <a:ext cx="301752" cy="301752"/>
            <a:chOff x="0" y="0"/>
            <a:chExt cx="402336" cy="402336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830275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Add CPCB and state industry registers to the facility layer, refresh OSM monthly, and re-run gated detections after each import.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293858" y="1498854"/>
            <a:ext cx="99893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0.55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9385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acro-F1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9385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On 2024 regions never seen in training, against 0.41 for a distance rule. Trains on a CPU.</a:t>
            </a:r>
          </a:p>
        </p:txBody>
      </p:sp>
      <p:sp>
        <p:nvSpPr>
          <p:cNvPr name="AutoShape 70" id="70"/>
          <p:cNvSpPr/>
          <p:nvPr/>
        </p:nvSpPr>
        <p:spPr>
          <a:xfrm>
            <a:off x="1056103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0244995" y="4096417"/>
            <a:ext cx="646366" cy="646366"/>
            <a:chOff x="0" y="0"/>
            <a:chExt cx="861822" cy="86182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403586" y="4255008"/>
            <a:ext cx="329184" cy="329184"/>
            <a:chOff x="0" y="0"/>
            <a:chExt cx="438912" cy="438912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097965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</a:t>
            </a:r>
          </a:p>
        </p:txBody>
      </p:sp>
      <p:sp>
        <p:nvSpPr>
          <p:cNvPr name="AutoShape 76" id="76"/>
          <p:cNvSpPr/>
          <p:nvPr/>
        </p:nvSpPr>
        <p:spPr>
          <a:xfrm>
            <a:off x="1055864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0426827" y="5256276"/>
            <a:ext cx="301752" cy="301752"/>
            <a:chOff x="0" y="0"/>
            <a:chExt cx="402336" cy="402336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0838307" y="5218176"/>
            <a:ext cx="1954149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Labels come from public datasets by rule, not field checks. Gas flares are weakest (F1 0.24).</a:t>
            </a:r>
          </a:p>
        </p:txBody>
      </p:sp>
      <p:sp>
        <p:nvSpPr>
          <p:cNvPr name="AutoShape 80" id="80"/>
          <p:cNvSpPr/>
          <p:nvPr/>
        </p:nvSpPr>
        <p:spPr>
          <a:xfrm>
            <a:off x="1055626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1" id="81"/>
          <p:cNvGrpSpPr/>
          <p:nvPr/>
        </p:nvGrpSpPr>
        <p:grpSpPr>
          <a:xfrm rot="0">
            <a:off x="10417302" y="7016043"/>
            <a:ext cx="301752" cy="301752"/>
            <a:chOff x="0" y="0"/>
            <a:chExt cx="402336" cy="402336"/>
          </a:xfrm>
        </p:grpSpPr>
        <p:sp>
          <p:nvSpPr>
            <p:cNvPr name="Freeform 82" id="82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082878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Pilot with a State PCB so inspection results become labels, retrain each season, and use the EOG flare list as a direct lookup.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819888" y="1498854"/>
            <a:ext cx="5664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71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81988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lerts raised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81988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Each near a mapped plant, with its reasons, facility distance and class probabilities.</a:t>
            </a:r>
          </a:p>
        </p:txBody>
      </p:sp>
      <p:sp>
        <p:nvSpPr>
          <p:cNvPr name="AutoShape 87" id="87"/>
          <p:cNvSpPr/>
          <p:nvPr/>
        </p:nvSpPr>
        <p:spPr>
          <a:xfrm>
            <a:off x="1308706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8" id="88"/>
          <p:cNvGrpSpPr/>
          <p:nvPr/>
        </p:nvGrpSpPr>
        <p:grpSpPr>
          <a:xfrm rot="0">
            <a:off x="12771025" y="4096417"/>
            <a:ext cx="646366" cy="646366"/>
            <a:chOff x="0" y="0"/>
            <a:chExt cx="861822" cy="86182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929616" y="4255008"/>
            <a:ext cx="329184" cy="329184"/>
            <a:chOff x="0" y="0"/>
            <a:chExt cx="438912" cy="438912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350568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</a:t>
            </a:r>
          </a:p>
        </p:txBody>
      </p:sp>
      <p:sp>
        <p:nvSpPr>
          <p:cNvPr name="AutoShape 93" id="93"/>
          <p:cNvSpPr/>
          <p:nvPr/>
        </p:nvSpPr>
        <p:spPr>
          <a:xfrm>
            <a:off x="1308467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12952857" y="5256276"/>
            <a:ext cx="301752" cy="301752"/>
            <a:chOff x="0" y="0"/>
            <a:chExt cx="402336" cy="402336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6" id="96"/>
          <p:cNvSpPr txBox="true"/>
          <p:nvPr/>
        </p:nvSpPr>
        <p:spPr>
          <a:xfrm rot="0">
            <a:off x="1336433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wrong alert could lead to action against the wrong plant or farmer.</a:t>
            </a:r>
          </a:p>
        </p:txBody>
      </p:sp>
      <p:sp>
        <p:nvSpPr>
          <p:cNvPr name="AutoShape 97" id="97"/>
          <p:cNvSpPr/>
          <p:nvPr/>
        </p:nvSpPr>
        <p:spPr>
          <a:xfrm>
            <a:off x="1308229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8" id="98"/>
          <p:cNvGrpSpPr/>
          <p:nvPr/>
        </p:nvGrpSpPr>
        <p:grpSpPr>
          <a:xfrm rot="0">
            <a:off x="12943332" y="7016043"/>
            <a:ext cx="301752" cy="301752"/>
            <a:chOff x="0" y="0"/>
            <a:chExt cx="402336" cy="402336"/>
          </a:xfrm>
        </p:grpSpPr>
        <p:sp>
          <p:nvSpPr>
            <p:cNvPr name="Freeform 99" id="99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3354812" y="6977943"/>
            <a:ext cx="194224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An officer acknowledges or resolves every alert. Nothing goes straight to enforcement, and unclear cases stay unclassified.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5345918" y="1498854"/>
            <a:ext cx="28322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5345918" y="2296668"/>
            <a:ext cx="222427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nstalls needed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345918" y="2653284"/>
            <a:ext cx="22242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The dashboard runs in a browser. 77 automated tests pass across the backend.</a:t>
            </a:r>
          </a:p>
        </p:txBody>
      </p:sp>
      <p:sp>
        <p:nvSpPr>
          <p:cNvPr name="AutoShape 104" id="104"/>
          <p:cNvSpPr/>
          <p:nvPr/>
        </p:nvSpPr>
        <p:spPr>
          <a:xfrm>
            <a:off x="15613093" y="3863816"/>
            <a:ext cx="14289" cy="206313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15297055" y="4096417"/>
            <a:ext cx="646366" cy="646366"/>
            <a:chOff x="0" y="0"/>
            <a:chExt cx="861822" cy="86182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61822" cy="861822"/>
            </a:xfrm>
            <a:custGeom>
              <a:avLst/>
              <a:gdLst/>
              <a:ahLst/>
              <a:cxnLst/>
              <a:rect r="r" b="b" t="t" l="l"/>
              <a:pathLst>
                <a:path h="861822" w="861822">
                  <a:moveTo>
                    <a:pt x="0" y="430911"/>
                  </a:moveTo>
                  <a:cubicBezTo>
                    <a:pt x="0" y="192913"/>
                    <a:pt x="192913" y="0"/>
                    <a:pt x="430911" y="0"/>
                  </a:cubicBezTo>
                  <a:cubicBezTo>
                    <a:pt x="668909" y="0"/>
                    <a:pt x="861822" y="192913"/>
                    <a:pt x="861822" y="430911"/>
                  </a:cubicBezTo>
                  <a:cubicBezTo>
                    <a:pt x="861822" y="668909"/>
                    <a:pt x="668909" y="861822"/>
                    <a:pt x="430911" y="861822"/>
                  </a:cubicBezTo>
                  <a:cubicBezTo>
                    <a:pt x="192913" y="861822"/>
                    <a:pt x="0" y="668909"/>
                    <a:pt x="0" y="430911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455646" y="4255008"/>
            <a:ext cx="329184" cy="329184"/>
            <a:chOff x="0" y="0"/>
            <a:chExt cx="438912" cy="438912"/>
          </a:xfrm>
        </p:grpSpPr>
        <p:sp>
          <p:nvSpPr>
            <p:cNvPr name="Freeform 108" id="108" descr="preencoded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6031718" y="4500753"/>
            <a:ext cx="18127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b="true" sz="1474" spc="173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OFFICER</a:t>
            </a:r>
          </a:p>
        </p:txBody>
      </p:sp>
      <p:sp>
        <p:nvSpPr>
          <p:cNvPr name="AutoShape 110" id="110"/>
          <p:cNvSpPr/>
          <p:nvPr/>
        </p:nvSpPr>
        <p:spPr>
          <a:xfrm>
            <a:off x="15610706" y="4739260"/>
            <a:ext cx="19054" cy="485392"/>
          </a:xfrm>
          <a:prstGeom prst="line">
            <a:avLst/>
          </a:prstGeom>
          <a:ln cap="rnd" w="9525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1" id="111"/>
          <p:cNvGrpSpPr/>
          <p:nvPr/>
        </p:nvGrpSpPr>
        <p:grpSpPr>
          <a:xfrm rot="0">
            <a:off x="15478887" y="5256276"/>
            <a:ext cx="301752" cy="301752"/>
            <a:chOff x="0" y="0"/>
            <a:chExt cx="402336" cy="402336"/>
          </a:xfrm>
        </p:grpSpPr>
        <p:sp>
          <p:nvSpPr>
            <p:cNvPr name="Freeform 112" id="112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3" id="113"/>
          <p:cNvSpPr txBox="true"/>
          <p:nvPr/>
        </p:nvSpPr>
        <p:spPr>
          <a:xfrm rot="0">
            <a:off x="15890367" y="5218176"/>
            <a:ext cx="18127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Officers already have routines and may not take up a new tool.</a:t>
            </a:r>
          </a:p>
        </p:txBody>
      </p:sp>
      <p:sp>
        <p:nvSpPr>
          <p:cNvPr name="AutoShape 114" id="114"/>
          <p:cNvSpPr/>
          <p:nvPr/>
        </p:nvSpPr>
        <p:spPr>
          <a:xfrm>
            <a:off x="15608328" y="6410232"/>
            <a:ext cx="23811" cy="517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5" id="115"/>
          <p:cNvGrpSpPr/>
          <p:nvPr/>
        </p:nvGrpSpPr>
        <p:grpSpPr>
          <a:xfrm rot="0">
            <a:off x="15469362" y="7016043"/>
            <a:ext cx="301752" cy="301752"/>
            <a:chOff x="0" y="0"/>
            <a:chExt cx="402336" cy="402336"/>
          </a:xfrm>
        </p:grpSpPr>
        <p:sp>
          <p:nvSpPr>
            <p:cNvPr name="Freeform 116" id="116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7" id="117"/>
          <p:cNvSpPr txBox="true"/>
          <p:nvPr/>
        </p:nvSpPr>
        <p:spPr>
          <a:xfrm rot="0">
            <a:off x="15880842" y="6977943"/>
            <a:ext cx="181279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Start with one district. The alert list works like an inspection queue, and staff get hands-on training during the pilot.</a:t>
            </a:r>
          </a:p>
        </p:txBody>
      </p:sp>
      <p:sp>
        <p:nvSpPr>
          <p:cNvPr name="AutoShape 118" id="118"/>
          <p:cNvSpPr/>
          <p:nvPr/>
        </p:nvSpPr>
        <p:spPr>
          <a:xfrm>
            <a:off x="404339" y="9021009"/>
            <a:ext cx="17474759" cy="14335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9" id="119"/>
          <p:cNvSpPr txBox="true"/>
          <p:nvPr/>
        </p:nvSpPr>
        <p:spPr>
          <a:xfrm rot="0">
            <a:off x="411480" y="9182100"/>
            <a:ext cx="20574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Viability</a:t>
            </a:r>
          </a:p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5A647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why it keeps running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715768" y="9182100"/>
            <a:ext cx="1515618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paid data or hardware</a:t>
            </a:r>
            <a:r>
              <a:rPr lang="en-US" sz="17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: FIRMS, OpenStreetMap and WorldCover are free, and nothing is installed in the field.   </a:t>
            </a:r>
          </a:p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to run</a:t>
            </a:r>
            <a:r>
              <a:rPr lang="en-US" sz="17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: three open-source services and one MongoDB database.   </a:t>
            </a:r>
          </a:p>
          <a:p>
            <a:pPr algn="l">
              <a:lnSpc>
                <a:spcPts val="2129"/>
              </a:lnSpc>
            </a:pPr>
            <a:r>
              <a:rPr lang="en-US" sz="17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Already India-wide</a:t>
            </a:r>
            <a:r>
              <a:rPr lang="en-US" sz="17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: a new state needs its facility registers, not a new model.   </a:t>
            </a:r>
          </a:p>
        </p:txBody>
      </p:sp>
      <p:sp>
        <p:nvSpPr>
          <p:cNvPr name="Freeform 121" id="121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3" id="123"/>
          <p:cNvSpPr txBox="true"/>
          <p:nvPr/>
        </p:nvSpPr>
        <p:spPr>
          <a:xfrm rot="0">
            <a:off x="5585120" y="196469"/>
            <a:ext cx="7117759" cy="94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0"/>
              </a:lnSpc>
            </a:pPr>
            <a:r>
              <a:rPr lang="en-US" b="true" sz="5800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 and Viability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532" y="939516"/>
            <a:ext cx="1798093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 spc="344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IMPACT ON THE TARGET AUDIENCE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55336" y="1453866"/>
            <a:ext cx="6127035" cy="6991018"/>
            <a:chOff x="0" y="0"/>
            <a:chExt cx="7960098" cy="9082564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7960071" cy="9082564"/>
            </a:xfrm>
            <a:custGeom>
              <a:avLst/>
              <a:gdLst/>
              <a:ahLst/>
              <a:cxnLst/>
              <a:rect r="r" b="b" t="t" l="l"/>
              <a:pathLst>
                <a:path h="9082564" w="7960071">
                  <a:moveTo>
                    <a:pt x="0" y="0"/>
                  </a:moveTo>
                  <a:lnTo>
                    <a:pt x="7960071" y="0"/>
                  </a:lnTo>
                  <a:lnTo>
                    <a:pt x="7960071" y="9082564"/>
                  </a:lnTo>
                  <a:lnTo>
                    <a:pt x="0" y="908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81" t="0" r="-98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004669" y="2171749"/>
            <a:ext cx="147670" cy="142494"/>
            <a:chOff x="0" y="0"/>
            <a:chExt cx="196893" cy="1899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893" cy="189992"/>
            </a:xfrm>
            <a:custGeom>
              <a:avLst/>
              <a:gdLst/>
              <a:ahLst/>
              <a:cxnLst/>
              <a:rect r="r" b="b" t="t" l="l"/>
              <a:pathLst>
                <a:path h="189992" w="196893">
                  <a:moveTo>
                    <a:pt x="0" y="94996"/>
                  </a:moveTo>
                  <a:cubicBezTo>
                    <a:pt x="0" y="42545"/>
                    <a:pt x="44090" y="0"/>
                    <a:pt x="98446" y="0"/>
                  </a:cubicBezTo>
                  <a:cubicBezTo>
                    <a:pt x="152802" y="0"/>
                    <a:pt x="196893" y="42545"/>
                    <a:pt x="196893" y="94996"/>
                  </a:cubicBezTo>
                  <a:cubicBezTo>
                    <a:pt x="196893" y="147447"/>
                    <a:pt x="152802" y="189992"/>
                    <a:pt x="98446" y="189992"/>
                  </a:cubicBezTo>
                  <a:cubicBezTo>
                    <a:pt x="44090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313037" y="2070403"/>
            <a:ext cx="49749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12,585</a:t>
            </a:r>
            <a:r>
              <a:rPr lang="en-US" sz="14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 FIRMS detections, 20 Aug – 23 Sep 2026, from the running system; 97.1% classified automatically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59558" y="2718008"/>
            <a:ext cx="237890" cy="229553"/>
            <a:chOff x="0" y="0"/>
            <a:chExt cx="317187" cy="306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187" cy="306070"/>
            </a:xfrm>
            <a:custGeom>
              <a:avLst/>
              <a:gdLst/>
              <a:ahLst/>
              <a:cxnLst/>
              <a:rect r="r" b="b" t="t" l="l"/>
              <a:pathLst>
                <a:path h="306070" w="317187">
                  <a:moveTo>
                    <a:pt x="0" y="153035"/>
                  </a:moveTo>
                  <a:cubicBezTo>
                    <a:pt x="0" y="68453"/>
                    <a:pt x="70939" y="0"/>
                    <a:pt x="158593" y="0"/>
                  </a:cubicBezTo>
                  <a:cubicBezTo>
                    <a:pt x="246247" y="0"/>
                    <a:pt x="317187" y="68453"/>
                    <a:pt x="317187" y="153035"/>
                  </a:cubicBezTo>
                  <a:cubicBezTo>
                    <a:pt x="317187" y="237617"/>
                    <a:pt x="246247" y="306070"/>
                    <a:pt x="158593" y="306070"/>
                  </a:cubicBezTo>
                  <a:cubicBezTo>
                    <a:pt x="70939" y="306070"/>
                    <a:pt x="0" y="237617"/>
                    <a:pt x="0" y="15303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313037" y="2673907"/>
            <a:ext cx="49749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71</a:t>
            </a:r>
            <a:r>
              <a:rPr lang="en-US" sz="1474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 alerts: high anomaly within 1.5 km of a mapped plant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7064" y="1914250"/>
            <a:ext cx="426425" cy="411480"/>
            <a:chOff x="0" y="0"/>
            <a:chExt cx="568567" cy="54864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16" r="0" b="-181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75631" y="1839193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Agriculture and district offices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5631" y="2159995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Amritsar, Punjab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064" y="2423647"/>
            <a:ext cx="149248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1,802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78838" y="2613766"/>
            <a:ext cx="3894685" cy="356616"/>
            <a:chOff x="0" y="0"/>
            <a:chExt cx="5192913" cy="475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detections classed as crop burning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07064" y="3055726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85 near Amritsar as the paddy-residue season begins. Each is tagged with its district, so action goes to the right office.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088545" y="2719021"/>
            <a:ext cx="2414156" cy="46584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4983529" y="2667335"/>
            <a:ext cx="105027" cy="101346"/>
            <a:chOff x="0" y="0"/>
            <a:chExt cx="140036" cy="135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036" cy="135128"/>
            </a:xfrm>
            <a:custGeom>
              <a:avLst/>
              <a:gdLst/>
              <a:ahLst/>
              <a:cxnLst/>
              <a:rect r="r" b="b" t="t" l="l"/>
              <a:pathLst>
                <a:path h="135128" w="140036">
                  <a:moveTo>
                    <a:pt x="0" y="67564"/>
                  </a:moveTo>
                  <a:cubicBezTo>
                    <a:pt x="0" y="30226"/>
                    <a:pt x="31324" y="0"/>
                    <a:pt x="70018" y="0"/>
                  </a:cubicBezTo>
                  <a:cubicBezTo>
                    <a:pt x="108712" y="0"/>
                    <a:pt x="140036" y="30226"/>
                    <a:pt x="140036" y="67564"/>
                  </a:cubicBezTo>
                  <a:cubicBezTo>
                    <a:pt x="140036" y="104902"/>
                    <a:pt x="108712" y="135128"/>
                    <a:pt x="70018" y="135128"/>
                  </a:cubicBezTo>
                  <a:cubicBezTo>
                    <a:pt x="31324" y="135128"/>
                    <a:pt x="0" y="104902"/>
                    <a:pt x="0" y="67564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502670" y="2614852"/>
            <a:ext cx="318832" cy="307658"/>
            <a:chOff x="0" y="0"/>
            <a:chExt cx="425109" cy="4102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5109" cy="410210"/>
            </a:xfrm>
            <a:custGeom>
              <a:avLst/>
              <a:gdLst/>
              <a:ahLst/>
              <a:cxnLst/>
              <a:rect r="r" b="b" t="t" l="l"/>
              <a:pathLst>
                <a:path h="410210" w="425109">
                  <a:moveTo>
                    <a:pt x="0" y="205105"/>
                  </a:moveTo>
                  <a:cubicBezTo>
                    <a:pt x="0" y="91821"/>
                    <a:pt x="95156" y="0"/>
                    <a:pt x="212555" y="0"/>
                  </a:cubicBezTo>
                  <a:cubicBezTo>
                    <a:pt x="329953" y="0"/>
                    <a:pt x="425109" y="91821"/>
                    <a:pt x="425109" y="205105"/>
                  </a:cubicBezTo>
                  <a:cubicBezTo>
                    <a:pt x="425109" y="318389"/>
                    <a:pt x="329953" y="410210"/>
                    <a:pt x="212555" y="410210"/>
                  </a:cubicBezTo>
                  <a:cubicBezTo>
                    <a:pt x="95156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33338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07064" y="4177390"/>
            <a:ext cx="426425" cy="411480"/>
            <a:chOff x="0" y="0"/>
            <a:chExt cx="568567" cy="54864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16" r="0" b="-1816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75631" y="4102333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Oil and gas regulators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5631" y="4423135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Hazira, Gujarat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7064" y="4686787"/>
            <a:ext cx="149248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1789" y="4876906"/>
            <a:ext cx="3894685" cy="356616"/>
            <a:chOff x="0" y="0"/>
            <a:chExt cx="5192913" cy="4754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gas flares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07064" y="5318866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32 around Hazira's gas processing plants. Recurrence at the same 1.5 km spot separates routine flaring from a new event.</a:t>
            </a:r>
          </a:p>
        </p:txBody>
      </p:sp>
      <p:sp>
        <p:nvSpPr>
          <p:cNvPr name="AutoShape 34" id="34"/>
          <p:cNvSpPr/>
          <p:nvPr/>
        </p:nvSpPr>
        <p:spPr>
          <a:xfrm>
            <a:off x="5281624" y="4832541"/>
            <a:ext cx="1739802" cy="210592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5176999" y="4775560"/>
            <a:ext cx="105027" cy="101346"/>
            <a:chOff x="0" y="0"/>
            <a:chExt cx="140036" cy="135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0036" cy="135128"/>
            </a:xfrm>
            <a:custGeom>
              <a:avLst/>
              <a:gdLst/>
              <a:ahLst/>
              <a:cxnLst/>
              <a:rect r="r" b="b" t="t" l="l"/>
              <a:pathLst>
                <a:path h="135128" w="140036">
                  <a:moveTo>
                    <a:pt x="0" y="67564"/>
                  </a:moveTo>
                  <a:cubicBezTo>
                    <a:pt x="0" y="30226"/>
                    <a:pt x="31324" y="0"/>
                    <a:pt x="70018" y="0"/>
                  </a:cubicBezTo>
                  <a:cubicBezTo>
                    <a:pt x="108712" y="0"/>
                    <a:pt x="140036" y="30226"/>
                    <a:pt x="140036" y="67564"/>
                  </a:cubicBezTo>
                  <a:cubicBezTo>
                    <a:pt x="140036" y="104902"/>
                    <a:pt x="108712" y="135128"/>
                    <a:pt x="70018" y="135128"/>
                  </a:cubicBezTo>
                  <a:cubicBezTo>
                    <a:pt x="31324" y="135128"/>
                    <a:pt x="0" y="104902"/>
                    <a:pt x="0" y="67564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020203" y="4908453"/>
            <a:ext cx="318832" cy="307658"/>
            <a:chOff x="0" y="0"/>
            <a:chExt cx="425109" cy="4102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5109" cy="410210"/>
            </a:xfrm>
            <a:custGeom>
              <a:avLst/>
              <a:gdLst/>
              <a:ahLst/>
              <a:cxnLst/>
              <a:rect r="r" b="b" t="t" l="l"/>
              <a:pathLst>
                <a:path h="410210" w="425109">
                  <a:moveTo>
                    <a:pt x="0" y="205105"/>
                  </a:moveTo>
                  <a:cubicBezTo>
                    <a:pt x="0" y="91821"/>
                    <a:pt x="95156" y="0"/>
                    <a:pt x="212555" y="0"/>
                  </a:cubicBezTo>
                  <a:cubicBezTo>
                    <a:pt x="329953" y="0"/>
                    <a:pt x="425109" y="91821"/>
                    <a:pt x="425109" y="205105"/>
                  </a:cubicBezTo>
                  <a:cubicBezTo>
                    <a:pt x="425109" y="318389"/>
                    <a:pt x="329953" y="410210"/>
                    <a:pt x="212555" y="410210"/>
                  </a:cubicBezTo>
                  <a:cubicBezTo>
                    <a:pt x="95156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33338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307064" y="6440530"/>
            <a:ext cx="426425" cy="411480"/>
            <a:chOff x="0" y="0"/>
            <a:chExt cx="568567" cy="54864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16" r="0" b="-1816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75631" y="6365473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Forest departments and SDMAs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5631" y="6686275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Western Ghats, Kerala and Tamil Nadu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07064" y="6949927"/>
            <a:ext cx="149248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1,749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635988" y="7140046"/>
            <a:ext cx="3894685" cy="356616"/>
            <a:chOff x="0" y="0"/>
            <a:chExt cx="5192913" cy="475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wildfire detections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07064" y="7582006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137 in the southern Ghats. The count of detections within 3 km in 72 h shows which fires are spreading.</a:t>
            </a:r>
          </a:p>
        </p:txBody>
      </p:sp>
      <p:sp>
        <p:nvSpPr>
          <p:cNvPr name="AutoShape 48" id="48"/>
          <p:cNvSpPr/>
          <p:nvPr/>
        </p:nvSpPr>
        <p:spPr>
          <a:xfrm>
            <a:off x="5386503" y="7198089"/>
            <a:ext cx="2874633" cy="407695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5282026" y="7140046"/>
            <a:ext cx="105027" cy="101346"/>
            <a:chOff x="0" y="0"/>
            <a:chExt cx="140036" cy="135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0036" cy="135128"/>
            </a:xfrm>
            <a:custGeom>
              <a:avLst/>
              <a:gdLst/>
              <a:ahLst/>
              <a:cxnLst/>
              <a:rect r="r" b="b" t="t" l="l"/>
              <a:pathLst>
                <a:path h="135128" w="140036">
                  <a:moveTo>
                    <a:pt x="0" y="67564"/>
                  </a:moveTo>
                  <a:cubicBezTo>
                    <a:pt x="0" y="30226"/>
                    <a:pt x="31324" y="0"/>
                    <a:pt x="70018" y="0"/>
                  </a:cubicBezTo>
                  <a:cubicBezTo>
                    <a:pt x="108712" y="0"/>
                    <a:pt x="140036" y="30226"/>
                    <a:pt x="140036" y="67564"/>
                  </a:cubicBezTo>
                  <a:cubicBezTo>
                    <a:pt x="140036" y="104902"/>
                    <a:pt x="108712" y="135128"/>
                    <a:pt x="70018" y="135128"/>
                  </a:cubicBezTo>
                  <a:cubicBezTo>
                    <a:pt x="31324" y="135128"/>
                    <a:pt x="0" y="104902"/>
                    <a:pt x="0" y="67564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8091854" y="7442427"/>
            <a:ext cx="318832" cy="307658"/>
            <a:chOff x="0" y="0"/>
            <a:chExt cx="425109" cy="4102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5109" cy="410210"/>
            </a:xfrm>
            <a:custGeom>
              <a:avLst/>
              <a:gdLst/>
              <a:ahLst/>
              <a:cxnLst/>
              <a:rect r="r" b="b" t="t" l="l"/>
              <a:pathLst>
                <a:path h="410210" w="425109">
                  <a:moveTo>
                    <a:pt x="0" y="205105"/>
                  </a:moveTo>
                  <a:cubicBezTo>
                    <a:pt x="0" y="91821"/>
                    <a:pt x="95156" y="0"/>
                    <a:pt x="212555" y="0"/>
                  </a:cubicBezTo>
                  <a:cubicBezTo>
                    <a:pt x="329953" y="0"/>
                    <a:pt x="425109" y="91821"/>
                    <a:pt x="425109" y="205105"/>
                  </a:cubicBezTo>
                  <a:cubicBezTo>
                    <a:pt x="425109" y="318389"/>
                    <a:pt x="329953" y="410210"/>
                    <a:pt x="212555" y="410210"/>
                  </a:cubicBezTo>
                  <a:cubicBezTo>
                    <a:pt x="95156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33338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957683" y="3374566"/>
            <a:ext cx="426425" cy="411480"/>
            <a:chOff x="0" y="0"/>
            <a:chExt cx="568567" cy="54864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16" r="0" b="-1816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526250" y="3299509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Mining regulators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26250" y="3620311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Jharia coalfield, Jharkhand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957683" y="3883963"/>
            <a:ext cx="149248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1,611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4350672" y="4074082"/>
            <a:ext cx="3894685" cy="356616"/>
            <a:chOff x="0" y="0"/>
            <a:chExt cx="5192913" cy="4754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mining heat detections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2957683" y="4516042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691 over Jharia, where underground coal fires have burned for decades. FRP history shows which sites are getting hotter.</a:t>
            </a:r>
          </a:p>
        </p:txBody>
      </p:sp>
      <p:sp>
        <p:nvSpPr>
          <p:cNvPr name="AutoShape 62" id="62"/>
          <p:cNvSpPr/>
          <p:nvPr/>
        </p:nvSpPr>
        <p:spPr>
          <a:xfrm flipH="true">
            <a:off x="10014074" y="4182607"/>
            <a:ext cx="2759247" cy="339867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2772905" y="4125517"/>
            <a:ext cx="105027" cy="101346"/>
            <a:chOff x="0" y="0"/>
            <a:chExt cx="140036" cy="135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0036" cy="135128"/>
            </a:xfrm>
            <a:custGeom>
              <a:avLst/>
              <a:gdLst/>
              <a:ahLst/>
              <a:cxnLst/>
              <a:rect r="r" b="b" t="t" l="l"/>
              <a:pathLst>
                <a:path h="135128" w="140036">
                  <a:moveTo>
                    <a:pt x="0" y="67564"/>
                  </a:moveTo>
                  <a:cubicBezTo>
                    <a:pt x="0" y="30226"/>
                    <a:pt x="31324" y="0"/>
                    <a:pt x="70018" y="0"/>
                  </a:cubicBezTo>
                  <a:cubicBezTo>
                    <a:pt x="108712" y="0"/>
                    <a:pt x="140036" y="30226"/>
                    <a:pt x="140036" y="67564"/>
                  </a:cubicBezTo>
                  <a:cubicBezTo>
                    <a:pt x="140036" y="104902"/>
                    <a:pt x="108712" y="135128"/>
                    <a:pt x="70018" y="135128"/>
                  </a:cubicBezTo>
                  <a:cubicBezTo>
                    <a:pt x="31324" y="135128"/>
                    <a:pt x="0" y="104902"/>
                    <a:pt x="0" y="67564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864530" y="4359127"/>
            <a:ext cx="318832" cy="307658"/>
            <a:chOff x="0" y="0"/>
            <a:chExt cx="425109" cy="4102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5109" cy="410210"/>
            </a:xfrm>
            <a:custGeom>
              <a:avLst/>
              <a:gdLst/>
              <a:ahLst/>
              <a:cxnLst/>
              <a:rect r="r" b="b" t="t" l="l"/>
              <a:pathLst>
                <a:path h="410210" w="425109">
                  <a:moveTo>
                    <a:pt x="0" y="205105"/>
                  </a:moveTo>
                  <a:cubicBezTo>
                    <a:pt x="0" y="91821"/>
                    <a:pt x="95156" y="0"/>
                    <a:pt x="212555" y="0"/>
                  </a:cubicBezTo>
                  <a:cubicBezTo>
                    <a:pt x="329953" y="0"/>
                    <a:pt x="425109" y="91821"/>
                    <a:pt x="425109" y="205105"/>
                  </a:cubicBezTo>
                  <a:cubicBezTo>
                    <a:pt x="425109" y="318389"/>
                    <a:pt x="329953" y="410210"/>
                    <a:pt x="212555" y="410210"/>
                  </a:cubicBezTo>
                  <a:cubicBezTo>
                    <a:pt x="95156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33338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957683" y="5637706"/>
            <a:ext cx="426425" cy="411480"/>
            <a:chOff x="0" y="0"/>
            <a:chExt cx="568567" cy="548640"/>
          </a:xfrm>
        </p:grpSpPr>
        <p:sp>
          <p:nvSpPr>
            <p:cNvPr name="Freeform 68" id="68" descr="preencoded.png"/>
            <p:cNvSpPr/>
            <p:nvPr/>
          </p:nvSpPr>
          <p:spPr>
            <a:xfrm flipH="false" flipV="false" rot="0">
              <a:off x="0" y="0"/>
              <a:ext cx="568567" cy="548640"/>
            </a:xfrm>
            <a:custGeom>
              <a:avLst/>
              <a:gdLst/>
              <a:ahLst/>
              <a:cxnLst/>
              <a:rect r="r" b="b" t="t" l="l"/>
              <a:pathLst>
                <a:path h="548640" w="568567">
                  <a:moveTo>
                    <a:pt x="0" y="0"/>
                  </a:moveTo>
                  <a:lnTo>
                    <a:pt x="568567" y="0"/>
                  </a:lnTo>
                  <a:lnTo>
                    <a:pt x="568567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816" r="0" b="-1816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3526250" y="5562649"/>
            <a:ext cx="471910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Pollution control boards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26250" y="5883451"/>
            <a:ext cx="47191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474" i="true">
                <a:solidFill>
                  <a:srgbClr val="1459C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Raigarh–Jharsuguda, Chhattisgarh and Odisha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57683" y="6147103"/>
            <a:ext cx="149248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1,180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4350672" y="6337222"/>
            <a:ext cx="3894685" cy="356616"/>
            <a:chOff x="0" y="0"/>
            <a:chExt cx="5192913" cy="4754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92913" cy="475488"/>
            </a:xfrm>
            <a:custGeom>
              <a:avLst/>
              <a:gdLst/>
              <a:ahLst/>
              <a:cxnLst/>
              <a:rect r="r" b="b" t="t" l="l"/>
              <a:pathLst>
                <a:path h="475488" w="5192913">
                  <a:moveTo>
                    <a:pt x="0" y="0"/>
                  </a:moveTo>
                  <a:lnTo>
                    <a:pt x="5192913" y="0"/>
                  </a:lnTo>
                  <a:lnTo>
                    <a:pt x="5192913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42" r="3504" b="-15534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192913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5A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industrial fires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957683" y="6779182"/>
            <a:ext cx="52876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191 in this steel and aluminium belt. Near a mapped plant they become alerts with facility, distance and reasons.</a:t>
            </a:r>
          </a:p>
        </p:txBody>
      </p:sp>
      <p:sp>
        <p:nvSpPr>
          <p:cNvPr name="AutoShape 76" id="76"/>
          <p:cNvSpPr/>
          <p:nvPr/>
        </p:nvSpPr>
        <p:spPr>
          <a:xfrm flipH="true" flipV="true">
            <a:off x="9459863" y="4908453"/>
            <a:ext cx="3317754" cy="1459181"/>
          </a:xfrm>
          <a:prstGeom prst="line">
            <a:avLst/>
          </a:prstGeom>
          <a:ln cap="rnd" w="9525">
            <a:solidFill>
              <a:srgbClr val="1459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2772905" y="6337984"/>
            <a:ext cx="105027" cy="101346"/>
            <a:chOff x="0" y="0"/>
            <a:chExt cx="140036" cy="135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0036" cy="135128"/>
            </a:xfrm>
            <a:custGeom>
              <a:avLst/>
              <a:gdLst/>
              <a:ahLst/>
              <a:cxnLst/>
              <a:rect r="r" b="b" t="t" l="l"/>
              <a:pathLst>
                <a:path h="135128" w="140036">
                  <a:moveTo>
                    <a:pt x="0" y="67564"/>
                  </a:moveTo>
                  <a:cubicBezTo>
                    <a:pt x="0" y="30226"/>
                    <a:pt x="31324" y="0"/>
                    <a:pt x="70018" y="0"/>
                  </a:cubicBezTo>
                  <a:cubicBezTo>
                    <a:pt x="108712" y="0"/>
                    <a:pt x="140036" y="30226"/>
                    <a:pt x="140036" y="67564"/>
                  </a:cubicBezTo>
                  <a:cubicBezTo>
                    <a:pt x="140036" y="104902"/>
                    <a:pt x="108712" y="135128"/>
                    <a:pt x="70018" y="135128"/>
                  </a:cubicBezTo>
                  <a:cubicBezTo>
                    <a:pt x="31324" y="135128"/>
                    <a:pt x="0" y="104902"/>
                    <a:pt x="0" y="67564"/>
                  </a:cubicBezTo>
                  <a:close/>
                </a:path>
              </a:pathLst>
            </a:custGeom>
            <a:solidFill>
              <a:srgbClr val="1459C9"/>
            </a:solidFill>
            <a:ln w="19050" cap="sq">
              <a:solidFill>
                <a:srgbClr val="1459C9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310315" y="4764149"/>
            <a:ext cx="318832" cy="307658"/>
            <a:chOff x="0" y="0"/>
            <a:chExt cx="425109" cy="41021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25109" cy="410210"/>
            </a:xfrm>
            <a:custGeom>
              <a:avLst/>
              <a:gdLst/>
              <a:ahLst/>
              <a:cxnLst/>
              <a:rect r="r" b="b" t="t" l="l"/>
              <a:pathLst>
                <a:path h="410210" w="425109">
                  <a:moveTo>
                    <a:pt x="0" y="205105"/>
                  </a:moveTo>
                  <a:cubicBezTo>
                    <a:pt x="0" y="91821"/>
                    <a:pt x="95156" y="0"/>
                    <a:pt x="212555" y="0"/>
                  </a:cubicBezTo>
                  <a:cubicBezTo>
                    <a:pt x="329953" y="0"/>
                    <a:pt x="425109" y="91821"/>
                    <a:pt x="425109" y="205105"/>
                  </a:cubicBezTo>
                  <a:cubicBezTo>
                    <a:pt x="425109" y="318389"/>
                    <a:pt x="329953" y="410210"/>
                    <a:pt x="212555" y="410210"/>
                  </a:cubicBezTo>
                  <a:cubicBezTo>
                    <a:pt x="95156" y="410210"/>
                    <a:pt x="0" y="318389"/>
                    <a:pt x="0" y="2051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559" t="0" r="-72054" b="0"/>
              </a:stretch>
            </a:blipFill>
            <a:ln w="33338" cap="sq">
              <a:solidFill>
                <a:srgbClr val="0A2A66"/>
              </a:solidFill>
              <a:prstDash val="solid"/>
              <a:miter/>
            </a:ln>
          </p:spPr>
        </p:sp>
      </p:grpSp>
      <p:sp>
        <p:nvSpPr>
          <p:cNvPr name="TextBox 81" id="81"/>
          <p:cNvSpPr txBox="true"/>
          <p:nvPr/>
        </p:nvSpPr>
        <p:spPr>
          <a:xfrm rot="0">
            <a:off x="307064" y="8278798"/>
            <a:ext cx="1778193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 spc="344">
                <a:solidFill>
                  <a:srgbClr val="1459C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 OF THE SOLUTION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307064" y="8771050"/>
            <a:ext cx="341140" cy="329184"/>
            <a:chOff x="0" y="0"/>
            <a:chExt cx="454854" cy="438912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16" r="0" b="-1816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776132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Social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7064" y="9171862"/>
            <a:ext cx="40794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Earlier flags give district health officials time to issue smoke advisories, even where there is no ground air-quality monitor. Alerts name the district and state in plain words.</a:t>
            </a:r>
          </a:p>
        </p:txBody>
      </p:sp>
      <p:sp>
        <p:nvSpPr>
          <p:cNvPr name="AutoShape 86" id="86"/>
          <p:cNvSpPr/>
          <p:nvPr/>
        </p:nvSpPr>
        <p:spPr>
          <a:xfrm>
            <a:off x="4606556" y="8791339"/>
            <a:ext cx="14798" cy="1495614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4812958" y="8771050"/>
            <a:ext cx="341140" cy="329184"/>
            <a:chOff x="0" y="0"/>
            <a:chExt cx="454854" cy="438912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816" r="0" b="-1816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5282026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Economic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812958" y="9171862"/>
            <a:ext cx="40794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Built only on free data: NASA FIRMS, OpenStreetMap, ESA WorldCover. No sensors to buy or install. Field teams start from a ranked alert list, not a raw map.</a:t>
            </a:r>
          </a:p>
        </p:txBody>
      </p:sp>
      <p:sp>
        <p:nvSpPr>
          <p:cNvPr name="AutoShape 91" id="91"/>
          <p:cNvSpPr/>
          <p:nvPr/>
        </p:nvSpPr>
        <p:spPr>
          <a:xfrm>
            <a:off x="9112451" y="8791339"/>
            <a:ext cx="14798" cy="1495614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9318853" y="8771050"/>
            <a:ext cx="341140" cy="329184"/>
            <a:chOff x="0" y="0"/>
            <a:chExt cx="454854" cy="438912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816" r="0" b="-1816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9787921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Environmental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318853" y="9171862"/>
            <a:ext cx="407946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Action goes to the actual source: crop, forest, flare, mine or plant. Repeat detections at one spot expose chronic emitters, not just one-off fires.</a:t>
            </a:r>
          </a:p>
        </p:txBody>
      </p:sp>
      <p:sp>
        <p:nvSpPr>
          <p:cNvPr name="AutoShape 96" id="96"/>
          <p:cNvSpPr/>
          <p:nvPr/>
        </p:nvSpPr>
        <p:spPr>
          <a:xfrm>
            <a:off x="13618346" y="8791339"/>
            <a:ext cx="14798" cy="1495614"/>
          </a:xfrm>
          <a:prstGeom prst="line">
            <a:avLst/>
          </a:prstGeom>
          <a:ln cap="rnd" w="9525">
            <a:solidFill>
              <a:srgbClr val="B7CB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7" id="97"/>
          <p:cNvGrpSpPr/>
          <p:nvPr/>
        </p:nvGrpSpPr>
        <p:grpSpPr>
          <a:xfrm rot="0">
            <a:off x="13824748" y="8771050"/>
            <a:ext cx="341140" cy="329184"/>
            <a:chOff x="0" y="0"/>
            <a:chExt cx="454854" cy="438912"/>
          </a:xfrm>
        </p:grpSpPr>
        <p:sp>
          <p:nvSpPr>
            <p:cNvPr name="Freeform 98" id="98" descr="preencoded.png"/>
            <p:cNvSpPr/>
            <p:nvPr/>
          </p:nvSpPr>
          <p:spPr>
            <a:xfrm flipH="false" flipV="false" rot="0">
              <a:off x="0" y="0"/>
              <a:ext cx="454854" cy="438912"/>
            </a:xfrm>
            <a:custGeom>
              <a:avLst/>
              <a:gdLst/>
              <a:ahLst/>
              <a:cxnLst/>
              <a:rect r="r" b="b" t="t" l="l"/>
              <a:pathLst>
                <a:path h="438912" w="454854">
                  <a:moveTo>
                    <a:pt x="0" y="0"/>
                  </a:moveTo>
                  <a:lnTo>
                    <a:pt x="454854" y="0"/>
                  </a:lnTo>
                  <a:lnTo>
                    <a:pt x="454854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816" r="0" b="-1816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4293816" y="8737141"/>
            <a:ext cx="379518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b="true">
                <a:solidFill>
                  <a:srgbClr val="0A2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Governance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824748" y="9171862"/>
            <a:ext cx="407946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1C2434"/>
                </a:solidFill>
                <a:latin typeface="Calibri (MS)"/>
                <a:ea typeface="Calibri (MS)"/>
                <a:cs typeface="Calibri (MS)"/>
                <a:sym typeface="Calibri (MS)"/>
              </a:rPr>
              <a:t>Every alert shows its reasons and class probabilities. 219 detections with no mapped facility were left unclassified rather than guessed. MIT-licensed and open to audit.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-2310582" y="-2324356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60" y="0"/>
                </a:lnTo>
                <a:lnTo>
                  <a:pt x="5542260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9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3899228" y="-1689927"/>
            <a:ext cx="6626037" cy="3282628"/>
            <a:chOff x="0" y="0"/>
            <a:chExt cx="977692" cy="4843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77692" cy="484362"/>
            </a:xfrm>
            <a:custGeom>
              <a:avLst/>
              <a:gdLst/>
              <a:ahLst/>
              <a:cxnLst/>
              <a:rect r="r" b="b" t="t" l="l"/>
              <a:pathLst>
                <a:path h="484362" w="977692">
                  <a:moveTo>
                    <a:pt x="977692" y="242181"/>
                  </a:moveTo>
                  <a:lnTo>
                    <a:pt x="774492" y="484362"/>
                  </a:lnTo>
                  <a:lnTo>
                    <a:pt x="203200" y="484362"/>
                  </a:lnTo>
                  <a:lnTo>
                    <a:pt x="0" y="242181"/>
                  </a:lnTo>
                  <a:lnTo>
                    <a:pt x="203200" y="0"/>
                  </a:lnTo>
                  <a:lnTo>
                    <a:pt x="774492" y="0"/>
                  </a:lnTo>
                  <a:lnTo>
                    <a:pt x="977692" y="242181"/>
                  </a:lnTo>
                  <a:close/>
                </a:path>
              </a:pathLst>
            </a:custGeom>
            <a:solidFill>
              <a:srgbClr val="0F81CA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114300" y="-38100"/>
              <a:ext cx="749092" cy="522462"/>
            </a:xfrm>
            <a:prstGeom prst="rect">
              <a:avLst/>
            </a:prstGeom>
          </p:spPr>
          <p:txBody>
            <a:bodyPr anchor="ctr" rtlCol="false" tIns="34683" lIns="34683" bIns="34683" rIns="346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136320" y="-704474"/>
            <a:ext cx="5617587" cy="2129765"/>
            <a:chOff x="0" y="0"/>
            <a:chExt cx="970531" cy="3679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70531" cy="367952"/>
            </a:xfrm>
            <a:custGeom>
              <a:avLst/>
              <a:gdLst/>
              <a:ahLst/>
              <a:cxnLst/>
              <a:rect r="r" b="b" t="t" l="l"/>
              <a:pathLst>
                <a:path h="367952" w="970531">
                  <a:moveTo>
                    <a:pt x="970531" y="183976"/>
                  </a:moveTo>
                  <a:lnTo>
                    <a:pt x="767331" y="367952"/>
                  </a:lnTo>
                  <a:lnTo>
                    <a:pt x="203200" y="367952"/>
                  </a:lnTo>
                  <a:lnTo>
                    <a:pt x="0" y="183976"/>
                  </a:lnTo>
                  <a:lnTo>
                    <a:pt x="203200" y="0"/>
                  </a:lnTo>
                  <a:lnTo>
                    <a:pt x="767331" y="0"/>
                  </a:lnTo>
                  <a:lnTo>
                    <a:pt x="970531" y="183976"/>
                  </a:ln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114300" y="-38100"/>
              <a:ext cx="741931" cy="406052"/>
            </a:xfrm>
            <a:prstGeom prst="rect">
              <a:avLst/>
            </a:prstGeom>
          </p:spPr>
          <p:txBody>
            <a:bodyPr anchor="ctr" rtlCol="false" tIns="34683" lIns="34683" bIns="34683" rIns="346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5853005" y="-39019"/>
            <a:ext cx="6548488" cy="94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0"/>
              </a:lnSpc>
            </a:pPr>
            <a:r>
              <a:rPr lang="en-US" b="true" sz="5800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99228" y="-1689927"/>
            <a:ext cx="6626037" cy="3282628"/>
            <a:chOff x="0" y="0"/>
            <a:chExt cx="8834716" cy="437683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834716" cy="4376838"/>
              <a:chOff x="0" y="0"/>
              <a:chExt cx="977692" cy="48436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77692" cy="484362"/>
              </a:xfrm>
              <a:custGeom>
                <a:avLst/>
                <a:gdLst/>
                <a:ahLst/>
                <a:cxnLst/>
                <a:rect r="r" b="b" t="t" l="l"/>
                <a:pathLst>
                  <a:path h="484362" w="977692">
                    <a:moveTo>
                      <a:pt x="977692" y="242181"/>
                    </a:moveTo>
                    <a:lnTo>
                      <a:pt x="774492" y="484362"/>
                    </a:lnTo>
                    <a:lnTo>
                      <a:pt x="203200" y="484362"/>
                    </a:lnTo>
                    <a:lnTo>
                      <a:pt x="0" y="242181"/>
                    </a:lnTo>
                    <a:lnTo>
                      <a:pt x="203200" y="0"/>
                    </a:lnTo>
                    <a:lnTo>
                      <a:pt x="774492" y="0"/>
                    </a:lnTo>
                    <a:lnTo>
                      <a:pt x="977692" y="242181"/>
                    </a:lnTo>
                    <a:close/>
                  </a:path>
                </a:pathLst>
              </a:custGeom>
              <a:solidFill>
                <a:srgbClr val="0F81CA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14300" y="-38100"/>
                <a:ext cx="749092" cy="5224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16123" y="1313937"/>
              <a:ext cx="7490116" cy="2839686"/>
              <a:chOff x="0" y="0"/>
              <a:chExt cx="970531" cy="36795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70531" cy="367952"/>
              </a:xfrm>
              <a:custGeom>
                <a:avLst/>
                <a:gdLst/>
                <a:ahLst/>
                <a:cxnLst/>
                <a:rect r="r" b="b" t="t" l="l"/>
                <a:pathLst>
                  <a:path h="367952" w="970531">
                    <a:moveTo>
                      <a:pt x="970531" y="183976"/>
                    </a:moveTo>
                    <a:lnTo>
                      <a:pt x="767331" y="367952"/>
                    </a:lnTo>
                    <a:lnTo>
                      <a:pt x="203200" y="367952"/>
                    </a:lnTo>
                    <a:lnTo>
                      <a:pt x="0" y="183976"/>
                    </a:lnTo>
                    <a:lnTo>
                      <a:pt x="203200" y="0"/>
                    </a:lnTo>
                    <a:lnTo>
                      <a:pt x="767331" y="0"/>
                    </a:lnTo>
                    <a:lnTo>
                      <a:pt x="970531" y="183976"/>
                    </a:lnTo>
                    <a:close/>
                  </a:path>
                </a:pathLst>
              </a:custGeom>
              <a:solidFill>
                <a:srgbClr val="023D6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14300" y="-38100"/>
                <a:ext cx="741931" cy="4060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68453" y="2133685"/>
            <a:ext cx="8254222" cy="7868209"/>
            <a:chOff x="0" y="0"/>
            <a:chExt cx="2173952" cy="2072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951" cy="2072286"/>
            </a:xfrm>
            <a:custGeom>
              <a:avLst/>
              <a:gdLst/>
              <a:ahLst/>
              <a:cxnLst/>
              <a:rect r="r" b="b" t="t" l="l"/>
              <a:pathLst>
                <a:path h="2072286" w="2173951">
                  <a:moveTo>
                    <a:pt x="47835" y="0"/>
                  </a:moveTo>
                  <a:lnTo>
                    <a:pt x="2126117" y="0"/>
                  </a:lnTo>
                  <a:cubicBezTo>
                    <a:pt x="2152535" y="0"/>
                    <a:pt x="2173951" y="21416"/>
                    <a:pt x="2173951" y="47835"/>
                  </a:cubicBezTo>
                  <a:lnTo>
                    <a:pt x="2173951" y="2024451"/>
                  </a:lnTo>
                  <a:cubicBezTo>
                    <a:pt x="2173951" y="2050869"/>
                    <a:pt x="2152535" y="2072286"/>
                    <a:pt x="2126117" y="2072286"/>
                  </a:cubicBezTo>
                  <a:lnTo>
                    <a:pt x="47835" y="2072286"/>
                  </a:lnTo>
                  <a:cubicBezTo>
                    <a:pt x="35148" y="2072286"/>
                    <a:pt x="22981" y="2067246"/>
                    <a:pt x="14010" y="2058275"/>
                  </a:cubicBezTo>
                  <a:cubicBezTo>
                    <a:pt x="5040" y="2049304"/>
                    <a:pt x="0" y="2037137"/>
                    <a:pt x="0" y="2024451"/>
                  </a:cubicBezTo>
                  <a:lnTo>
                    <a:pt x="0" y="47835"/>
                  </a:lnTo>
                  <a:cubicBezTo>
                    <a:pt x="0" y="21416"/>
                    <a:pt x="21416" y="0"/>
                    <a:pt x="47835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73952" cy="2091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4087" y="2133685"/>
            <a:ext cx="4519993" cy="821970"/>
            <a:chOff x="0" y="0"/>
            <a:chExt cx="1190451" cy="2164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0451" cy="216486"/>
            </a:xfrm>
            <a:custGeom>
              <a:avLst/>
              <a:gdLst/>
              <a:ahLst/>
              <a:cxnLst/>
              <a:rect r="r" b="b" t="t" l="l"/>
              <a:pathLst>
                <a:path h="216486" w="1190451">
                  <a:moveTo>
                    <a:pt x="87354" y="0"/>
                  </a:moveTo>
                  <a:lnTo>
                    <a:pt x="1103097" y="0"/>
                  </a:lnTo>
                  <a:cubicBezTo>
                    <a:pt x="1126265" y="0"/>
                    <a:pt x="1148483" y="9203"/>
                    <a:pt x="1164866" y="25585"/>
                  </a:cubicBezTo>
                  <a:cubicBezTo>
                    <a:pt x="1181247" y="41967"/>
                    <a:pt x="1190451" y="64186"/>
                    <a:pt x="1190451" y="87354"/>
                  </a:cubicBezTo>
                  <a:lnTo>
                    <a:pt x="1190451" y="129132"/>
                  </a:lnTo>
                  <a:cubicBezTo>
                    <a:pt x="1190451" y="177376"/>
                    <a:pt x="1151341" y="216486"/>
                    <a:pt x="1103097" y="216486"/>
                  </a:cubicBezTo>
                  <a:lnTo>
                    <a:pt x="87354" y="216486"/>
                  </a:lnTo>
                  <a:cubicBezTo>
                    <a:pt x="39110" y="216486"/>
                    <a:pt x="0" y="177376"/>
                    <a:pt x="0" y="129132"/>
                  </a:cubicBezTo>
                  <a:lnTo>
                    <a:pt x="0" y="87354"/>
                  </a:lnTo>
                  <a:cubicBezTo>
                    <a:pt x="0" y="39110"/>
                    <a:pt x="39110" y="0"/>
                    <a:pt x="87354" y="0"/>
                  </a:cubicBezTo>
                  <a:close/>
                </a:path>
              </a:pathLst>
            </a:custGeom>
            <a:solidFill>
              <a:srgbClr val="99DA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90451" cy="235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60379" y="4674846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60379" y="6184944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60379" y="7801132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860379" y="9522380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675003" y="2204508"/>
            <a:ext cx="7975308" cy="7745613"/>
            <a:chOff x="0" y="0"/>
            <a:chExt cx="2100493" cy="20399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0493" cy="2039997"/>
            </a:xfrm>
            <a:custGeom>
              <a:avLst/>
              <a:gdLst/>
              <a:ahLst/>
              <a:cxnLst/>
              <a:rect r="r" b="b" t="t" l="l"/>
              <a:pathLst>
                <a:path h="2039997" w="2100493">
                  <a:moveTo>
                    <a:pt x="49508" y="0"/>
                  </a:moveTo>
                  <a:lnTo>
                    <a:pt x="2050985" y="0"/>
                  </a:lnTo>
                  <a:cubicBezTo>
                    <a:pt x="2078327" y="0"/>
                    <a:pt x="2100493" y="22165"/>
                    <a:pt x="2100493" y="49508"/>
                  </a:cubicBezTo>
                  <a:lnTo>
                    <a:pt x="2100493" y="1990490"/>
                  </a:lnTo>
                  <a:cubicBezTo>
                    <a:pt x="2100493" y="2003620"/>
                    <a:pt x="2095277" y="2016212"/>
                    <a:pt x="2085992" y="2025497"/>
                  </a:cubicBezTo>
                  <a:cubicBezTo>
                    <a:pt x="2076708" y="2034781"/>
                    <a:pt x="2064115" y="2039997"/>
                    <a:pt x="2050985" y="2039997"/>
                  </a:cubicBezTo>
                  <a:lnTo>
                    <a:pt x="49508" y="2039997"/>
                  </a:lnTo>
                  <a:cubicBezTo>
                    <a:pt x="22165" y="2039997"/>
                    <a:pt x="0" y="2017832"/>
                    <a:pt x="0" y="1990490"/>
                  </a:cubicBezTo>
                  <a:lnTo>
                    <a:pt x="0" y="49508"/>
                  </a:lnTo>
                  <a:cubicBezTo>
                    <a:pt x="0" y="36377"/>
                    <a:pt x="5216" y="23785"/>
                    <a:pt x="14500" y="14500"/>
                  </a:cubicBezTo>
                  <a:cubicBezTo>
                    <a:pt x="23785" y="5216"/>
                    <a:pt x="36377" y="0"/>
                    <a:pt x="49508" y="0"/>
                  </a:cubicBezTo>
                  <a:close/>
                </a:path>
              </a:pathLst>
            </a:custGeom>
            <a:solidFill>
              <a:srgbClr val="E3EBF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00493" cy="2059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0235503" y="4735698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0235503" y="6471506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235503" y="8234266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766639" y="2195909"/>
            <a:ext cx="4519993" cy="755295"/>
            <a:chOff x="0" y="0"/>
            <a:chExt cx="1190451" cy="1989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90451" cy="198926"/>
            </a:xfrm>
            <a:custGeom>
              <a:avLst/>
              <a:gdLst/>
              <a:ahLst/>
              <a:cxnLst/>
              <a:rect r="r" b="b" t="t" l="l"/>
              <a:pathLst>
                <a:path h="198926" w="1190451">
                  <a:moveTo>
                    <a:pt x="87354" y="0"/>
                  </a:moveTo>
                  <a:lnTo>
                    <a:pt x="1103097" y="0"/>
                  </a:lnTo>
                  <a:cubicBezTo>
                    <a:pt x="1126265" y="0"/>
                    <a:pt x="1148483" y="9203"/>
                    <a:pt x="1164866" y="25585"/>
                  </a:cubicBezTo>
                  <a:cubicBezTo>
                    <a:pt x="1181247" y="41967"/>
                    <a:pt x="1190451" y="64186"/>
                    <a:pt x="1190451" y="87354"/>
                  </a:cubicBezTo>
                  <a:lnTo>
                    <a:pt x="1190451" y="111572"/>
                  </a:lnTo>
                  <a:cubicBezTo>
                    <a:pt x="1190451" y="159816"/>
                    <a:pt x="1151341" y="198926"/>
                    <a:pt x="1103097" y="198926"/>
                  </a:cubicBezTo>
                  <a:lnTo>
                    <a:pt x="87354" y="198926"/>
                  </a:lnTo>
                  <a:cubicBezTo>
                    <a:pt x="39110" y="198926"/>
                    <a:pt x="0" y="159816"/>
                    <a:pt x="0" y="111572"/>
                  </a:cubicBezTo>
                  <a:lnTo>
                    <a:pt x="0" y="87354"/>
                  </a:lnTo>
                  <a:cubicBezTo>
                    <a:pt x="0" y="39110"/>
                    <a:pt x="39110" y="0"/>
                    <a:pt x="87354" y="0"/>
                  </a:cubicBezTo>
                  <a:close/>
                </a:path>
              </a:pathLst>
            </a:custGeom>
            <a:solidFill>
              <a:srgbClr val="99DA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190451" cy="217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0379" y="3405514"/>
            <a:ext cx="514175" cy="871483"/>
          </a:xfrm>
          <a:custGeom>
            <a:avLst/>
            <a:gdLst/>
            <a:ahLst/>
            <a:cxnLst/>
            <a:rect r="r" b="b" t="t" l="l"/>
            <a:pathLst>
              <a:path h="871483" w="514175">
                <a:moveTo>
                  <a:pt x="0" y="0"/>
                </a:moveTo>
                <a:lnTo>
                  <a:pt x="514175" y="0"/>
                </a:lnTo>
                <a:lnTo>
                  <a:pt x="514175" y="871482"/>
                </a:lnTo>
                <a:lnTo>
                  <a:pt x="0" y="8714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60379" y="5051083"/>
            <a:ext cx="583195" cy="793463"/>
          </a:xfrm>
          <a:custGeom>
            <a:avLst/>
            <a:gdLst/>
            <a:ahLst/>
            <a:cxnLst/>
            <a:rect r="r" b="b" t="t" l="l"/>
            <a:pathLst>
              <a:path h="793463" w="583195">
                <a:moveTo>
                  <a:pt x="0" y="0"/>
                </a:moveTo>
                <a:lnTo>
                  <a:pt x="583196" y="0"/>
                </a:lnTo>
                <a:lnTo>
                  <a:pt x="583196" y="793463"/>
                </a:lnTo>
                <a:lnTo>
                  <a:pt x="0" y="793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87224" y="6609618"/>
            <a:ext cx="795202" cy="791226"/>
          </a:xfrm>
          <a:custGeom>
            <a:avLst/>
            <a:gdLst/>
            <a:ahLst/>
            <a:cxnLst/>
            <a:rect r="r" b="b" t="t" l="l"/>
            <a:pathLst>
              <a:path h="791226" w="795202">
                <a:moveTo>
                  <a:pt x="0" y="0"/>
                </a:moveTo>
                <a:lnTo>
                  <a:pt x="795202" y="0"/>
                </a:lnTo>
                <a:lnTo>
                  <a:pt x="795202" y="791226"/>
                </a:lnTo>
                <a:lnTo>
                  <a:pt x="0" y="7912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60379" y="8330666"/>
            <a:ext cx="698020" cy="715918"/>
          </a:xfrm>
          <a:custGeom>
            <a:avLst/>
            <a:gdLst/>
            <a:ahLst/>
            <a:cxnLst/>
            <a:rect r="r" b="b" t="t" l="l"/>
            <a:pathLst>
              <a:path h="715918" w="698020">
                <a:moveTo>
                  <a:pt x="0" y="0"/>
                </a:moveTo>
                <a:lnTo>
                  <a:pt x="698021" y="0"/>
                </a:lnTo>
                <a:lnTo>
                  <a:pt x="698021" y="715918"/>
                </a:lnTo>
                <a:lnTo>
                  <a:pt x="0" y="7159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10040" y="3209669"/>
            <a:ext cx="845301" cy="988656"/>
          </a:xfrm>
          <a:custGeom>
            <a:avLst/>
            <a:gdLst/>
            <a:ahLst/>
            <a:cxnLst/>
            <a:rect r="r" b="b" t="t" l="l"/>
            <a:pathLst>
              <a:path h="988656" w="845301">
                <a:moveTo>
                  <a:pt x="0" y="0"/>
                </a:moveTo>
                <a:lnTo>
                  <a:pt x="845300" y="0"/>
                </a:lnTo>
                <a:lnTo>
                  <a:pt x="845300" y="988655"/>
                </a:lnTo>
                <a:lnTo>
                  <a:pt x="0" y="9886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147493" y="5193504"/>
            <a:ext cx="1020451" cy="806157"/>
          </a:xfrm>
          <a:custGeom>
            <a:avLst/>
            <a:gdLst/>
            <a:ahLst/>
            <a:cxnLst/>
            <a:rect r="r" b="b" t="t" l="l"/>
            <a:pathLst>
              <a:path h="806157" w="1020451">
                <a:moveTo>
                  <a:pt x="0" y="0"/>
                </a:moveTo>
                <a:lnTo>
                  <a:pt x="1020451" y="0"/>
                </a:lnTo>
                <a:lnTo>
                  <a:pt x="1020451" y="806157"/>
                </a:lnTo>
                <a:lnTo>
                  <a:pt x="0" y="8061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318371" y="6919430"/>
            <a:ext cx="716795" cy="814539"/>
          </a:xfrm>
          <a:custGeom>
            <a:avLst/>
            <a:gdLst/>
            <a:ahLst/>
            <a:cxnLst/>
            <a:rect r="r" b="b" t="t" l="l"/>
            <a:pathLst>
              <a:path h="814539" w="716795">
                <a:moveTo>
                  <a:pt x="0" y="0"/>
                </a:moveTo>
                <a:lnTo>
                  <a:pt x="716795" y="0"/>
                </a:lnTo>
                <a:lnTo>
                  <a:pt x="716795" y="814539"/>
                </a:lnTo>
                <a:lnTo>
                  <a:pt x="0" y="81453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AutoShape 38" id="38"/>
          <p:cNvSpPr/>
          <p:nvPr/>
        </p:nvSpPr>
        <p:spPr>
          <a:xfrm>
            <a:off x="10235503" y="9682701"/>
            <a:ext cx="6492240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0210040" y="8462004"/>
            <a:ext cx="996004" cy="926284"/>
          </a:xfrm>
          <a:custGeom>
            <a:avLst/>
            <a:gdLst/>
            <a:ahLst/>
            <a:cxnLst/>
            <a:rect r="r" b="b" t="t" l="l"/>
            <a:pathLst>
              <a:path h="926284" w="996004">
                <a:moveTo>
                  <a:pt x="0" y="0"/>
                </a:moveTo>
                <a:lnTo>
                  <a:pt x="996004" y="0"/>
                </a:lnTo>
                <a:lnTo>
                  <a:pt x="996004" y="926284"/>
                </a:lnTo>
                <a:lnTo>
                  <a:pt x="0" y="9262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5066010" y="417915"/>
            <a:ext cx="8155980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9"/>
              </a:lnSpc>
            </a:pPr>
            <a:r>
              <a:rPr lang="en-US" b="true" sz="6099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and References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0827" y="2332363"/>
            <a:ext cx="4108698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Research and Related 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12532" y="3386464"/>
            <a:ext cx="5795061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Thermal anomaly detection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Uses satellite-based thermal data to detect active fire events and thermal anomalies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12532" y="4955833"/>
            <a:ext cx="6296082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Geospatial context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Provides geospatial context such as locations of industrial facilities, roads and infrastructure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12532" y="6465932"/>
            <a:ext cx="5597787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Land Cover &amp; Historical Data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Helps identifying land use patterns and analyse past thermal behaviour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12532" y="8154907"/>
            <a:ext cx="6103095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XGBoost &amp; Explainable AI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Effective for multi-class classification and provides feature importance for transparency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49435" y="3170279"/>
            <a:ext cx="6085561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NASA FIRMS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Fire information for resource management system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Helvetica Now Bold"/>
                <a:ea typeface="Helvetica Now Bold"/>
                <a:cs typeface="Helvetica Now Bold"/>
                <a:sym typeface="Helvetica Now Bold"/>
                <a:hlinkClick r:id="rId20" tooltip="https://firms.modaps.eosdis.nasa.gov"/>
              </a:rPr>
              <a:t>https://firms.modaps.eosdis.nasa.gov/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49435" y="4937595"/>
            <a:ext cx="5554004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OpenStreetMap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Open data for geospatial information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Helvetica Now Bold"/>
                <a:ea typeface="Helvetica Now Bold"/>
                <a:cs typeface="Helvetica Now Bold"/>
                <a:sym typeface="Helvetica Now Bold"/>
                <a:hlinkClick r:id="rId21" tooltip="https://l1nq.com/tb9bf5f"/>
              </a:rPr>
              <a:t>https://www.openstreetmap.org/#map=2/-41.2/-6.6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49435" y="6619143"/>
            <a:ext cx="5554004" cy="139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MongoDB Atlas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Cloud database for geospatial data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Helvetica Now Bold"/>
                <a:ea typeface="Helvetica Now Bold"/>
                <a:cs typeface="Helvetica Now Bold"/>
                <a:sym typeface="Helvetica Now Bold"/>
                <a:hlinkClick r:id="rId22" tooltip="https://www.mongodb.com/products/platform/atlas-database"/>
              </a:rPr>
              <a:t>https://www.mongodb.com/products/platform/atlas-database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73739" y="2356069"/>
            <a:ext cx="1705794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References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04003" y="8353328"/>
            <a:ext cx="5776426" cy="104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Copernicus EMS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Disaste</a:t>
            </a:r>
            <a:r>
              <a:rPr lang="en-US" sz="210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r mapping &amp; emergency response</a:t>
            </a:r>
          </a:p>
          <a:p>
            <a:pPr algn="l">
              <a:lnSpc>
                <a:spcPts val="273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F81CA"/>
                </a:solidFill>
                <a:latin typeface="Helvetica Now Bold"/>
                <a:ea typeface="Helvetica Now Bold"/>
                <a:cs typeface="Helvetica Now Bold"/>
                <a:sym typeface="Helvetica Now Bold"/>
                <a:hlinkClick r:id="rId23" tooltip="https://firms.modaps.eosdis.nasa.gov"/>
              </a:rPr>
              <a:t>copernicus.eu/en/copernicus-services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2305050"/>
            <a:ext cx="16916400" cy="723900"/>
            <a:chOff x="0" y="0"/>
            <a:chExt cx="225552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5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EAF1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5350" y="2428875"/>
            <a:ext cx="337820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75">
                <a:solidFill>
                  <a:srgbClr val="1F5FD1"/>
                </a:solidFill>
                <a:latin typeface="Arial Bold"/>
                <a:ea typeface="Arial Bold"/>
                <a:cs typeface="Arial Bold"/>
                <a:sym typeface="Arial Bold"/>
              </a:rPr>
              <a:t>USER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5350" y="2609850"/>
            <a:ext cx="33782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A2A66"/>
                </a:solidFill>
                <a:latin typeface="Arial Bold"/>
                <a:ea typeface="Arial Bold"/>
                <a:cs typeface="Arial Bold"/>
                <a:sym typeface="Arial Bold"/>
              </a:rPr>
              <a:t>Fire monitoring officer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435478" y="2305050"/>
            <a:ext cx="19050" cy="723900"/>
            <a:chOff x="0" y="0"/>
            <a:chExt cx="254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" cy="965200"/>
            </a:xfrm>
            <a:custGeom>
              <a:avLst/>
              <a:gdLst/>
              <a:ahLst/>
              <a:cxnLst/>
              <a:rect r="r" b="b" t="t" l="l"/>
              <a:pathLst>
                <a:path h="965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654553" y="2428875"/>
            <a:ext cx="469392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75">
                <a:solidFill>
                  <a:srgbClr val="1F5FD1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54553" y="2609850"/>
            <a:ext cx="46939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A2A66"/>
                </a:solidFill>
                <a:latin typeface="Arial Bold"/>
                <a:ea typeface="Arial Bold"/>
                <a:cs typeface="Arial Bold"/>
                <a:sym typeface="Arial Bold"/>
              </a:rPr>
              <a:t>Check a flagged fire, record a decision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10398" y="2305050"/>
            <a:ext cx="19050" cy="723900"/>
            <a:chOff x="0" y="0"/>
            <a:chExt cx="25400" cy="965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965200"/>
            </a:xfrm>
            <a:custGeom>
              <a:avLst/>
              <a:gdLst/>
              <a:ahLst/>
              <a:cxnLst/>
              <a:rect r="r" b="b" t="t" l="l"/>
              <a:pathLst>
                <a:path h="965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29473" y="2428875"/>
            <a:ext cx="337820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75">
                <a:solidFill>
                  <a:srgbClr val="1F5FD1"/>
                </a:solidFill>
                <a:latin typeface="Arial Bold"/>
                <a:ea typeface="Arial Bold"/>
                <a:cs typeface="Arial Bold"/>
                <a:sym typeface="Arial Bold"/>
              </a:rPr>
              <a:t>STARTS 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9473" y="2609850"/>
            <a:ext cx="33782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A2A66"/>
                </a:solidFill>
                <a:latin typeface="Arial Bold"/>
                <a:ea typeface="Arial Bold"/>
                <a:cs typeface="Arial Bold"/>
                <a:sym typeface="Arial Bold"/>
              </a:rPr>
              <a:t>Open-alert count on the map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69592" y="2305050"/>
            <a:ext cx="19050" cy="723900"/>
            <a:chOff x="0" y="0"/>
            <a:chExt cx="25400" cy="965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965200"/>
            </a:xfrm>
            <a:custGeom>
              <a:avLst/>
              <a:gdLst/>
              <a:ahLst/>
              <a:cxnLst/>
              <a:rect r="r" b="b" t="t" l="l"/>
              <a:pathLst>
                <a:path h="965200" w="25400">
                  <a:moveTo>
                    <a:pt x="0" y="0"/>
                  </a:moveTo>
                  <a:lnTo>
                    <a:pt x="25400" y="0"/>
                  </a:lnTo>
                  <a:lnTo>
                    <a:pt x="254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88667" y="2428875"/>
            <a:ext cx="394208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75">
                <a:solidFill>
                  <a:srgbClr val="1F5FD1"/>
                </a:solidFill>
                <a:latin typeface="Arial Bold"/>
                <a:ea typeface="Arial Bold"/>
                <a:cs typeface="Arial Bold"/>
                <a:sym typeface="Arial Bold"/>
              </a:rPr>
              <a:t>SUCCESS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88667" y="2609850"/>
            <a:ext cx="394208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A2A66"/>
                </a:solidFill>
                <a:latin typeface="Arial Bold"/>
                <a:ea typeface="Arial Bold"/>
                <a:cs typeface="Arial Bold"/>
                <a:sym typeface="Arial Bold"/>
              </a:rPr>
              <a:t>Alert marked Investigating or Resolved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966914" y="4662488"/>
            <a:ext cx="333372" cy="28574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4938715" y="4662487"/>
            <a:ext cx="409579" cy="285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7986715" y="4662487"/>
            <a:ext cx="409579" cy="285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>
            <a:off x="11034715" y="4662487"/>
            <a:ext cx="409579" cy="285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4082716" y="4662488"/>
            <a:ext cx="219077" cy="28574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5568609" y="4662488"/>
            <a:ext cx="200023" cy="28574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5740069" y="3976686"/>
            <a:ext cx="28572" cy="1400179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5740060" y="3976687"/>
            <a:ext cx="180971" cy="285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5740060" y="4662487"/>
            <a:ext cx="180971" cy="285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15740060" y="5348287"/>
            <a:ext cx="180971" cy="28576"/>
          </a:xfrm>
          <a:prstGeom prst="line">
            <a:avLst/>
          </a:prstGeom>
          <a:ln cap="rnd" w="19050">
            <a:solidFill>
              <a:srgbClr val="0A2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6797343" y="5626169"/>
            <a:ext cx="0" cy="2751011"/>
          </a:xfrm>
          <a:prstGeom prst="line">
            <a:avLst/>
          </a:prstGeom>
          <a:ln cap="rnd" w="19050">
            <a:solidFill>
              <a:srgbClr val="1F5F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1414466" y="8348720"/>
            <a:ext cx="15382877" cy="28459"/>
          </a:xfrm>
          <a:prstGeom prst="line">
            <a:avLst/>
          </a:prstGeom>
          <a:ln cap="rnd" w="19050">
            <a:solidFill>
              <a:srgbClr val="1F5FD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1414453" y="5053012"/>
            <a:ext cx="28604" cy="3324226"/>
          </a:xfrm>
          <a:prstGeom prst="line">
            <a:avLst/>
          </a:prstGeom>
          <a:ln cap="rnd" w="19050">
            <a:solidFill>
              <a:srgbClr val="1F5FD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673894" y="4331494"/>
            <a:ext cx="1319212" cy="690562"/>
            <a:chOff x="0" y="0"/>
            <a:chExt cx="1758950" cy="920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58950" cy="920750"/>
            </a:xfrm>
            <a:custGeom>
              <a:avLst/>
              <a:gdLst/>
              <a:ahLst/>
              <a:cxnLst/>
              <a:rect r="r" b="b" t="t" l="l"/>
              <a:pathLst>
                <a:path h="920750" w="1758950">
                  <a:moveTo>
                    <a:pt x="0" y="460375"/>
                  </a:moveTo>
                  <a:cubicBezTo>
                    <a:pt x="0" y="206121"/>
                    <a:pt x="206121" y="0"/>
                    <a:pt x="460375" y="0"/>
                  </a:cubicBezTo>
                  <a:lnTo>
                    <a:pt x="1298575" y="0"/>
                  </a:lnTo>
                  <a:cubicBezTo>
                    <a:pt x="1552829" y="0"/>
                    <a:pt x="1758950" y="206121"/>
                    <a:pt x="1758950" y="460375"/>
                  </a:cubicBezTo>
                  <a:cubicBezTo>
                    <a:pt x="1758950" y="714629"/>
                    <a:pt x="1552829" y="920750"/>
                    <a:pt x="1298575" y="920750"/>
                  </a:cubicBezTo>
                  <a:lnTo>
                    <a:pt x="460375" y="920750"/>
                  </a:lnTo>
                  <a:cubicBezTo>
                    <a:pt x="206121" y="920750"/>
                    <a:pt x="0" y="714629"/>
                    <a:pt x="0" y="460375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85800" y="4457700"/>
            <a:ext cx="1295400" cy="152400"/>
            <a:chOff x="0" y="0"/>
            <a:chExt cx="1727200" cy="203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27200" cy="203200"/>
            </a:xfrm>
            <a:custGeom>
              <a:avLst/>
              <a:gdLst/>
              <a:ahLst/>
              <a:cxnLst/>
              <a:rect r="r" b="b" t="t" l="l"/>
              <a:pathLst>
                <a:path h="203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203200"/>
                  </a:lnTo>
                  <a:lnTo>
                    <a:pt x="0" y="20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727200" cy="22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5"/>
                </a:lnSpc>
              </a:pPr>
              <a:r>
                <a:rPr lang="en-US" sz="862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85800" y="4629150"/>
            <a:ext cx="1295400" cy="247650"/>
            <a:chOff x="0" y="0"/>
            <a:chExt cx="1727200" cy="330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27200" cy="330200"/>
            </a:xfrm>
            <a:custGeom>
              <a:avLst/>
              <a:gdLst/>
              <a:ahLst/>
              <a:cxnLst/>
              <a:rect r="r" b="b" t="t" l="l"/>
              <a:pathLst>
                <a:path h="330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727200" cy="34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E1A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Opens the app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43150" y="3390900"/>
            <a:ext cx="2571750" cy="2571750"/>
            <a:chOff x="0" y="0"/>
            <a:chExt cx="3429000" cy="3429000"/>
          </a:xfrm>
        </p:grpSpPr>
        <p:sp>
          <p:nvSpPr>
            <p:cNvPr name="Freeform 40" id="40" descr="IGNISSENSE live map with the Alerts tab showing 50 open alerts"/>
            <p:cNvSpPr/>
            <p:nvPr/>
          </p:nvSpPr>
          <p:spPr>
            <a:xfrm flipH="false" flipV="false" rot="0">
              <a:off x="0" y="0"/>
              <a:ext cx="3429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331244" y="3378994"/>
            <a:ext cx="2595562" cy="2595562"/>
            <a:chOff x="0" y="0"/>
            <a:chExt cx="3460750" cy="34607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60750" cy="3460750"/>
            </a:xfrm>
            <a:custGeom>
              <a:avLst/>
              <a:gdLst/>
              <a:ahLst/>
              <a:cxnLst/>
              <a:rect r="r" b="b" t="t" l="l"/>
              <a:pathLst>
                <a:path h="346075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460750"/>
                  </a:lnTo>
                  <a:lnTo>
                    <a:pt x="0" y="3460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3126581" y="3393281"/>
            <a:ext cx="442912" cy="176212"/>
            <a:chOff x="0" y="0"/>
            <a:chExt cx="590550" cy="2349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0550" cy="234950"/>
            </a:xfrm>
            <a:custGeom>
              <a:avLst/>
              <a:gdLst/>
              <a:ahLst/>
              <a:cxnLst/>
              <a:rect r="r" b="b" t="t" l="l"/>
              <a:pathLst>
                <a:path h="23495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234950"/>
                  </a:lnTo>
                  <a:lnTo>
                    <a:pt x="0" y="234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45" t="0" r="-1045" b="0"/>
              </a:stretch>
            </a:blipFill>
            <a:ln w="33338" cap="sq">
              <a:solidFill>
                <a:srgbClr val="1F5FD1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3579019" y="3512344"/>
            <a:ext cx="271462" cy="271462"/>
            <a:chOff x="0" y="0"/>
            <a:chExt cx="361950" cy="3619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cubicBezTo>
                    <a:pt x="280924" y="0"/>
                    <a:pt x="361950" y="81026"/>
                    <a:pt x="361950" y="180975"/>
                  </a:cubicBezTo>
                  <a:cubicBezTo>
                    <a:pt x="361950" y="280924"/>
                    <a:pt x="280924" y="361950"/>
                    <a:pt x="180975" y="361950"/>
                  </a:cubicBezTo>
                  <a:cubicBezTo>
                    <a:pt x="81026" y="361950"/>
                    <a:pt x="0" y="280924"/>
                    <a:pt x="0" y="180975"/>
                  </a:cubicBezTo>
                  <a:close/>
                </a:path>
              </a:pathLst>
            </a:custGeom>
            <a:solidFill>
              <a:srgbClr val="1F5FD1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3590925" y="3524250"/>
            <a:ext cx="247650" cy="247650"/>
            <a:chOff x="0" y="0"/>
            <a:chExt cx="330200" cy="330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30200" cy="3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91150" y="3390900"/>
            <a:ext cx="2571750" cy="2571750"/>
            <a:chOff x="0" y="0"/>
            <a:chExt cx="3429000" cy="3429000"/>
          </a:xfrm>
        </p:grpSpPr>
        <p:sp>
          <p:nvSpPr>
            <p:cNvPr name="Freeform 51" id="51" descr="Alert list filtered to critical, ArcelorMittal Nippon Steel alert selected"/>
            <p:cNvSpPr/>
            <p:nvPr/>
          </p:nvSpPr>
          <p:spPr>
            <a:xfrm flipH="false" flipV="false" rot="0">
              <a:off x="0" y="0"/>
              <a:ext cx="3429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379244" y="3378994"/>
            <a:ext cx="2595562" cy="2595562"/>
            <a:chOff x="0" y="0"/>
            <a:chExt cx="3460750" cy="34607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60750" cy="3460750"/>
            </a:xfrm>
            <a:custGeom>
              <a:avLst/>
              <a:gdLst/>
              <a:ahLst/>
              <a:cxnLst/>
              <a:rect r="r" b="b" t="t" l="l"/>
              <a:pathLst>
                <a:path h="346075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460750"/>
                  </a:lnTo>
                  <a:lnTo>
                    <a:pt x="0" y="3460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393531" y="4441031"/>
            <a:ext cx="2566988" cy="461962"/>
            <a:chOff x="0" y="0"/>
            <a:chExt cx="3422650" cy="615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22650" cy="615950"/>
            </a:xfrm>
            <a:custGeom>
              <a:avLst/>
              <a:gdLst/>
              <a:ahLst/>
              <a:cxnLst/>
              <a:rect r="r" b="b" t="t" l="l"/>
              <a:pathLst>
                <a:path h="615950" w="3422650">
                  <a:moveTo>
                    <a:pt x="0" y="0"/>
                  </a:moveTo>
                  <a:lnTo>
                    <a:pt x="3422650" y="0"/>
                  </a:lnTo>
                  <a:lnTo>
                    <a:pt x="3422650" y="615950"/>
                  </a:lnTo>
                  <a:lnTo>
                    <a:pt x="0" y="615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72" r="0" b="-58272"/>
              </a:stretch>
            </a:blipFill>
            <a:ln w="33338" cap="sq">
              <a:solidFill>
                <a:srgbClr val="1F5FD1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608094" y="4121944"/>
            <a:ext cx="271462" cy="271462"/>
            <a:chOff x="0" y="0"/>
            <a:chExt cx="361950" cy="3619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cubicBezTo>
                    <a:pt x="280924" y="0"/>
                    <a:pt x="361950" y="81026"/>
                    <a:pt x="361950" y="180975"/>
                  </a:cubicBezTo>
                  <a:cubicBezTo>
                    <a:pt x="361950" y="280924"/>
                    <a:pt x="280924" y="361950"/>
                    <a:pt x="180975" y="361950"/>
                  </a:cubicBezTo>
                  <a:cubicBezTo>
                    <a:pt x="81026" y="361950"/>
                    <a:pt x="0" y="280924"/>
                    <a:pt x="0" y="180975"/>
                  </a:cubicBezTo>
                  <a:close/>
                </a:path>
              </a:pathLst>
            </a:custGeom>
            <a:solidFill>
              <a:srgbClr val="1F5FD1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620000" y="4133850"/>
            <a:ext cx="247650" cy="247650"/>
            <a:chOff x="0" y="0"/>
            <a:chExt cx="330200" cy="330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30200" cy="3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439150" y="3390900"/>
            <a:ext cx="2571750" cy="2571750"/>
            <a:chOff x="0" y="0"/>
            <a:chExt cx="3429000" cy="3429000"/>
          </a:xfrm>
        </p:grpSpPr>
        <p:sp>
          <p:nvSpPr>
            <p:cNvPr name="Freeform 62" id="62" descr="Alert detail with status control and View on map"/>
            <p:cNvSpPr/>
            <p:nvPr/>
          </p:nvSpPr>
          <p:spPr>
            <a:xfrm flipH="false" flipV="false" rot="0">
              <a:off x="0" y="0"/>
              <a:ext cx="3429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427244" y="3378994"/>
            <a:ext cx="2595562" cy="2595562"/>
            <a:chOff x="0" y="0"/>
            <a:chExt cx="3460750" cy="34607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60750" cy="3460750"/>
            </a:xfrm>
            <a:custGeom>
              <a:avLst/>
              <a:gdLst/>
              <a:ahLst/>
              <a:cxnLst/>
              <a:rect r="r" b="b" t="t" l="l"/>
              <a:pathLst>
                <a:path h="346075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460750"/>
                  </a:lnTo>
                  <a:lnTo>
                    <a:pt x="0" y="3460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203656" y="3421856"/>
            <a:ext cx="719138" cy="242888"/>
            <a:chOff x="0" y="0"/>
            <a:chExt cx="958850" cy="3238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8850" cy="323850"/>
            </a:xfrm>
            <a:custGeom>
              <a:avLst/>
              <a:gdLst/>
              <a:ahLst/>
              <a:cxnLst/>
              <a:rect r="r" b="b" t="t" l="l"/>
              <a:pathLst>
                <a:path h="323850" w="958850">
                  <a:moveTo>
                    <a:pt x="0" y="0"/>
                  </a:moveTo>
                  <a:lnTo>
                    <a:pt x="958850" y="0"/>
                  </a:lnTo>
                  <a:lnTo>
                    <a:pt x="958850" y="323850"/>
                  </a:lnTo>
                  <a:lnTo>
                    <a:pt x="0" y="3238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90" r="0" b="-7690"/>
              </a:stretch>
            </a:blipFill>
            <a:ln w="33338" cap="sq">
              <a:solidFill>
                <a:srgbClr val="1F5FD1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646569" y="3683794"/>
            <a:ext cx="271462" cy="271462"/>
            <a:chOff x="0" y="0"/>
            <a:chExt cx="361950" cy="3619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cubicBezTo>
                    <a:pt x="280924" y="0"/>
                    <a:pt x="361950" y="81026"/>
                    <a:pt x="361950" y="180975"/>
                  </a:cubicBezTo>
                  <a:cubicBezTo>
                    <a:pt x="361950" y="280924"/>
                    <a:pt x="280924" y="361950"/>
                    <a:pt x="180975" y="361950"/>
                  </a:cubicBezTo>
                  <a:cubicBezTo>
                    <a:pt x="81026" y="361950"/>
                    <a:pt x="0" y="280924"/>
                    <a:pt x="0" y="180975"/>
                  </a:cubicBezTo>
                  <a:close/>
                </a:path>
              </a:pathLst>
            </a:custGeom>
            <a:solidFill>
              <a:srgbClr val="1F5FD1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658475" y="3695700"/>
            <a:ext cx="247650" cy="247650"/>
            <a:chOff x="0" y="0"/>
            <a:chExt cx="330200" cy="330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30200" cy="339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487150" y="3390900"/>
            <a:ext cx="2571750" cy="2571750"/>
            <a:chOff x="0" y="0"/>
            <a:chExt cx="3429000" cy="3429000"/>
          </a:xfrm>
        </p:grpSpPr>
        <p:sp>
          <p:nvSpPr>
            <p:cNvPr name="Freeform 73" id="73" descr="Detection HS-6ADD57 on the map with fire type probabilities and history"/>
            <p:cNvSpPr/>
            <p:nvPr/>
          </p:nvSpPr>
          <p:spPr>
            <a:xfrm flipH="false" flipV="false" rot="0">
              <a:off x="0" y="0"/>
              <a:ext cx="3429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475244" y="3378994"/>
            <a:ext cx="2595562" cy="2595562"/>
            <a:chOff x="0" y="0"/>
            <a:chExt cx="3460750" cy="34607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460750" cy="3460750"/>
            </a:xfrm>
            <a:custGeom>
              <a:avLst/>
              <a:gdLst/>
              <a:ahLst/>
              <a:cxnLst/>
              <a:rect r="r" b="b" t="t" l="l"/>
              <a:pathLst>
                <a:path h="3460750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3460750"/>
                  </a:lnTo>
                  <a:lnTo>
                    <a:pt x="0" y="3460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273212" y="4014788"/>
            <a:ext cx="1323975" cy="1323975"/>
            <a:chOff x="0" y="0"/>
            <a:chExt cx="1765300" cy="17653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65300" cy="1765300"/>
            </a:xfrm>
            <a:custGeom>
              <a:avLst/>
              <a:gdLst/>
              <a:ahLst/>
              <a:cxnLst/>
              <a:rect r="r" b="b" t="t" l="l"/>
              <a:pathLst>
                <a:path h="1765300" w="1765300">
                  <a:moveTo>
                    <a:pt x="0" y="882650"/>
                  </a:moveTo>
                  <a:lnTo>
                    <a:pt x="882650" y="0"/>
                  </a:lnTo>
                  <a:lnTo>
                    <a:pt x="1765300" y="882650"/>
                  </a:lnTo>
                  <a:lnTo>
                    <a:pt x="882650" y="17653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F5FD1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4287500" y="4438650"/>
            <a:ext cx="1295400" cy="152400"/>
            <a:chOff x="0" y="0"/>
            <a:chExt cx="1727200" cy="203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27200" cy="203200"/>
            </a:xfrm>
            <a:custGeom>
              <a:avLst/>
              <a:gdLst/>
              <a:ahLst/>
              <a:cxnLst/>
              <a:rect r="r" b="b" t="t" l="l"/>
              <a:pathLst>
                <a:path h="203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203200"/>
                  </a:lnTo>
                  <a:lnTo>
                    <a:pt x="0" y="20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727200" cy="20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1F5FD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05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287500" y="4591050"/>
            <a:ext cx="1295400" cy="228600"/>
            <a:chOff x="0" y="0"/>
            <a:chExt cx="1727200" cy="304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27200" cy="304800"/>
            </a:xfrm>
            <a:custGeom>
              <a:avLst/>
              <a:gdLst/>
              <a:ahLst/>
              <a:cxnLst/>
              <a:rect r="r" b="b" t="t" l="l"/>
              <a:pathLst>
                <a:path h="3048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727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A2A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Fire?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5932944" y="3683794"/>
            <a:ext cx="1681162" cy="614362"/>
            <a:chOff x="0" y="0"/>
            <a:chExt cx="2241550" cy="8191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1550" cy="819150"/>
            </a:xfrm>
            <a:custGeom>
              <a:avLst/>
              <a:gdLst/>
              <a:ahLst/>
              <a:cxnLst/>
              <a:rect r="r" b="b" t="t" l="l"/>
              <a:pathLst>
                <a:path h="819150" w="2241550">
                  <a:moveTo>
                    <a:pt x="0" y="409575"/>
                  </a:moveTo>
                  <a:cubicBezTo>
                    <a:pt x="0" y="183388"/>
                    <a:pt x="183388" y="0"/>
                    <a:pt x="409575" y="0"/>
                  </a:cubicBezTo>
                  <a:lnTo>
                    <a:pt x="1831975" y="0"/>
                  </a:lnTo>
                  <a:cubicBezTo>
                    <a:pt x="2058162" y="0"/>
                    <a:pt x="2241550" y="183388"/>
                    <a:pt x="2241550" y="409575"/>
                  </a:cubicBezTo>
                  <a:cubicBezTo>
                    <a:pt x="2241550" y="635762"/>
                    <a:pt x="2058162" y="819150"/>
                    <a:pt x="1831975" y="819150"/>
                  </a:cubicBezTo>
                  <a:lnTo>
                    <a:pt x="409575" y="819150"/>
                  </a:lnTo>
                  <a:cubicBezTo>
                    <a:pt x="183388" y="819150"/>
                    <a:pt x="0" y="635762"/>
                    <a:pt x="0" y="409575"/>
                  </a:cubicBezTo>
                  <a:close/>
                </a:path>
              </a:pathLst>
            </a:custGeom>
            <a:solidFill>
              <a:srgbClr val="0A2A66"/>
            </a:solid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5944850" y="3781425"/>
            <a:ext cx="1657350" cy="152400"/>
            <a:chOff x="0" y="0"/>
            <a:chExt cx="2209800" cy="203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09800" cy="203200"/>
            </a:xfrm>
            <a:custGeom>
              <a:avLst/>
              <a:gdLst/>
              <a:ahLst/>
              <a:cxnLst/>
              <a:rect r="r" b="b" t="t" l="l"/>
              <a:pathLst>
                <a:path h="2032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203200"/>
                  </a:lnTo>
                  <a:lnTo>
                    <a:pt x="0" y="20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2209800" cy="22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5"/>
                </a:lnSpc>
              </a:pPr>
              <a:r>
                <a:rPr lang="en-US" sz="862" b="true">
                  <a:solidFill>
                    <a:srgbClr val="AFC6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5944850" y="3933825"/>
            <a:ext cx="1657350" cy="266700"/>
            <a:chOff x="0" y="0"/>
            <a:chExt cx="2209800" cy="355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09800" cy="355600"/>
            </a:xfrm>
            <a:custGeom>
              <a:avLst/>
              <a:gdLst/>
              <a:ahLst/>
              <a:cxnLst/>
              <a:rect r="r" b="b" t="t" l="l"/>
              <a:pathLst>
                <a:path h="3556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085" r="0" b="-7108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2209800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Investigating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932944" y="4369594"/>
            <a:ext cx="1681162" cy="614362"/>
            <a:chOff x="0" y="0"/>
            <a:chExt cx="2241550" cy="8191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41550" cy="819150"/>
            </a:xfrm>
            <a:custGeom>
              <a:avLst/>
              <a:gdLst/>
              <a:ahLst/>
              <a:cxnLst/>
              <a:rect r="r" b="b" t="t" l="l"/>
              <a:pathLst>
                <a:path h="819150" w="2241550">
                  <a:moveTo>
                    <a:pt x="0" y="409575"/>
                  </a:moveTo>
                  <a:cubicBezTo>
                    <a:pt x="0" y="183388"/>
                    <a:pt x="183388" y="0"/>
                    <a:pt x="409575" y="0"/>
                  </a:cubicBezTo>
                  <a:lnTo>
                    <a:pt x="1831975" y="0"/>
                  </a:lnTo>
                  <a:cubicBezTo>
                    <a:pt x="2058162" y="0"/>
                    <a:pt x="2241550" y="183388"/>
                    <a:pt x="2241550" y="409575"/>
                  </a:cubicBezTo>
                  <a:cubicBezTo>
                    <a:pt x="2241550" y="635762"/>
                    <a:pt x="2058162" y="819150"/>
                    <a:pt x="1831975" y="819150"/>
                  </a:cubicBezTo>
                  <a:lnTo>
                    <a:pt x="409575" y="819150"/>
                  </a:lnTo>
                  <a:cubicBezTo>
                    <a:pt x="183388" y="819150"/>
                    <a:pt x="0" y="635762"/>
                    <a:pt x="0" y="409575"/>
                  </a:cubicBezTo>
                  <a:close/>
                </a:path>
              </a:pathLst>
            </a:custGeom>
            <a:solidFill>
              <a:srgbClr val="0A2A66"/>
            </a:solid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5944850" y="4467225"/>
            <a:ext cx="1657350" cy="152400"/>
            <a:chOff x="0" y="0"/>
            <a:chExt cx="2209800" cy="203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09800" cy="203200"/>
            </a:xfrm>
            <a:custGeom>
              <a:avLst/>
              <a:gdLst/>
              <a:ahLst/>
              <a:cxnLst/>
              <a:rect r="r" b="b" t="t" l="l"/>
              <a:pathLst>
                <a:path h="2032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203200"/>
                  </a:lnTo>
                  <a:lnTo>
                    <a:pt x="0" y="20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2209800" cy="22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5"/>
                </a:lnSpc>
              </a:pPr>
              <a:r>
                <a:rPr lang="en-US" sz="862" b="true">
                  <a:solidFill>
                    <a:srgbClr val="AFC6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944850" y="4619625"/>
            <a:ext cx="1657350" cy="266700"/>
            <a:chOff x="0" y="0"/>
            <a:chExt cx="2209800" cy="355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09800" cy="355600"/>
            </a:xfrm>
            <a:custGeom>
              <a:avLst/>
              <a:gdLst/>
              <a:ahLst/>
              <a:cxnLst/>
              <a:rect r="r" b="b" t="t" l="l"/>
              <a:pathLst>
                <a:path h="3556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085" r="0" b="-7108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2209800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Resolved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5932944" y="5055394"/>
            <a:ext cx="1681162" cy="614362"/>
            <a:chOff x="0" y="0"/>
            <a:chExt cx="2241550" cy="81915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41550" cy="819150"/>
            </a:xfrm>
            <a:custGeom>
              <a:avLst/>
              <a:gdLst/>
              <a:ahLst/>
              <a:cxnLst/>
              <a:rect r="r" b="b" t="t" l="l"/>
              <a:pathLst>
                <a:path h="819150" w="2241550">
                  <a:moveTo>
                    <a:pt x="0" y="409575"/>
                  </a:moveTo>
                  <a:cubicBezTo>
                    <a:pt x="0" y="183388"/>
                    <a:pt x="183388" y="0"/>
                    <a:pt x="409575" y="0"/>
                  </a:cubicBezTo>
                  <a:lnTo>
                    <a:pt x="1831975" y="0"/>
                  </a:lnTo>
                  <a:cubicBezTo>
                    <a:pt x="2058162" y="0"/>
                    <a:pt x="2241550" y="183388"/>
                    <a:pt x="2241550" y="409575"/>
                  </a:cubicBezTo>
                  <a:cubicBezTo>
                    <a:pt x="2241550" y="635762"/>
                    <a:pt x="2058162" y="819150"/>
                    <a:pt x="1831975" y="819150"/>
                  </a:cubicBezTo>
                  <a:lnTo>
                    <a:pt x="409575" y="819150"/>
                  </a:lnTo>
                  <a:cubicBezTo>
                    <a:pt x="183388" y="819150"/>
                    <a:pt x="0" y="635762"/>
                    <a:pt x="0" y="409575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5944850" y="5153025"/>
            <a:ext cx="1657350" cy="152400"/>
            <a:chOff x="0" y="0"/>
            <a:chExt cx="2209800" cy="2032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09800" cy="203200"/>
            </a:xfrm>
            <a:custGeom>
              <a:avLst/>
              <a:gdLst/>
              <a:ahLst/>
              <a:cxnLst/>
              <a:rect r="r" b="b" t="t" l="l"/>
              <a:pathLst>
                <a:path h="2032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203200"/>
                  </a:lnTo>
                  <a:lnTo>
                    <a:pt x="0" y="20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2209800" cy="22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5"/>
                </a:lnSpc>
              </a:pPr>
              <a:r>
                <a:rPr lang="en-US" sz="862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 SURE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5944850" y="5305425"/>
            <a:ext cx="1657350" cy="266700"/>
            <a:chOff x="0" y="0"/>
            <a:chExt cx="2209800" cy="355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09800" cy="355600"/>
            </a:xfrm>
            <a:custGeom>
              <a:avLst/>
              <a:gdLst/>
              <a:ahLst/>
              <a:cxnLst/>
              <a:rect r="r" b="b" t="t" l="l"/>
              <a:pathLst>
                <a:path h="3556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085" r="0" b="-7108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2209800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0E1A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Leave open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685800" y="6619875"/>
            <a:ext cx="66675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75">
                <a:solidFill>
                  <a:srgbClr val="4B5A75"/>
                </a:solidFill>
                <a:latin typeface="Arial Bold"/>
                <a:ea typeface="Arial Bold"/>
                <a:cs typeface="Arial Bold"/>
                <a:sym typeface="Arial Bold"/>
              </a:rPr>
              <a:t>DOES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85800" y="7496175"/>
            <a:ext cx="66675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b="true" sz="975" spc="75">
                <a:solidFill>
                  <a:srgbClr val="4B5A75"/>
                </a:solidFill>
                <a:latin typeface="Arial Bold"/>
                <a:ea typeface="Arial Bold"/>
                <a:cs typeface="Arial Bold"/>
                <a:sym typeface="Arial Bold"/>
              </a:rPr>
              <a:t>ASKS</a:t>
            </a:r>
          </a:p>
        </p:txBody>
      </p:sp>
      <p:sp>
        <p:nvSpPr>
          <p:cNvPr name="AutoShape 110" id="110"/>
          <p:cNvSpPr/>
          <p:nvPr/>
        </p:nvSpPr>
        <p:spPr>
          <a:xfrm flipV="true">
            <a:off x="1631159" y="7327139"/>
            <a:ext cx="14974054" cy="0"/>
          </a:xfrm>
          <a:prstGeom prst="line">
            <a:avLst/>
          </a:prstGeom>
          <a:ln cap="rnd" w="9525">
            <a:solidFill>
              <a:srgbClr val="C9D9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1" id="111"/>
          <p:cNvGrpSpPr/>
          <p:nvPr/>
        </p:nvGrpSpPr>
        <p:grpSpPr>
          <a:xfrm rot="0">
            <a:off x="2343150" y="6134100"/>
            <a:ext cx="2571750" cy="285750"/>
            <a:chOff x="0" y="0"/>
            <a:chExt cx="3429000" cy="3810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429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3429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  </a:t>
              </a:r>
              <a:r>
                <a:rPr lang="en-US" sz="1575" b="true">
                  <a:solidFill>
                    <a:srgbClr val="0A2A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map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2343150" y="6543675"/>
            <a:ext cx="25717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350">
                <a:solidFill>
                  <a:srgbClr val="0E1A33"/>
                </a:solidFill>
                <a:latin typeface="Arial"/>
                <a:ea typeface="Arial"/>
                <a:cs typeface="Arial"/>
                <a:sym typeface="Arial"/>
              </a:rPr>
              <a:t>Sees the open-alert count on the Alerts tab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2343150" y="7429500"/>
            <a:ext cx="25717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425" i="true">
                <a:solidFill>
                  <a:srgbClr val="1F5FD1"/>
                </a:solidFill>
                <a:latin typeface="Arial Italics"/>
                <a:ea typeface="Arial Italics"/>
                <a:cs typeface="Arial Italics"/>
                <a:sym typeface="Arial Italics"/>
              </a:rPr>
              <a:t>"Anything new since I last looked?"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5391150" y="6134100"/>
            <a:ext cx="2571750" cy="285750"/>
            <a:chOff x="0" y="0"/>
            <a:chExt cx="3429000" cy="3810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429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3429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  </a:t>
              </a:r>
              <a:r>
                <a:rPr lang="en-US" sz="1575" b="true">
                  <a:solidFill>
                    <a:srgbClr val="0A2A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 list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5391150" y="6543675"/>
            <a:ext cx="25717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350">
                <a:solidFill>
                  <a:srgbClr val="0E1A33"/>
                </a:solidFill>
                <a:latin typeface="Arial"/>
                <a:ea typeface="Arial"/>
                <a:cs typeface="Arial"/>
                <a:sym typeface="Arial"/>
              </a:rPr>
              <a:t>Filters to critical alerts and picks the ArcelorMittal one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391150" y="7429500"/>
            <a:ext cx="25717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425" i="true">
                <a:solidFill>
                  <a:srgbClr val="1F5FD1"/>
                </a:solidFill>
                <a:latin typeface="Arial Italics"/>
                <a:ea typeface="Arial Italics"/>
                <a:cs typeface="Arial Italics"/>
                <a:sym typeface="Arial Italics"/>
              </a:rPr>
              <a:t>"Which one needs me first?"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8439150" y="6134100"/>
            <a:ext cx="2571750" cy="285750"/>
            <a:chOff x="0" y="0"/>
            <a:chExt cx="3429000" cy="3810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29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3429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  </a:t>
              </a:r>
              <a:r>
                <a:rPr lang="en-US" sz="1575" b="true">
                  <a:solidFill>
                    <a:srgbClr val="0A2A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 detail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8439150" y="6543675"/>
            <a:ext cx="25717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350">
                <a:solidFill>
                  <a:srgbClr val="0E1A33"/>
                </a:solidFill>
                <a:latin typeface="Arial"/>
                <a:ea typeface="Arial"/>
                <a:cs typeface="Arial"/>
                <a:sym typeface="Arial"/>
              </a:rPr>
              <a:t>Reads why it was flagged, then taps View on map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8439150" y="7429500"/>
            <a:ext cx="25717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425" i="true">
                <a:solidFill>
                  <a:srgbClr val="1F5FD1"/>
                </a:solidFill>
                <a:latin typeface="Arial Italics"/>
                <a:ea typeface="Arial Italics"/>
                <a:cs typeface="Arial Italics"/>
                <a:sym typeface="Arial Italics"/>
              </a:rPr>
              <a:t>"Why did this get flagged?"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11487150" y="6134100"/>
            <a:ext cx="2571750" cy="285750"/>
            <a:chOff x="0" y="0"/>
            <a:chExt cx="3429000" cy="3810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429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34290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  </a:t>
              </a:r>
              <a:r>
                <a:rPr lang="en-US" sz="1575" b="true">
                  <a:solidFill>
                    <a:srgbClr val="0A2A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Detection on map</a:t>
              </a: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1487150" y="6543675"/>
            <a:ext cx="25717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350">
                <a:solidFill>
                  <a:srgbClr val="0E1A33"/>
                </a:solidFill>
                <a:latin typeface="Arial"/>
                <a:ea typeface="Arial"/>
                <a:cs typeface="Arial"/>
                <a:sym typeface="Arial"/>
              </a:rPr>
              <a:t>Checks fire type, the nearest site and past fires here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487150" y="7429500"/>
            <a:ext cx="25717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425" i="true">
                <a:solidFill>
                  <a:srgbClr val="1F5FD1"/>
                </a:solidFill>
                <a:latin typeface="Arial Italics"/>
                <a:ea typeface="Arial Italics"/>
                <a:cs typeface="Arial Italics"/>
                <a:sym typeface="Arial Italics"/>
              </a:rPr>
              <a:t>"Is this really a factory fire?"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4287500" y="6134100"/>
            <a:ext cx="2343150" cy="285750"/>
            <a:chOff x="0" y="0"/>
            <a:chExt cx="3124200" cy="3810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12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31242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F5FD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  </a:t>
              </a:r>
              <a:r>
                <a:rPr lang="en-US" sz="1575" b="true">
                  <a:solidFill>
                    <a:srgbClr val="0A2A6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Decide</a:t>
              </a: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14287500" y="6543675"/>
            <a:ext cx="23431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350">
                <a:solidFill>
                  <a:srgbClr val="0E1A33"/>
                </a:solidFill>
                <a:latin typeface="Arial"/>
                <a:ea typeface="Arial"/>
                <a:cs typeface="Arial"/>
                <a:sym typeface="Arial"/>
              </a:rPr>
              <a:t>Sets the status back on the alert. The open count drops.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4287500" y="7429500"/>
            <a:ext cx="23431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5"/>
              </a:lnSpc>
            </a:pPr>
            <a:r>
              <a:rPr lang="en-US" sz="1425" i="true">
                <a:solidFill>
                  <a:srgbClr val="1F5FD1"/>
                </a:solidFill>
                <a:latin typeface="Arial Italics"/>
                <a:ea typeface="Arial Italics"/>
                <a:cs typeface="Arial Italics"/>
                <a:sym typeface="Arial Italics"/>
              </a:rPr>
              <a:t>"Send a team, or close it?"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2857500" y="8420100"/>
            <a:ext cx="12573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1F5FD1"/>
                </a:solidFill>
                <a:latin typeface="Arial Bold"/>
                <a:ea typeface="Arial Bold"/>
                <a:cs typeface="Arial Bold"/>
                <a:sym typeface="Arial Bold"/>
              </a:rPr>
              <a:t>Not sure: the alert stays open, the next satellite pass adds history to the spot, and the officer checks again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673894" y="8970169"/>
            <a:ext cx="404812" cy="233362"/>
            <a:chOff x="0" y="0"/>
            <a:chExt cx="539750" cy="31115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39750" cy="311150"/>
            </a:xfrm>
            <a:custGeom>
              <a:avLst/>
              <a:gdLst/>
              <a:ahLst/>
              <a:cxnLst/>
              <a:rect r="r" b="b" t="t" l="l"/>
              <a:pathLst>
                <a:path h="311150" w="539750">
                  <a:moveTo>
                    <a:pt x="0" y="155575"/>
                  </a:moveTo>
                  <a:cubicBezTo>
                    <a:pt x="0" y="69596"/>
                    <a:pt x="69596" y="0"/>
                    <a:pt x="155575" y="0"/>
                  </a:cubicBezTo>
                  <a:lnTo>
                    <a:pt x="384175" y="0"/>
                  </a:lnTo>
                  <a:cubicBezTo>
                    <a:pt x="470154" y="0"/>
                    <a:pt x="539750" y="69596"/>
                    <a:pt x="539750" y="155575"/>
                  </a:cubicBezTo>
                  <a:cubicBezTo>
                    <a:pt x="539750" y="241554"/>
                    <a:pt x="470154" y="311150"/>
                    <a:pt x="384175" y="311150"/>
                  </a:cubicBezTo>
                  <a:lnTo>
                    <a:pt x="155575" y="311150"/>
                  </a:lnTo>
                  <a:cubicBezTo>
                    <a:pt x="69596" y="311150"/>
                    <a:pt x="0" y="241554"/>
                    <a:pt x="0" y="155575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162050" y="8972550"/>
            <a:ext cx="1047750" cy="228600"/>
            <a:chOff x="0" y="0"/>
            <a:chExt cx="1397000" cy="3048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397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13970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4B5A75"/>
                  </a:solidFill>
                  <a:latin typeface="Arial"/>
                  <a:ea typeface="Arial"/>
                  <a:cs typeface="Arial"/>
                  <a:sym typeface="Arial"/>
                </a:rPr>
                <a:t>start or end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2369344" y="8960644"/>
            <a:ext cx="309562" cy="252412"/>
            <a:chOff x="0" y="0"/>
            <a:chExt cx="412750" cy="33655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12750" cy="336550"/>
            </a:xfrm>
            <a:custGeom>
              <a:avLst/>
              <a:gdLst/>
              <a:ahLst/>
              <a:cxnLst/>
              <a:rect r="r" b="b" t="t" l="l"/>
              <a:pathLst>
                <a:path h="336550" w="412750">
                  <a:moveTo>
                    <a:pt x="0" y="0"/>
                  </a:moveTo>
                  <a:lnTo>
                    <a:pt x="412750" y="0"/>
                  </a:lnTo>
                  <a:lnTo>
                    <a:pt x="412750" y="336550"/>
                  </a:lnTo>
                  <a:lnTo>
                    <a:pt x="0" y="336550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A2A66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2381250" y="8972550"/>
            <a:ext cx="285750" cy="66675"/>
            <a:chOff x="0" y="0"/>
            <a:chExt cx="381000" cy="889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81000" cy="88900"/>
            </a:xfrm>
            <a:custGeom>
              <a:avLst/>
              <a:gdLst/>
              <a:ahLst/>
              <a:cxnLst/>
              <a:rect r="r" b="b" t="t" l="l"/>
              <a:pathLst>
                <a:path h="88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0A2A66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2762250" y="8972550"/>
            <a:ext cx="762000" cy="228600"/>
            <a:chOff x="0" y="0"/>
            <a:chExt cx="1016000" cy="3048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16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10160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4B5A75"/>
                  </a:solidFill>
                  <a:latin typeface="Arial"/>
                  <a:ea typeface="Arial"/>
                  <a:cs typeface="Arial"/>
                  <a:sym typeface="Arial"/>
                </a:rPr>
                <a:t>screen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3721894" y="8951119"/>
            <a:ext cx="271462" cy="271462"/>
            <a:chOff x="0" y="0"/>
            <a:chExt cx="361950" cy="36195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0" y="180975"/>
                  </a:moveTo>
                  <a:lnTo>
                    <a:pt x="180975" y="0"/>
                  </a:lnTo>
                  <a:lnTo>
                    <a:pt x="361950" y="180975"/>
                  </a:lnTo>
                  <a:lnTo>
                    <a:pt x="180975" y="361950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F5FD1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4076700" y="8972550"/>
            <a:ext cx="857250" cy="228600"/>
            <a:chOff x="0" y="0"/>
            <a:chExt cx="1143000" cy="3048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143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11430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4B5A75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5131594" y="8960644"/>
            <a:ext cx="252412" cy="252412"/>
            <a:chOff x="0" y="0"/>
            <a:chExt cx="336550" cy="33655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36550" cy="336550"/>
            </a:xfrm>
            <a:custGeom>
              <a:avLst/>
              <a:gdLst/>
              <a:ahLst/>
              <a:cxnLst/>
              <a:rect r="r" b="b" t="t" l="l"/>
              <a:pathLst>
                <a:path h="336550" w="336550">
                  <a:moveTo>
                    <a:pt x="0" y="168275"/>
                  </a:moveTo>
                  <a:cubicBezTo>
                    <a:pt x="0" y="75311"/>
                    <a:pt x="75311" y="0"/>
                    <a:pt x="168275" y="0"/>
                  </a:cubicBezTo>
                  <a:cubicBezTo>
                    <a:pt x="261239" y="0"/>
                    <a:pt x="336550" y="75311"/>
                    <a:pt x="336550" y="168275"/>
                  </a:cubicBezTo>
                  <a:cubicBezTo>
                    <a:pt x="336550" y="261239"/>
                    <a:pt x="261239" y="336550"/>
                    <a:pt x="168275" y="336550"/>
                  </a:cubicBezTo>
                  <a:cubicBezTo>
                    <a:pt x="75311" y="336550"/>
                    <a:pt x="0" y="261239"/>
                    <a:pt x="0" y="168275"/>
                  </a:cubicBezTo>
                  <a:close/>
                </a:path>
              </a:pathLst>
            </a:custGeom>
            <a:solidFill>
              <a:srgbClr val="1F5FD1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5143500" y="8972550"/>
            <a:ext cx="228600" cy="228600"/>
            <a:chOff x="0" y="0"/>
            <a:chExt cx="304800" cy="304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3048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5467350" y="8972550"/>
            <a:ext cx="2095500" cy="228600"/>
            <a:chOff x="0" y="0"/>
            <a:chExt cx="2794000" cy="3048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79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19050"/>
              <a:ext cx="27940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4B5A75"/>
                  </a:solidFill>
                  <a:latin typeface="Arial"/>
                  <a:ea typeface="Arial"/>
                  <a:cs typeface="Arial"/>
                  <a:sym typeface="Arial"/>
                </a:rPr>
                <a:t>where the officer clicks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685800" y="9467850"/>
            <a:ext cx="16916400" cy="723900"/>
            <a:chOff x="0" y="0"/>
            <a:chExt cx="22555200" cy="9652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255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0A2A66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33450" y="9467850"/>
            <a:ext cx="2095500" cy="723900"/>
            <a:chOff x="0" y="0"/>
            <a:chExt cx="2794000" cy="9652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79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2794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0"/>
                </a:lnSpc>
              </a:pPr>
              <a:r>
                <a:rPr lang="en-US" b="true" sz="975" spc="149">
                  <a:solidFill>
                    <a:srgbClr val="AFC6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BEHIND THE SCREENS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3067050" y="9467850"/>
            <a:ext cx="14287500" cy="723900"/>
            <a:chOff x="0" y="0"/>
            <a:chExt cx="19050000" cy="9652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905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573" r="0" b="-33457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19050"/>
              <a:ext cx="19050000" cy="984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New NASA FIRMS detections every 5 minutes. XGBoost names the fire type, and a fixed rule raises the alert: anomaly ≥ 0.65 with a mapped site within 1.5 km.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4136320" y="-704474"/>
            <a:ext cx="5617587" cy="2129765"/>
            <a:chOff x="0" y="0"/>
            <a:chExt cx="970531" cy="3679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70531" cy="367952"/>
            </a:xfrm>
            <a:custGeom>
              <a:avLst/>
              <a:gdLst/>
              <a:ahLst/>
              <a:cxnLst/>
              <a:rect r="r" b="b" t="t" l="l"/>
              <a:pathLst>
                <a:path h="367952" w="970531">
                  <a:moveTo>
                    <a:pt x="970531" y="183976"/>
                  </a:moveTo>
                  <a:lnTo>
                    <a:pt x="767331" y="367952"/>
                  </a:lnTo>
                  <a:lnTo>
                    <a:pt x="203200" y="367952"/>
                  </a:lnTo>
                  <a:lnTo>
                    <a:pt x="0" y="183976"/>
                  </a:lnTo>
                  <a:lnTo>
                    <a:pt x="203200" y="0"/>
                  </a:lnTo>
                  <a:lnTo>
                    <a:pt x="767331" y="0"/>
                  </a:lnTo>
                  <a:lnTo>
                    <a:pt x="970531" y="183976"/>
                  </a:lnTo>
                  <a:close/>
                </a:path>
              </a:pathLst>
            </a:custGeom>
            <a:solidFill>
              <a:srgbClr val="023D63"/>
            </a:solidFill>
          </p:spPr>
        </p:sp>
        <p:sp>
          <p:nvSpPr>
            <p:cNvPr name="TextBox 172" id="172"/>
            <p:cNvSpPr txBox="true"/>
            <p:nvPr/>
          </p:nvSpPr>
          <p:spPr>
            <a:xfrm>
              <a:off x="114300" y="-38100"/>
              <a:ext cx="741931" cy="406052"/>
            </a:xfrm>
            <a:prstGeom prst="rect">
              <a:avLst/>
            </a:prstGeom>
          </p:spPr>
          <p:txBody>
            <a:bodyPr anchor="ctr" rtlCol="false" tIns="34683" lIns="34683" bIns="34683" rIns="3468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3" id="173"/>
          <p:cNvSpPr/>
          <p:nvPr/>
        </p:nvSpPr>
        <p:spPr>
          <a:xfrm flipH="false" flipV="false" rot="0">
            <a:off x="14756655" y="-141034"/>
            <a:ext cx="3801396" cy="1584707"/>
          </a:xfrm>
          <a:custGeom>
            <a:avLst/>
            <a:gdLst/>
            <a:ahLst/>
            <a:cxnLst/>
            <a:rect r="r" b="b" t="t" l="l"/>
            <a:pathLst>
              <a:path h="1584707" w="3801396">
                <a:moveTo>
                  <a:pt x="0" y="0"/>
                </a:moveTo>
                <a:lnTo>
                  <a:pt x="3801395" y="0"/>
                </a:lnTo>
                <a:lnTo>
                  <a:pt x="3801395" y="1584706"/>
                </a:lnTo>
                <a:lnTo>
                  <a:pt x="0" y="15847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4" id="174"/>
          <p:cNvSpPr txBox="true"/>
          <p:nvPr/>
        </p:nvSpPr>
        <p:spPr>
          <a:xfrm rot="0">
            <a:off x="5461836" y="161024"/>
            <a:ext cx="7364327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09"/>
              </a:lnSpc>
            </a:pPr>
            <a:r>
              <a:rPr lang="en-US" b="true" sz="6099">
                <a:solidFill>
                  <a:srgbClr val="0F81C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Flow</a:t>
            </a:r>
          </a:p>
        </p:txBody>
      </p:sp>
      <p:grpSp>
        <p:nvGrpSpPr>
          <p:cNvPr name="Group 175" id="175"/>
          <p:cNvGrpSpPr/>
          <p:nvPr/>
        </p:nvGrpSpPr>
        <p:grpSpPr>
          <a:xfrm rot="0">
            <a:off x="3629025" y="1252323"/>
            <a:ext cx="3073472" cy="801243"/>
            <a:chOff x="0" y="0"/>
            <a:chExt cx="4097963" cy="106832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097963" cy="1068324"/>
            </a:xfrm>
            <a:custGeom>
              <a:avLst/>
              <a:gdLst/>
              <a:ahLst/>
              <a:cxnLst/>
              <a:rect r="r" b="b" t="t" l="l"/>
              <a:pathLst>
                <a:path h="1068324" w="4097963">
                  <a:moveTo>
                    <a:pt x="0" y="0"/>
                  </a:moveTo>
                  <a:lnTo>
                    <a:pt x="4097963" y="0"/>
                  </a:lnTo>
                  <a:lnTo>
                    <a:pt x="4097963" y="1068324"/>
                  </a:lnTo>
                  <a:lnTo>
                    <a:pt x="0" y="10683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032" r="-298519" b="-216692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66675"/>
              <a:ext cx="4097963" cy="1134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u="sng">
                  <a:solidFill>
                    <a:srgbClr val="1459C9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8" tooltip="https://github.com/krishnasharma1493/IGNISSENSE"/>
                </a:rPr>
                <a:t>Github Repo Link</a:t>
              </a:r>
            </a:p>
          </p:txBody>
        </p:sp>
      </p:grpSp>
      <p:sp>
        <p:nvSpPr>
          <p:cNvPr name="Freeform 178" id="178"/>
          <p:cNvSpPr/>
          <p:nvPr/>
        </p:nvSpPr>
        <p:spPr>
          <a:xfrm flipH="false" flipV="false" rot="0">
            <a:off x="-2427043" y="-2352931"/>
            <a:ext cx="5542260" cy="5542260"/>
          </a:xfrm>
          <a:custGeom>
            <a:avLst/>
            <a:gdLst/>
            <a:ahLst/>
            <a:cxnLst/>
            <a:rect r="r" b="b" t="t" l="l"/>
            <a:pathLst>
              <a:path h="5542260" w="5542260">
                <a:moveTo>
                  <a:pt x="0" y="0"/>
                </a:moveTo>
                <a:lnTo>
                  <a:pt x="5542259" y="0"/>
                </a:lnTo>
                <a:lnTo>
                  <a:pt x="5542259" y="5542260"/>
                </a:lnTo>
                <a:lnTo>
                  <a:pt x="0" y="55422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9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9" id="179"/>
          <p:cNvSpPr/>
          <p:nvPr/>
        </p:nvSpPr>
        <p:spPr>
          <a:xfrm flipH="false" flipV="false" rot="0">
            <a:off x="-238084" y="-397671"/>
            <a:ext cx="2050615" cy="2050615"/>
          </a:xfrm>
          <a:custGeom>
            <a:avLst/>
            <a:gdLst/>
            <a:ahLst/>
            <a:cxnLst/>
            <a:rect r="r" b="b" t="t" l="l"/>
            <a:pathLst>
              <a:path h="2050615" w="2050615">
                <a:moveTo>
                  <a:pt x="0" y="0"/>
                </a:moveTo>
                <a:lnTo>
                  <a:pt x="2050616" y="0"/>
                </a:lnTo>
                <a:lnTo>
                  <a:pt x="2050616" y="2050616"/>
                </a:lnTo>
                <a:lnTo>
                  <a:pt x="0" y="20506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DAHTMa66kF8</dc:identifier>
  <dcterms:modified xsi:type="dcterms:W3CDTF">2011-08-01T06:04:30Z</dcterms:modified>
  <cp:revision>1</cp:revision>
  <dc:title>Team-AstraX PPT (SIH26162)</dc:title>
</cp:coreProperties>
</file>